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7" r:id="rId5"/>
    <p:sldId id="267" r:id="rId6"/>
    <p:sldId id="260" r:id="rId7"/>
    <p:sldId id="299" r:id="rId8"/>
    <p:sldId id="301" r:id="rId9"/>
    <p:sldId id="298" r:id="rId10"/>
    <p:sldId id="288" r:id="rId11"/>
    <p:sldId id="313" r:id="rId12"/>
    <p:sldId id="305" r:id="rId13"/>
    <p:sldId id="304" r:id="rId14"/>
    <p:sldId id="312" r:id="rId15"/>
    <p:sldId id="302" r:id="rId16"/>
    <p:sldId id="309" r:id="rId17"/>
    <p:sldId id="308" r:id="rId18"/>
    <p:sldId id="307" r:id="rId19"/>
    <p:sldId id="311" r:id="rId20"/>
    <p:sldId id="310" r:id="rId21"/>
    <p:sldId id="315" r:id="rId22"/>
    <p:sldId id="317" r:id="rId23"/>
    <p:sldId id="314" r:id="rId24"/>
    <p:sldId id="316" r:id="rId25"/>
    <p:sldId id="291" r:id="rId26"/>
    <p:sldId id="274" r:id="rId27"/>
    <p:sldId id="303" r:id="rId28"/>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ussa SANOGO" initials="MS" lastIdx="1" clrIdx="0">
    <p:extLst>
      <p:ext uri="{19B8F6BF-5375-455C-9EA6-DF929625EA0E}">
        <p15:presenceInfo xmlns:p15="http://schemas.microsoft.com/office/powerpoint/2012/main" userId="S::moussa.sanogo.etu@esmt.sn::78674958-0b31-4603-b623-252d156885c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6568"/>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256" autoAdjust="0"/>
  </p:normalViewPr>
  <p:slideViewPr>
    <p:cSldViewPr snapToGrid="0">
      <p:cViewPr varScale="1">
        <p:scale>
          <a:sx n="82" d="100"/>
          <a:sy n="82" d="100"/>
        </p:scale>
        <p:origin x="710" y="7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8" d="100"/>
          <a:sy n="88" d="100"/>
        </p:scale>
        <p:origin x="276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2FD365-8FC1-4D01-A948-217AAD7A8313}" type="datetime1">
              <a:rPr lang="fr-FR" smtClean="0"/>
              <a:t>16/01/2026</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20F9FC-DF79-49E2-A94E-21EC262B9761}" type="slidenum">
              <a:rPr lang="fr-FR" smtClean="0"/>
              <a:t>‹#›</a:t>
            </a:fld>
            <a:endParaRPr lang="fr-FR" dirty="0"/>
          </a:p>
        </p:txBody>
      </p:sp>
    </p:spTree>
    <p:extLst>
      <p:ext uri="{BB962C8B-B14F-4D97-AF65-F5344CB8AC3E}">
        <p14:creationId xmlns:p14="http://schemas.microsoft.com/office/powerpoint/2010/main" val="1656134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385894B-BD9A-4ED9-A73F-5EFC8D57D3CB}" type="datetime1">
              <a:rPr lang="fr-FR" noProof="0" smtClean="0"/>
              <a:t>16/01/2026</a:t>
            </a:fld>
            <a:endParaRPr lang="fr-FR" noProof="0"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60C6D3C-9EB0-4F2C-9026-3887D1CDB44E}" type="slidenum">
              <a:rPr lang="fr-FR" noProof="0" smtClean="0"/>
              <a:t>‹#›</a:t>
            </a:fld>
            <a:endParaRPr lang="fr-FR" noProof="0"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a:t>
            </a:fld>
            <a:endParaRPr lang="fr-FR" dirty="0"/>
          </a:p>
        </p:txBody>
      </p:sp>
    </p:spTree>
    <p:extLst>
      <p:ext uri="{BB962C8B-B14F-4D97-AF65-F5344CB8AC3E}">
        <p14:creationId xmlns:p14="http://schemas.microsoft.com/office/powerpoint/2010/main" val="2563665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a:t>
            </a:fld>
            <a:endParaRPr lang="fr-FR" dirty="0"/>
          </a:p>
        </p:txBody>
      </p:sp>
    </p:spTree>
    <p:extLst>
      <p:ext uri="{BB962C8B-B14F-4D97-AF65-F5344CB8AC3E}">
        <p14:creationId xmlns:p14="http://schemas.microsoft.com/office/powerpoint/2010/main" val="3541907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3</a:t>
            </a:fld>
            <a:endParaRPr lang="fr-FR" dirty="0"/>
          </a:p>
        </p:txBody>
      </p:sp>
    </p:spTree>
    <p:extLst>
      <p:ext uri="{BB962C8B-B14F-4D97-AF65-F5344CB8AC3E}">
        <p14:creationId xmlns:p14="http://schemas.microsoft.com/office/powerpoint/2010/main" val="1293848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4</a:t>
            </a:fld>
            <a:endParaRPr lang="fr-FR" dirty="0"/>
          </a:p>
        </p:txBody>
      </p:sp>
    </p:spTree>
    <p:extLst>
      <p:ext uri="{BB962C8B-B14F-4D97-AF65-F5344CB8AC3E}">
        <p14:creationId xmlns:p14="http://schemas.microsoft.com/office/powerpoint/2010/main" val="103859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r>
              <a:rPr lang="fr-FR" b="1" dirty="0"/>
              <a:t>Exemple d'analyse descriptive </a:t>
            </a:r>
            <a:r>
              <a:rPr lang="fr-FR" dirty="0"/>
              <a:t>:  Rapport sur les tendances générales telles que la croissance du chiffre d'affaires.</a:t>
            </a:r>
          </a:p>
          <a:p>
            <a:pPr algn="just"/>
            <a:endParaRPr lang="fr-FR" b="1" dirty="0"/>
          </a:p>
          <a:p>
            <a:pPr algn="just"/>
            <a:r>
              <a:rPr lang="fr-FR" b="1" dirty="0"/>
              <a:t>Exemple d'analyse prédictive : </a:t>
            </a:r>
            <a:r>
              <a:rPr lang="fr-FR" b="0" dirty="0"/>
              <a:t>Prévoir le comportement des clients, les habitudes d'achat et identifier les tendances des ventes</a:t>
            </a:r>
          </a:p>
          <a:p>
            <a:pPr algn="just"/>
            <a:endParaRPr lang="fr-FR" b="1" dirty="0"/>
          </a:p>
          <a:p>
            <a:pPr algn="just"/>
            <a:r>
              <a:rPr lang="fr-FR" b="1" dirty="0"/>
              <a:t>Exemple d’analyse prescriptive : </a:t>
            </a:r>
            <a:r>
              <a:rPr lang="fr-FR" b="0" dirty="0"/>
              <a:t>Un bon exemple d'analyse prescriptive est le domaine des applications de cartographie et de direction basées sur le GPS. Ces applications proposent des itinéraires possibles vers une destination en fonction du volume de trafic, de l'état de la route et de la vitesse maximale. Elles peuvent ensuite prescrire le meilleur itinéraire en fonction d'objectifs définis par l'utilisateur, tels que la distance la plus courte ou le temps le plus court.</a:t>
            </a:r>
          </a:p>
          <a:p>
            <a:pPr algn="just"/>
            <a:endParaRPr lang="fr-FR" b="1" dirty="0"/>
          </a:p>
          <a:p>
            <a:pPr algn="just"/>
            <a:r>
              <a:rPr lang="fr-FR" b="1" dirty="0"/>
              <a:t>Exemple d’analyse diagnostique : </a:t>
            </a:r>
            <a:r>
              <a:rPr lang="fr-FR" b="0" dirty="0"/>
              <a:t>Un exemple d'analyse diagnostique est l'utilisation des annulations d'abonnement, en corrélation avec les commentaires et les évaluations des clients, pour déterminer les raisons les plus courantes pour lesquelles les utilisateurs annulent leurs abonnements. Un autre exemple consisterait à déterminer s'il existe une corrélation entre les caractéristiques démographiques des consommateurs et leurs habitudes d'achat à certaines périodes de l'année.</a:t>
            </a:r>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5</a:t>
            </a:fld>
            <a:endParaRPr lang="fr-FR" dirty="0"/>
          </a:p>
        </p:txBody>
      </p:sp>
    </p:spTree>
    <p:extLst>
      <p:ext uri="{BB962C8B-B14F-4D97-AF65-F5344CB8AC3E}">
        <p14:creationId xmlns:p14="http://schemas.microsoft.com/office/powerpoint/2010/main" val="886834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6</a:t>
            </a:fld>
            <a:endParaRPr lang="fr-FR" dirty="0"/>
          </a:p>
        </p:txBody>
      </p:sp>
    </p:spTree>
    <p:extLst>
      <p:ext uri="{BB962C8B-B14F-4D97-AF65-F5344CB8AC3E}">
        <p14:creationId xmlns:p14="http://schemas.microsoft.com/office/powerpoint/2010/main" val="628661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7</a:t>
            </a:fld>
            <a:endParaRPr lang="fr-FR" dirty="0"/>
          </a:p>
        </p:txBody>
      </p:sp>
    </p:spTree>
    <p:extLst>
      <p:ext uri="{BB962C8B-B14F-4D97-AF65-F5344CB8AC3E}">
        <p14:creationId xmlns:p14="http://schemas.microsoft.com/office/powerpoint/2010/main" val="135362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8</a:t>
            </a:fld>
            <a:endParaRPr lang="fr-FR" dirty="0"/>
          </a:p>
        </p:txBody>
      </p:sp>
    </p:spTree>
    <p:extLst>
      <p:ext uri="{BB962C8B-B14F-4D97-AF65-F5344CB8AC3E}">
        <p14:creationId xmlns:p14="http://schemas.microsoft.com/office/powerpoint/2010/main" val="3036657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9</a:t>
            </a:fld>
            <a:endParaRPr lang="fr-FR" dirty="0"/>
          </a:p>
        </p:txBody>
      </p:sp>
    </p:spTree>
    <p:extLst>
      <p:ext uri="{BB962C8B-B14F-4D97-AF65-F5344CB8AC3E}">
        <p14:creationId xmlns:p14="http://schemas.microsoft.com/office/powerpoint/2010/main" val="148092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10</a:t>
            </a:fld>
            <a:endParaRPr lang="fr-FR" dirty="0"/>
          </a:p>
        </p:txBody>
      </p:sp>
    </p:spTree>
    <p:extLst>
      <p:ext uri="{BB962C8B-B14F-4D97-AF65-F5344CB8AC3E}">
        <p14:creationId xmlns:p14="http://schemas.microsoft.com/office/powerpoint/2010/main" val="2753777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11</a:t>
            </a:fld>
            <a:endParaRPr lang="fr-FR" dirty="0"/>
          </a:p>
        </p:txBody>
      </p:sp>
    </p:spTree>
    <p:extLst>
      <p:ext uri="{BB962C8B-B14F-4D97-AF65-F5344CB8AC3E}">
        <p14:creationId xmlns:p14="http://schemas.microsoft.com/office/powerpoint/2010/main" val="2569476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12</a:t>
            </a:fld>
            <a:endParaRPr lang="fr-FR" dirty="0"/>
          </a:p>
        </p:txBody>
      </p:sp>
    </p:spTree>
    <p:extLst>
      <p:ext uri="{BB962C8B-B14F-4D97-AF65-F5344CB8AC3E}">
        <p14:creationId xmlns:p14="http://schemas.microsoft.com/office/powerpoint/2010/main" val="3279583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13</a:t>
            </a:fld>
            <a:endParaRPr lang="fr-FR" dirty="0"/>
          </a:p>
        </p:txBody>
      </p:sp>
    </p:spTree>
    <p:extLst>
      <p:ext uri="{BB962C8B-B14F-4D97-AF65-F5344CB8AC3E}">
        <p14:creationId xmlns:p14="http://schemas.microsoft.com/office/powerpoint/2010/main" val="3567709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14</a:t>
            </a:fld>
            <a:endParaRPr lang="fr-FR" dirty="0"/>
          </a:p>
        </p:txBody>
      </p:sp>
    </p:spTree>
    <p:extLst>
      <p:ext uri="{BB962C8B-B14F-4D97-AF65-F5344CB8AC3E}">
        <p14:creationId xmlns:p14="http://schemas.microsoft.com/office/powerpoint/2010/main" val="3862837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15</a:t>
            </a:fld>
            <a:endParaRPr lang="fr-FR" dirty="0"/>
          </a:p>
        </p:txBody>
      </p:sp>
    </p:spTree>
    <p:extLst>
      <p:ext uri="{BB962C8B-B14F-4D97-AF65-F5344CB8AC3E}">
        <p14:creationId xmlns:p14="http://schemas.microsoft.com/office/powerpoint/2010/main" val="1453968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16</a:t>
            </a:fld>
            <a:endParaRPr lang="fr-FR" dirty="0"/>
          </a:p>
        </p:txBody>
      </p:sp>
    </p:spTree>
    <p:extLst>
      <p:ext uri="{BB962C8B-B14F-4D97-AF65-F5344CB8AC3E}">
        <p14:creationId xmlns:p14="http://schemas.microsoft.com/office/powerpoint/2010/main" val="20385183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17</a:t>
            </a:fld>
            <a:endParaRPr lang="fr-FR" dirty="0"/>
          </a:p>
        </p:txBody>
      </p:sp>
    </p:spTree>
    <p:extLst>
      <p:ext uri="{BB962C8B-B14F-4D97-AF65-F5344CB8AC3E}">
        <p14:creationId xmlns:p14="http://schemas.microsoft.com/office/powerpoint/2010/main" val="1333440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18</a:t>
            </a:fld>
            <a:endParaRPr lang="fr-FR" dirty="0"/>
          </a:p>
        </p:txBody>
      </p:sp>
    </p:spTree>
    <p:extLst>
      <p:ext uri="{BB962C8B-B14F-4D97-AF65-F5344CB8AC3E}">
        <p14:creationId xmlns:p14="http://schemas.microsoft.com/office/powerpoint/2010/main" val="3157777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19</a:t>
            </a:fld>
            <a:endParaRPr lang="fr-FR" dirty="0"/>
          </a:p>
        </p:txBody>
      </p:sp>
    </p:spTree>
    <p:extLst>
      <p:ext uri="{BB962C8B-B14F-4D97-AF65-F5344CB8AC3E}">
        <p14:creationId xmlns:p14="http://schemas.microsoft.com/office/powerpoint/2010/main" val="4190494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20</a:t>
            </a:fld>
            <a:endParaRPr lang="fr-FR" dirty="0"/>
          </a:p>
        </p:txBody>
      </p:sp>
    </p:spTree>
    <p:extLst>
      <p:ext uri="{BB962C8B-B14F-4D97-AF65-F5344CB8AC3E}">
        <p14:creationId xmlns:p14="http://schemas.microsoft.com/office/powerpoint/2010/main" val="3839873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21</a:t>
            </a:fld>
            <a:endParaRPr lang="fr-FR" dirty="0"/>
          </a:p>
        </p:txBody>
      </p:sp>
    </p:spTree>
    <p:extLst>
      <p:ext uri="{BB962C8B-B14F-4D97-AF65-F5344CB8AC3E}">
        <p14:creationId xmlns:p14="http://schemas.microsoft.com/office/powerpoint/2010/main" val="382246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22</a:t>
            </a:fld>
            <a:endParaRPr lang="fr-FR" dirty="0"/>
          </a:p>
        </p:txBody>
      </p:sp>
    </p:spTree>
    <p:extLst>
      <p:ext uri="{BB962C8B-B14F-4D97-AF65-F5344CB8AC3E}">
        <p14:creationId xmlns:p14="http://schemas.microsoft.com/office/powerpoint/2010/main" val="13811634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23</a:t>
            </a:fld>
            <a:endParaRPr lang="fr-FR" dirty="0"/>
          </a:p>
        </p:txBody>
      </p:sp>
    </p:spTree>
    <p:extLst>
      <p:ext uri="{BB962C8B-B14F-4D97-AF65-F5344CB8AC3E}">
        <p14:creationId xmlns:p14="http://schemas.microsoft.com/office/powerpoint/2010/main" val="196882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rtl="0"/>
            <a:fld id="{060C6D3C-9EB0-4F2C-9026-3887D1CDB44E}" type="slidenum">
              <a:rPr lang="fr-FR" smtClean="0"/>
              <a:t>24</a:t>
            </a:fld>
            <a:endParaRPr lang="fr-FR" dirty="0"/>
          </a:p>
        </p:txBody>
      </p:sp>
    </p:spTree>
    <p:extLst>
      <p:ext uri="{BB962C8B-B14F-4D97-AF65-F5344CB8AC3E}">
        <p14:creationId xmlns:p14="http://schemas.microsoft.com/office/powerpoint/2010/main" val="3463073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Espace réservé d’image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rtlCol="0" anchor="ctr"/>
          <a:lstStyle>
            <a:lvl1pPr marL="0" indent="0" algn="l">
              <a:lnSpc>
                <a:spcPct val="100000"/>
              </a:lnSpc>
              <a:buNone/>
              <a:defRPr sz="1200" i="1">
                <a:solidFill>
                  <a:schemeClr val="bg1">
                    <a:lumMod val="75000"/>
                  </a:schemeClr>
                </a:solidFill>
              </a:defRPr>
            </a:lvl1pPr>
          </a:lstStyle>
          <a:p>
            <a:pPr rtl="0"/>
            <a:r>
              <a:rPr lang="fr-FR" noProof="0" dirty="0"/>
              <a:t>Glissez-déplacez votre </a:t>
            </a:r>
            <a:br>
              <a:rPr lang="fr-FR" noProof="0" dirty="0"/>
            </a:br>
            <a:r>
              <a:rPr lang="fr-FR" noProof="0" dirty="0"/>
              <a:t>Photo d’arrière-plan ici</a:t>
            </a:r>
          </a:p>
        </p:txBody>
      </p:sp>
      <p:sp>
        <p:nvSpPr>
          <p:cNvPr id="2" name="Titr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rtlCol="0" anchor="ctr"/>
          <a:lstStyle>
            <a:lvl1pPr algn="l">
              <a:defRPr sz="5000" cap="all" baseline="0">
                <a:solidFill>
                  <a:schemeClr val="bg1"/>
                </a:solidFill>
              </a:defRPr>
            </a:lvl1pPr>
          </a:lstStyle>
          <a:p>
            <a:pPr rtl="0"/>
            <a:r>
              <a:rPr lang="fr-FR" noProof="0"/>
              <a:t>Modifiez le style du titre</a:t>
            </a:r>
            <a:endParaRPr lang="fr-FR" noProof="0" dirty="0"/>
          </a:p>
        </p:txBody>
      </p:sp>
      <p:sp>
        <p:nvSpPr>
          <p:cNvPr id="3" name="Sous-titr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rtlCol="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endParaRPr lang="fr-FR" noProof="0" dirty="0"/>
          </a:p>
        </p:txBody>
      </p:sp>
      <p:sp>
        <p:nvSpPr>
          <p:cNvPr id="7" name="Espace réservé du pied de page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re et conten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rtlCol="0"/>
          <a:lstStyle>
            <a:lvl1pPr marL="0" indent="0">
              <a:lnSpc>
                <a:spcPts val="2000"/>
              </a:lnSpc>
              <a:buNone/>
              <a:defRPr>
                <a:solidFill>
                  <a:schemeClr val="bg1"/>
                </a:solidFill>
              </a:defRPr>
            </a:lvl1pPr>
          </a:lstStyle>
          <a:p>
            <a:pPr lvl="0" rtl="0"/>
            <a:r>
              <a:rPr lang="fr-FR" noProof="0" dirty="0"/>
              <a:t>Décrivez votre grande idée</a:t>
            </a:r>
          </a:p>
        </p:txBody>
      </p:sp>
      <p:sp>
        <p:nvSpPr>
          <p:cNvPr id="21" name="Espace réservé d’image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rtlCol="0" anchor="ctr">
            <a:noAutofit/>
          </a:bodyPr>
          <a:lstStyle>
            <a:lvl1pPr marL="0" indent="0" algn="r">
              <a:lnSpc>
                <a:spcPct val="100000"/>
              </a:lnSpc>
              <a:buNone/>
              <a:defRPr sz="1200" i="1">
                <a:solidFill>
                  <a:schemeClr val="bg1"/>
                </a:solidFill>
              </a:defRPr>
            </a:lvl1pPr>
          </a:lstStyle>
          <a:p>
            <a:pPr rtl="0"/>
            <a:r>
              <a:rPr lang="fr-FR" noProof="0" dirty="0"/>
              <a:t>Glissez-déplacez votre </a:t>
            </a:r>
            <a:br>
              <a:rPr lang="fr-FR" noProof="0" dirty="0"/>
            </a:br>
            <a:r>
              <a:rPr lang="fr-FR" noProof="0" dirty="0"/>
              <a:t>Photo d’arrière-plan ici</a:t>
            </a:r>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rtlCol="0"/>
          <a:lstStyle>
            <a:lvl1pPr>
              <a:defRPr>
                <a:solidFill>
                  <a:schemeClr val="bg1"/>
                </a:solidFill>
              </a:defRPr>
            </a:lvl1pPr>
          </a:lstStyle>
          <a:p>
            <a:pPr rtl="0"/>
            <a:fld id="{EECC7194-A4D0-457B-9D3E-53681723AFF7}" type="slidenum">
              <a:rPr lang="fr-FR" noProof="0" smtClean="0"/>
              <a:pPr rtl="0"/>
              <a:t>‹#›</a:t>
            </a:fld>
            <a:endParaRPr lang="fr-FR" noProof="0" dirty="0"/>
          </a:p>
        </p:txBody>
      </p:sp>
      <p:sp>
        <p:nvSpPr>
          <p:cNvPr id="12" name="Titr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rtlCol="0"/>
          <a:lstStyle>
            <a:lvl1pPr>
              <a:defRPr sz="4000" cap="all" baseline="0">
                <a:solidFill>
                  <a:schemeClr val="bg1"/>
                </a:solidFill>
              </a:defRPr>
            </a:lvl1pPr>
          </a:lstStyle>
          <a:p>
            <a:pPr rtl="0"/>
            <a:r>
              <a:rPr lang="fr-FR" noProof="0"/>
              <a:t>Modifiez le style du titre</a:t>
            </a:r>
            <a:endParaRPr lang="fr-FR" noProof="0" dirty="0"/>
          </a:p>
        </p:txBody>
      </p:sp>
      <p:sp>
        <p:nvSpPr>
          <p:cNvPr id="19" name="Forme libre : Form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éro et icône">
    <p:bg>
      <p:bgPr>
        <a:solidFill>
          <a:schemeClr val="bg1"/>
        </a:solidFill>
        <a:effectLst/>
      </p:bgPr>
    </p:bg>
    <p:spTree>
      <p:nvGrpSpPr>
        <p:cNvPr id="1" name=""/>
        <p:cNvGrpSpPr/>
        <p:nvPr/>
      </p:nvGrpSpPr>
      <p:grpSpPr>
        <a:xfrm>
          <a:off x="0" y="0"/>
          <a:ext cx="0" cy="0"/>
          <a:chOff x="0" y="0"/>
          <a:chExt cx="0" cy="0"/>
        </a:xfrm>
      </p:grpSpPr>
      <p:sp>
        <p:nvSpPr>
          <p:cNvPr id="24" name="Espace réservé d’image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rtlCol="0" anchor="t">
            <a:noAutofit/>
          </a:bodyPr>
          <a:lstStyle>
            <a:lvl1pPr marL="0" indent="0" algn="ctr">
              <a:lnSpc>
                <a:spcPct val="100000"/>
              </a:lnSpc>
              <a:buNone/>
              <a:defRPr sz="1200" i="1">
                <a:solidFill>
                  <a:schemeClr val="bg1"/>
                </a:solidFill>
              </a:defRPr>
            </a:lvl1pPr>
          </a:lstStyle>
          <a:p>
            <a:pPr rtl="0"/>
            <a:r>
              <a:rPr lang="fr-FR" noProof="0" dirty="0"/>
              <a:t>Glissez-déplacez votre </a:t>
            </a:r>
            <a:br>
              <a:rPr lang="fr-FR" noProof="0" dirty="0"/>
            </a:br>
            <a:r>
              <a:rPr lang="fr-FR" noProof="0" dirty="0"/>
              <a:t>Photo d’arrière-plan ici</a:t>
            </a:r>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rtlCol="0"/>
          <a:lstStyle>
            <a:lvl1pPr>
              <a:defRPr cap="all" baseline="0">
                <a:solidFill>
                  <a:schemeClr val="bg1"/>
                </a:solidFill>
              </a:defRPr>
            </a:lvl1pPr>
          </a:lstStyle>
          <a:p>
            <a:pPr rtl="0"/>
            <a:r>
              <a:rPr lang="fr-FR" noProof="0"/>
              <a:t>Modifiez le style du titre</a:t>
            </a:r>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lvl1pPr>
              <a:defRPr>
                <a:solidFill>
                  <a:schemeClr val="bg1"/>
                </a:solidFill>
              </a:defRPr>
            </a:lvl1pPr>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9" name="Forme libre : Form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5" name="Espace réservé du texte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rtlCol="0"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#NOMBRE</a:t>
            </a:r>
          </a:p>
        </p:txBody>
      </p:sp>
      <p:sp>
        <p:nvSpPr>
          <p:cNvPr id="11" name="Espace réservé du texte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rtlCol="0"/>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2" name="Espace réservé du texte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rtlCol="0"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#NOMBRE</a:t>
            </a:r>
          </a:p>
        </p:txBody>
      </p:sp>
      <p:sp>
        <p:nvSpPr>
          <p:cNvPr id="13" name="Espace réservé du texte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rtlCol="0"/>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4" name="Espace réservé du texte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rtlCol="0"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#NOMBRE</a:t>
            </a:r>
          </a:p>
        </p:txBody>
      </p:sp>
      <p:sp>
        <p:nvSpPr>
          <p:cNvPr id="15" name="Espace réservé du texte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rtlCol="0"/>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6" name="Espace réservé du texte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rtlCol="0"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#NOMBRE</a:t>
            </a:r>
          </a:p>
        </p:txBody>
      </p:sp>
      <p:sp>
        <p:nvSpPr>
          <p:cNvPr id="17" name="Espace réservé du texte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rtlCol="0"/>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8" name="Espace réservé du texte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rtlCol="0"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#NOMBRE</a:t>
            </a:r>
          </a:p>
        </p:txBody>
      </p:sp>
      <p:sp>
        <p:nvSpPr>
          <p:cNvPr id="19" name="Espace réservé du texte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rtlCol="0"/>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22" name="Sous-titr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rtlCol="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dirty="0"/>
              <a:t>Résultat</a:t>
            </a:r>
          </a:p>
        </p:txBody>
      </p:sp>
      <p:sp>
        <p:nvSpPr>
          <p:cNvPr id="26" name="Espace réservé d’image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27" name="Espace réservé d’image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28" name="Espace réservé d’image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29" name="Espace réservé d’image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30" name="Espace réservé d’image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actionnement vertical 60 40">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8" name="Espace réservé du texte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rtlCol="0"/>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endParaRPr lang="fr-FR" noProof="0" dirty="0"/>
          </a:p>
        </p:txBody>
      </p:sp>
      <p:sp>
        <p:nvSpPr>
          <p:cNvPr id="2" name="Titre 1">
            <a:extLst>
              <a:ext uri="{FF2B5EF4-FFF2-40B4-BE49-F238E27FC236}">
                <a16:creationId xmlns:a16="http://schemas.microsoft.com/office/drawing/2014/main" id="{0BDF8FE7-66F4-4586-B49B-61E115ED291E}"/>
              </a:ext>
            </a:extLst>
          </p:cNvPr>
          <p:cNvSpPr>
            <a:spLocks noGrp="1"/>
          </p:cNvSpPr>
          <p:nvPr>
            <p:ph type="title"/>
          </p:nvPr>
        </p:nvSpPr>
        <p:spPr/>
        <p:txBody>
          <a:bodyPr rtlCol="0"/>
          <a:lstStyle>
            <a:lvl1pPr>
              <a:defRPr>
                <a:solidFill>
                  <a:schemeClr val="bg1"/>
                </a:solidFill>
              </a:defRPr>
            </a:lvl1pPr>
          </a:lstStyle>
          <a:p>
            <a:pPr rtl="0"/>
            <a:r>
              <a:rPr lang="fr-FR" noProof="0"/>
              <a:t>Modifiez le style du titre</a:t>
            </a:r>
            <a:endParaRPr lang="fr-FR" noProof="0" dirty="0"/>
          </a:p>
        </p:txBody>
      </p:sp>
      <p:sp>
        <p:nvSpPr>
          <p:cNvPr id="6" name="Espace réservé du pied de page 5">
            <a:extLst>
              <a:ext uri="{FF2B5EF4-FFF2-40B4-BE49-F238E27FC236}">
                <a16:creationId xmlns:a16="http://schemas.microsoft.com/office/drawing/2014/main" id="{AEB5B890-F885-418C-9812-59970CAC6BCD}"/>
              </a:ext>
            </a:extLst>
          </p:cNvPr>
          <p:cNvSpPr>
            <a:spLocks noGrp="1"/>
          </p:cNvSpPr>
          <p:nvPr>
            <p:ph type="ftr" sz="quarter" idx="10"/>
          </p:nvPr>
        </p:nvSpPr>
        <p:spPr/>
        <p:txBody>
          <a:bodyPr rtlCol="0"/>
          <a:lstStyle/>
          <a:p>
            <a:pPr rtl="0"/>
            <a:endParaRPr lang="fr-FR" noProof="0" dirty="0"/>
          </a:p>
        </p:txBody>
      </p:sp>
      <p:sp>
        <p:nvSpPr>
          <p:cNvPr id="7" name="Espace réservé du numéro de diapositive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4" name="Espace réservé du texte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bg1"/>
                </a:solidFill>
                <a:latin typeface="+mj-lt"/>
              </a:defRPr>
            </a:lvl1pPr>
          </a:lstStyle>
          <a:p>
            <a:pPr lvl="0" rtl="0"/>
            <a:r>
              <a:rPr lang="fr-FR" noProof="0" dirty="0"/>
              <a:t>SOUS-TITRE</a:t>
            </a:r>
          </a:p>
        </p:txBody>
      </p:sp>
      <p:sp>
        <p:nvSpPr>
          <p:cNvPr id="21" name="Forme libre : Form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
        <p:nvSpPr>
          <p:cNvPr id="19" name="Forme libre : Form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oc de contenu 6 x avec icône">
    <p:spTree>
      <p:nvGrpSpPr>
        <p:cNvPr id="1" name=""/>
        <p:cNvGrpSpPr/>
        <p:nvPr/>
      </p:nvGrpSpPr>
      <p:grpSpPr>
        <a:xfrm>
          <a:off x="0" y="0"/>
          <a:ext cx="0" cy="0"/>
          <a:chOff x="0" y="0"/>
          <a:chExt cx="0" cy="0"/>
        </a:xfrm>
      </p:grpSpPr>
      <p:sp>
        <p:nvSpPr>
          <p:cNvPr id="6" name="Espace réservé d’image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rtlCol="0" anchor="t">
            <a:noAutofit/>
          </a:bodyPr>
          <a:lstStyle>
            <a:lvl1pPr marL="0" indent="0" algn="ctr">
              <a:lnSpc>
                <a:spcPct val="100000"/>
              </a:lnSpc>
              <a:buNone/>
              <a:defRPr sz="1200" i="1">
                <a:solidFill>
                  <a:schemeClr val="bg1"/>
                </a:solidFill>
              </a:defRPr>
            </a:lvl1pPr>
          </a:lstStyle>
          <a:p>
            <a:pPr rtl="0"/>
            <a:r>
              <a:rPr lang="fr-FR" noProof="0" dirty="0"/>
              <a:t>Glissez-déplacez votre </a:t>
            </a:r>
            <a:br>
              <a:rPr lang="fr-FR" noProof="0" dirty="0"/>
            </a:br>
            <a:r>
              <a:rPr lang="fr-FR" noProof="0" dirty="0"/>
              <a:t>Photo d’arrière-plan ici</a:t>
            </a:r>
          </a:p>
        </p:txBody>
      </p:sp>
      <p:sp>
        <p:nvSpPr>
          <p:cNvPr id="9" name="Forme libre : Form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rtlCol="0"/>
          <a:lstStyle>
            <a:lvl1pPr>
              <a:defRPr>
                <a:solidFill>
                  <a:schemeClr val="bg1"/>
                </a:solidFill>
              </a:defRPr>
            </a:lvl1pPr>
          </a:lstStyle>
          <a:p>
            <a:pPr rtl="0"/>
            <a:r>
              <a:rPr lang="fr-FR" noProof="0"/>
              <a:t>Modifiez le style du titre</a:t>
            </a:r>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5" name="Espace réservé du texte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3" name="Espace réservé du texte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15" name="Espace réservé du texte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6" name="Espace réservé du texte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17" name="Espace réservé du texte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8" name="Espace réservé du texte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19" name="Espace réservé du texte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20" name="Espace réservé du texte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21" name="Espace réservé du texte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22" name="Espace réservé du texte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23" name="Espace réservé du texte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rtlCol="0"/>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24" name="Espace réservé du texte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rtlCol="0"/>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Bloc de contenu avec icône">
    <p:spTree>
      <p:nvGrpSpPr>
        <p:cNvPr id="1" name=""/>
        <p:cNvGrpSpPr/>
        <p:nvPr/>
      </p:nvGrpSpPr>
      <p:grpSpPr>
        <a:xfrm>
          <a:off x="0" y="0"/>
          <a:ext cx="0" cy="0"/>
          <a:chOff x="0" y="0"/>
          <a:chExt cx="0" cy="0"/>
        </a:xfrm>
      </p:grpSpPr>
      <p:sp>
        <p:nvSpPr>
          <p:cNvPr id="25" name="Forme libre : Form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
        <p:nvSpPr>
          <p:cNvPr id="20" name="Espace réservé du texte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rtlCol="0"/>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endParaRPr lang="fr-FR" noProof="0" dirty="0"/>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rtlCol="0"/>
          <a:lstStyle>
            <a:lvl1pPr>
              <a:defRPr>
                <a:solidFill>
                  <a:schemeClr val="bg1"/>
                </a:solidFill>
              </a:defRPr>
            </a:lvl1pPr>
          </a:lstStyle>
          <a:p>
            <a:pPr rtl="0"/>
            <a:r>
              <a:rPr lang="fr-FR" noProof="0"/>
              <a:t>Modifiez le style du titre</a:t>
            </a:r>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5" name="Espace réservé du texte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rtlCol="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3" name="Espace réservé du texte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rtlCol="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15" name="Espace réservé du texte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rtlCol="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6" name="Espace réservé du texte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rtlCol="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17" name="Espace réservé du texte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rtlCol="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Description</a:t>
            </a:r>
          </a:p>
        </p:txBody>
      </p:sp>
      <p:sp>
        <p:nvSpPr>
          <p:cNvPr id="18" name="Espace réservé du texte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rtlCol="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En-tête</a:t>
            </a:r>
          </a:p>
        </p:txBody>
      </p:sp>
      <p:sp>
        <p:nvSpPr>
          <p:cNvPr id="29" name="Espace réservé d’image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30" name="Espace réservé d’image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31" name="Espace réservé d’image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rtlCol="0" anchor="ctr"/>
          <a:lstStyle>
            <a:lvl1pPr marL="0" indent="0" algn="ctr">
              <a:buNone/>
              <a:defRPr sz="1050" i="1">
                <a:solidFill>
                  <a:schemeClr val="bg1"/>
                </a:solidFill>
              </a:defRPr>
            </a:lvl1pPr>
          </a:lstStyle>
          <a:p>
            <a:pPr rtl="0"/>
            <a:r>
              <a:rPr lang="fr-FR" noProof="0" dirty="0"/>
              <a:t>Icône</a:t>
            </a:r>
          </a:p>
        </p:txBody>
      </p:sp>
      <p:sp>
        <p:nvSpPr>
          <p:cNvPr id="21" name="Espace réservé du texte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bg1"/>
                </a:solidFill>
                <a:latin typeface="+mj-lt"/>
              </a:defRPr>
            </a:lvl1pPr>
          </a:lstStyle>
          <a:p>
            <a:pPr lvl="0" rtl="0"/>
            <a:r>
              <a:rPr lang="fr-FR" noProof="0" dirty="0"/>
              <a:t>SOUS-TITRE</a:t>
            </a:r>
          </a:p>
        </p:txBody>
      </p:sp>
      <p:sp>
        <p:nvSpPr>
          <p:cNvPr id="26" name="Forme libre : Form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sous-titre uniquement - Sombre">
    <p:spTree>
      <p:nvGrpSpPr>
        <p:cNvPr id="1" name=""/>
        <p:cNvGrpSpPr/>
        <p:nvPr/>
      </p:nvGrpSpPr>
      <p:grpSpPr>
        <a:xfrm>
          <a:off x="0" y="0"/>
          <a:ext cx="0" cy="0"/>
          <a:chOff x="0" y="0"/>
          <a:chExt cx="0" cy="0"/>
        </a:xfrm>
      </p:grpSpPr>
      <p:sp>
        <p:nvSpPr>
          <p:cNvPr id="25" name="Forme libre : Form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
        <p:nvSpPr>
          <p:cNvPr id="20" name="Espace réservé du texte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rtlCol="0"/>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endParaRPr lang="fr-FR" noProof="0" dirty="0"/>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rtlCol="0"/>
          <a:lstStyle>
            <a:lvl1pPr>
              <a:defRPr>
                <a:solidFill>
                  <a:schemeClr val="bg1"/>
                </a:solidFill>
              </a:defRPr>
            </a:lvl1pPr>
          </a:lstStyle>
          <a:p>
            <a:pPr rtl="0"/>
            <a:r>
              <a:rPr lang="fr-FR" noProof="0"/>
              <a:t>Modifiez le style du titre</a:t>
            </a:r>
            <a:endParaRPr lang="fr-FR" noProof="0" dirty="0"/>
          </a:p>
        </p:txBody>
      </p:sp>
      <p:sp>
        <p:nvSpPr>
          <p:cNvPr id="21" name="Espace réservé du texte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bg1"/>
                </a:solidFill>
                <a:latin typeface="+mj-lt"/>
              </a:defRPr>
            </a:lvl1pPr>
          </a:lstStyle>
          <a:p>
            <a:pPr lvl="0" rtl="0"/>
            <a:r>
              <a:rPr lang="fr-FR" noProof="0" dirty="0"/>
              <a:t>SOUS-TITRE</a:t>
            </a:r>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26" name="Forme libre : Form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dirty="0"/>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sous-titre uniquement - Photo complète">
    <p:bg>
      <p:bgPr>
        <a:solidFill>
          <a:schemeClr val="bg1"/>
        </a:solidFill>
        <a:effectLst/>
      </p:bgPr>
    </p:bg>
    <p:spTree>
      <p:nvGrpSpPr>
        <p:cNvPr id="1" name=""/>
        <p:cNvGrpSpPr/>
        <p:nvPr/>
      </p:nvGrpSpPr>
      <p:grpSpPr>
        <a:xfrm>
          <a:off x="0" y="0"/>
          <a:ext cx="0" cy="0"/>
          <a:chOff x="0" y="0"/>
          <a:chExt cx="0" cy="0"/>
        </a:xfrm>
      </p:grpSpPr>
      <p:sp>
        <p:nvSpPr>
          <p:cNvPr id="24" name="Espace réservé d’image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rtlCol="0" anchor="t">
            <a:noAutofit/>
          </a:bodyPr>
          <a:lstStyle>
            <a:lvl1pPr marL="0" indent="0" algn="ctr">
              <a:lnSpc>
                <a:spcPct val="100000"/>
              </a:lnSpc>
              <a:buNone/>
              <a:defRPr sz="1200" i="1">
                <a:solidFill>
                  <a:schemeClr val="bg1"/>
                </a:solidFill>
              </a:defRPr>
            </a:lvl1pPr>
          </a:lstStyle>
          <a:p>
            <a:pPr rtl="0"/>
            <a:r>
              <a:rPr lang="fr-FR" noProof="0" dirty="0"/>
              <a:t>Glissez-déplacez votre </a:t>
            </a:r>
            <a:br>
              <a:rPr lang="fr-FR" noProof="0" dirty="0"/>
            </a:br>
            <a:r>
              <a:rPr lang="fr-FR" noProof="0" dirty="0"/>
              <a:t>Photo d’arrière-plan ici</a:t>
            </a:r>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rtlCol="0"/>
          <a:lstStyle>
            <a:lvl1pPr>
              <a:defRPr cap="all" baseline="0">
                <a:solidFill>
                  <a:schemeClr val="bg1"/>
                </a:solidFill>
              </a:defRPr>
            </a:lvl1pPr>
          </a:lstStyle>
          <a:p>
            <a:pPr rtl="0"/>
            <a:r>
              <a:rPr lang="fr-FR" noProof="0"/>
              <a:t>Modifiez le style du titre</a:t>
            </a:r>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lvl1pPr>
              <a:defRPr>
                <a:solidFill>
                  <a:schemeClr val="bg1"/>
                </a:solidFill>
              </a:defRPr>
            </a:lvl1pPr>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9" name="Forme libre : Form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3" name="Espace réservé du texte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rtlCol="0"/>
          <a:lstStyle>
            <a:lvl1pPr marL="0" indent="0">
              <a:buNone/>
              <a:defRPr sz="2200">
                <a:solidFill>
                  <a:schemeClr val="bg1"/>
                </a:solidFill>
                <a:latin typeface="+mj-lt"/>
              </a:defRPr>
            </a:lvl1pPr>
          </a:lstStyle>
          <a:p>
            <a:pPr lvl="0" rtl="0"/>
            <a:r>
              <a:rPr lang="fr-FR" noProof="0" dirty="0"/>
              <a:t>SOUS-TITRE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et sous-titre uniquement - Clai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1" name="Espace réservé du texte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tx1"/>
                </a:solidFill>
                <a:latin typeface="+mj-lt"/>
              </a:defRPr>
            </a:lvl1pPr>
          </a:lstStyle>
          <a:p>
            <a:pPr lvl="0" rtl="0"/>
            <a:r>
              <a:rPr lang="fr-FR" noProof="0" dirty="0"/>
              <a:t>SOUS-TITRE</a:t>
            </a:r>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3" name="Titre 2">
            <a:extLst>
              <a:ext uri="{FF2B5EF4-FFF2-40B4-BE49-F238E27FC236}">
                <a16:creationId xmlns:a16="http://schemas.microsoft.com/office/drawing/2014/main" id="{72F32FC1-1FF6-4874-9835-EB1A90F7E9F5}"/>
              </a:ext>
            </a:extLst>
          </p:cNvPr>
          <p:cNvSpPr>
            <a:spLocks noGrp="1"/>
          </p:cNvSpPr>
          <p:nvPr>
            <p:ph type="title"/>
          </p:nvPr>
        </p:nvSpPr>
        <p:spPr/>
        <p:txBody>
          <a:bodyPr rtlCol="0"/>
          <a:lstStyle/>
          <a:p>
            <a:pPr rtl="0"/>
            <a:r>
              <a:rPr lang="fr-FR" noProof="0"/>
              <a:t>Modifiez le style du titre</a:t>
            </a:r>
            <a:endParaRPr lang="fr-FR" noProof="0" dirty="0"/>
          </a:p>
        </p:txBody>
      </p:sp>
      <p:sp>
        <p:nvSpPr>
          <p:cNvPr id="10" name="Forme libre : Form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Équipe">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rtlCol="0"/>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endParaRPr lang="fr-FR" noProof="0" dirty="0"/>
          </a:p>
        </p:txBody>
      </p:sp>
      <p:sp>
        <p:nvSpPr>
          <p:cNvPr id="19" name="Forme libre : Form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5" name="Espace réservé du texte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13" name="Espace réservé du texte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15" name="Espace réservé du texte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16" name="Espace réservé du texte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17" name="Espace réservé du texte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18" name="Espace réservé du texte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29" name="Espace réservé d’image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30" name="Espace réservé d’image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31" name="Espace réservé d’image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22" name="Espace réservé du texte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23" name="Espace réservé du texte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24" name="Espace réservé du texte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27" name="Espace réservé du texte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28" name="Espace réservé du texte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rtlCol="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Rôle</a:t>
            </a:r>
          </a:p>
        </p:txBody>
      </p:sp>
      <p:sp>
        <p:nvSpPr>
          <p:cNvPr id="32" name="Espace réservé du texte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rtlCol="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rtl="0"/>
            <a:r>
              <a:rPr lang="fr-FR" noProof="0" dirty="0"/>
              <a:t>Nom complet</a:t>
            </a:r>
          </a:p>
        </p:txBody>
      </p:sp>
      <p:sp>
        <p:nvSpPr>
          <p:cNvPr id="33" name="Espace réservé d’image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34" name="Espace réservé d’image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35" name="Espace réservé d’image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rtlCol="0" anchor="ctr"/>
          <a:lstStyle>
            <a:lvl1pPr marL="0" indent="0" algn="ctr">
              <a:buNone/>
              <a:defRPr sz="1050" i="1">
                <a:solidFill>
                  <a:schemeClr val="bg1"/>
                </a:solidFill>
              </a:defRPr>
            </a:lvl1pPr>
          </a:lstStyle>
          <a:p>
            <a:pPr rtl="0"/>
            <a:r>
              <a:rPr lang="fr-FR" noProof="0" dirty="0"/>
              <a:t>Icône</a:t>
            </a:r>
          </a:p>
        </p:txBody>
      </p:sp>
      <p:sp>
        <p:nvSpPr>
          <p:cNvPr id="3" name="Titre 2">
            <a:extLst>
              <a:ext uri="{FF2B5EF4-FFF2-40B4-BE49-F238E27FC236}">
                <a16:creationId xmlns:a16="http://schemas.microsoft.com/office/drawing/2014/main" id="{7C0EBF36-B9CA-4962-B198-27B56B54E58C}"/>
              </a:ext>
            </a:extLst>
          </p:cNvPr>
          <p:cNvSpPr>
            <a:spLocks noGrp="1"/>
          </p:cNvSpPr>
          <p:nvPr>
            <p:ph type="title"/>
          </p:nvPr>
        </p:nvSpPr>
        <p:spPr/>
        <p:txBody>
          <a:bodyPr rtlCol="0"/>
          <a:lstStyle>
            <a:lvl1pPr>
              <a:defRPr>
                <a:solidFill>
                  <a:schemeClr val="bg1"/>
                </a:solidFill>
              </a:defRPr>
            </a:lvl1pPr>
          </a:lstStyle>
          <a:p>
            <a:pPr rtl="0"/>
            <a:r>
              <a:rPr lang="fr-FR" noProof="0"/>
              <a:t>Modifiez le style du titre</a:t>
            </a:r>
            <a:endParaRPr lang="fr-FR" noProof="0" dirty="0"/>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 répertorié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9" name="Espace réservé du texte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tx1"/>
                </a:solidFill>
                <a:latin typeface="+mj-lt"/>
              </a:defRPr>
            </a:lvl1pPr>
          </a:lstStyle>
          <a:p>
            <a:pPr lvl="0" rtl="0"/>
            <a:r>
              <a:rPr lang="fr-FR" noProof="0" dirty="0"/>
              <a:t>SOUS-TITRE</a:t>
            </a:r>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contenu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rtlCol="0"/>
          <a:lstStyle>
            <a:lvl1pPr marL="0" indent="0">
              <a:buNone/>
              <a:defRPr/>
            </a:lvl1pPr>
          </a:lstStyle>
          <a:p>
            <a:pPr lvl="0" rtl="0"/>
            <a:r>
              <a:rPr lang="fr-FR" noProof="0" dirty="0"/>
              <a:t>Description ici</a:t>
            </a:r>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
        <p:nvSpPr>
          <p:cNvPr id="11" name="Espace réservé d’image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rtlCol="0" anchor="ctr"/>
          <a:lstStyle>
            <a:lvl1pPr marL="0" indent="0" algn="ctr">
              <a:buNone/>
              <a:defRPr sz="1050" i="1"/>
            </a:lvl1pPr>
          </a:lstStyle>
          <a:p>
            <a:pPr rtl="0"/>
            <a:r>
              <a:rPr lang="fr-FR" noProof="0" dirty="0"/>
              <a:t>Emplacement</a:t>
            </a:r>
            <a:br>
              <a:rPr lang="fr-FR" noProof="0" dirty="0"/>
            </a:br>
            <a:r>
              <a:rPr lang="fr-FR" noProof="0" dirty="0"/>
              <a:t>Votre image/logo ici</a:t>
            </a:r>
          </a:p>
        </p:txBody>
      </p:sp>
      <p:sp>
        <p:nvSpPr>
          <p:cNvPr id="12" name="Espace réservé d’image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rtlCol="0" anchor="ctr"/>
          <a:lstStyle>
            <a:lvl1pPr marL="0" indent="0" algn="ctr">
              <a:buNone/>
              <a:defRPr sz="1050" i="1"/>
            </a:lvl1pPr>
          </a:lstStyle>
          <a:p>
            <a:pPr rtl="0"/>
            <a:r>
              <a:rPr lang="fr-FR" noProof="0" dirty="0"/>
              <a:t>Emplacement</a:t>
            </a:r>
            <a:br>
              <a:rPr lang="fr-FR" noProof="0" dirty="0"/>
            </a:br>
            <a:r>
              <a:rPr lang="fr-FR" noProof="0" dirty="0"/>
              <a:t>Votre image/logo ici</a:t>
            </a:r>
          </a:p>
        </p:txBody>
      </p:sp>
      <p:sp>
        <p:nvSpPr>
          <p:cNvPr id="13" name="Espace réservé d’image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rtlCol="0" anchor="ctr"/>
          <a:lstStyle>
            <a:lvl1pPr marL="0" indent="0" algn="ctr">
              <a:buNone/>
              <a:defRPr sz="1050" i="1"/>
            </a:lvl1pPr>
          </a:lstStyle>
          <a:p>
            <a:pPr rtl="0"/>
            <a:r>
              <a:rPr lang="fr-FR" noProof="0" dirty="0"/>
              <a:t>Emplacement</a:t>
            </a:r>
            <a:br>
              <a:rPr lang="fr-FR" noProof="0" dirty="0"/>
            </a:br>
            <a:r>
              <a:rPr lang="fr-FR" noProof="0" dirty="0"/>
              <a:t>Votre image/logo ici</a:t>
            </a:r>
          </a:p>
        </p:txBody>
      </p:sp>
      <p:sp>
        <p:nvSpPr>
          <p:cNvPr id="14" name="Espace réservé du contenu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rtlCol="0"/>
          <a:lstStyle>
            <a:lvl1pPr marL="0" indent="0">
              <a:buNone/>
              <a:defRPr/>
            </a:lvl1pPr>
          </a:lstStyle>
          <a:p>
            <a:pPr lvl="0" rtl="0"/>
            <a:r>
              <a:rPr lang="fr-FR" noProof="0" dirty="0"/>
              <a:t>Description ici</a:t>
            </a:r>
          </a:p>
        </p:txBody>
      </p:sp>
      <p:sp>
        <p:nvSpPr>
          <p:cNvPr id="15" name="Espace réservé du contenu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rtlCol="0"/>
          <a:lstStyle>
            <a:lvl1pPr marL="0" indent="0">
              <a:buNone/>
              <a:defRPr/>
            </a:lvl1pPr>
          </a:lstStyle>
          <a:p>
            <a:pPr lvl="0" rtl="0"/>
            <a:r>
              <a:rPr lang="fr-FR" noProof="0" dirty="0"/>
              <a:t>Description ici</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9" name="Espace réservé du texte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rtlCol="0"/>
          <a:lstStyle>
            <a:lvl1pPr marL="0" indent="0">
              <a:buNone/>
              <a:defRPr sz="2200">
                <a:solidFill>
                  <a:schemeClr val="tx1"/>
                </a:solidFill>
                <a:latin typeface="+mj-lt"/>
              </a:defRPr>
            </a:lvl1pPr>
          </a:lstStyle>
          <a:p>
            <a:pPr lvl="0" rtl="0"/>
            <a:r>
              <a:rPr lang="fr-FR" noProof="0" dirty="0"/>
              <a:t>SOUS-TITRE</a:t>
            </a:r>
          </a:p>
        </p:txBody>
      </p:sp>
      <p:sp>
        <p:nvSpPr>
          <p:cNvPr id="2" name="Titre 1">
            <a:extLst>
              <a:ext uri="{FF2B5EF4-FFF2-40B4-BE49-F238E27FC236}">
                <a16:creationId xmlns:a16="http://schemas.microsoft.com/office/drawing/2014/main" id="{DF797B74-E645-46F4-8F77-49AF7F0D443F}"/>
              </a:ext>
            </a:extLst>
          </p:cNvPr>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contenu 2">
            <a:extLst>
              <a:ext uri="{FF2B5EF4-FFF2-40B4-BE49-F238E27FC236}">
                <a16:creationId xmlns:a16="http://schemas.microsoft.com/office/drawing/2014/main" id="{2E5EAA7C-AE70-48A8-B582-013424EB9C44}"/>
              </a:ext>
            </a:extLst>
          </p:cNvPr>
          <p:cNvSpPr>
            <a:spLocks noGrp="1"/>
          </p:cNvSpPr>
          <p:nvPr>
            <p:ph idx="1"/>
          </p:nvPr>
        </p:nvSpPr>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7" name="Espace réservé du pied de page 6">
            <a:extLst>
              <a:ext uri="{FF2B5EF4-FFF2-40B4-BE49-F238E27FC236}">
                <a16:creationId xmlns:a16="http://schemas.microsoft.com/office/drawing/2014/main" id="{A557D1A2-E2DD-4CD8-B7DB-2864D4A97E02}"/>
              </a:ext>
            </a:extLst>
          </p:cNvPr>
          <p:cNvSpPr>
            <a:spLocks noGrp="1"/>
          </p:cNvSpPr>
          <p:nvPr>
            <p:ph type="ftr" sz="quarter" idx="10"/>
          </p:nvPr>
        </p:nvSpPr>
        <p:spPr/>
        <p:txBody>
          <a:bodyPr rtlCol="0"/>
          <a:lstStyle/>
          <a:p>
            <a:pPr rtl="0"/>
            <a:endParaRPr lang="fr-FR" noProof="0" dirty="0"/>
          </a:p>
        </p:txBody>
      </p:sp>
      <p:sp>
        <p:nvSpPr>
          <p:cNvPr id="8" name="Espace réservé du numéro de diapositive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rtlCol="0"/>
          <a:lstStyle/>
          <a:p>
            <a:pPr rtl="0"/>
            <a:fld id="{EECC7194-A4D0-457B-9D3E-53681723AFF7}" type="slidenum">
              <a:rPr lang="fr-FR" noProof="0" smtClean="0"/>
              <a:pPr rtl="0"/>
              <a:t>‹#›</a:t>
            </a:fld>
            <a:endParaRPr lang="fr-FR" noProof="0" dirty="0"/>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rci">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Espace réservé d’image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rtlCol="0" anchor="ctr"/>
          <a:lstStyle>
            <a:lvl1pPr marL="0" indent="0" algn="r">
              <a:lnSpc>
                <a:spcPct val="100000"/>
              </a:lnSpc>
              <a:buNone/>
              <a:defRPr sz="1200" i="1">
                <a:solidFill>
                  <a:schemeClr val="bg1">
                    <a:lumMod val="75000"/>
                  </a:schemeClr>
                </a:solidFill>
              </a:defRPr>
            </a:lvl1pPr>
          </a:lstStyle>
          <a:p>
            <a:pPr rtl="0"/>
            <a:r>
              <a:rPr lang="fr-FR" noProof="0" dirty="0"/>
              <a:t>Glissez-déplacez votre </a:t>
            </a:r>
            <a:br>
              <a:rPr lang="fr-FR" noProof="0" dirty="0"/>
            </a:br>
            <a:r>
              <a:rPr lang="fr-FR" noProof="0" dirty="0"/>
              <a:t>Photo d’arrière-plan ici</a:t>
            </a:r>
          </a:p>
        </p:txBody>
      </p:sp>
      <p:sp>
        <p:nvSpPr>
          <p:cNvPr id="2" name="Titr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solidFill>
            <a:schemeClr val="tx2">
              <a:alpha val="70000"/>
            </a:schemeClr>
          </a:solidFill>
        </p:spPr>
        <p:txBody>
          <a:bodyPr lIns="1116000" rIns="180000" bIns="756000" rtlCol="0" anchor="ctr"/>
          <a:lstStyle>
            <a:lvl1pPr algn="l">
              <a:lnSpc>
                <a:spcPct val="65000"/>
              </a:lnSpc>
              <a:defRPr sz="8800" cap="all" baseline="0">
                <a:solidFill>
                  <a:schemeClr val="bg1"/>
                </a:solidFill>
              </a:defRPr>
            </a:lvl1pPr>
          </a:lstStyle>
          <a:p>
            <a:pPr rtl="0"/>
            <a:r>
              <a:rPr lang="fr-FR" noProof="0" dirty="0" err="1"/>
              <a:t>Thank</a:t>
            </a:r>
            <a:r>
              <a:rPr lang="fr-FR" noProof="0" dirty="0"/>
              <a:t> </a:t>
            </a:r>
            <a:br>
              <a:rPr lang="fr-FR" noProof="0" dirty="0"/>
            </a:br>
            <a:r>
              <a:rPr lang="fr-FR" noProof="0" dirty="0"/>
              <a:t>à vous</a:t>
            </a:r>
          </a:p>
        </p:txBody>
      </p:sp>
      <p:sp>
        <p:nvSpPr>
          <p:cNvPr id="6" name="Espace réservé du texte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rtlCol="0" anchor="t"/>
          <a:lstStyle>
            <a:lvl1pPr marL="0" indent="0">
              <a:buNone/>
              <a:defRPr sz="2000">
                <a:solidFill>
                  <a:schemeClr val="accent1"/>
                </a:solidFill>
                <a:latin typeface="+mj-lt"/>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rtl="0"/>
            <a:r>
              <a:rPr lang="fr-FR" noProof="0" dirty="0"/>
              <a:t>Nom complet</a:t>
            </a:r>
          </a:p>
        </p:txBody>
      </p:sp>
      <p:sp>
        <p:nvSpPr>
          <p:cNvPr id="9" name="Espace réservé du texte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rtlCol="0"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rtl="0"/>
            <a:r>
              <a:rPr lang="fr-FR" noProof="0" dirty="0"/>
              <a:t>E-mail</a:t>
            </a:r>
          </a:p>
        </p:txBody>
      </p:sp>
      <p:sp>
        <p:nvSpPr>
          <p:cNvPr id="10" name="Espace réservé du texte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rtlCol="0"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rtl="0"/>
            <a:r>
              <a:rPr lang="fr-FR" noProof="0" dirty="0"/>
              <a:t>Téléphone</a:t>
            </a:r>
          </a:p>
        </p:txBody>
      </p:sp>
      <p:sp>
        <p:nvSpPr>
          <p:cNvPr id="11" name="Espace réservé du texte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rtlCol="0" anchor="t"/>
          <a:lstStyle>
            <a:lvl1pPr marL="0" indent="0">
              <a:buNone/>
              <a:defRPr sz="1000" i="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rtl="0"/>
            <a:r>
              <a:rPr lang="fr-FR" noProof="0" dirty="0"/>
              <a:t>FONCTION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9A5246D-ECE9-473C-953D-D56C3F7B32F8}"/>
              </a:ext>
            </a:extLst>
          </p:cNvPr>
          <p:cNvSpPr>
            <a:spLocks noGrp="1"/>
          </p:cNvSpPr>
          <p:nvPr>
            <p:ph type="title"/>
          </p:nvPr>
        </p:nvSpPr>
        <p:spPr>
          <a:xfrm>
            <a:off x="684000" y="808186"/>
            <a:ext cx="7560000" cy="370166"/>
          </a:xfrm>
          <a:prstGeom prst="rect">
            <a:avLst/>
          </a:prstGeom>
        </p:spPr>
        <p:txBody>
          <a:bodyPr vert="horz" lIns="0" tIns="0" rIns="0" bIns="0" rtlCol="0" anchor="t">
            <a:noAutofit/>
          </a:bodyPr>
          <a:lstStyle/>
          <a:p>
            <a:pPr rtl="0"/>
            <a:r>
              <a:rPr lang="fr-FR" noProof="0" dirty="0"/>
              <a:t>Modifiez le style du titre</a:t>
            </a:r>
          </a:p>
        </p:txBody>
      </p:sp>
      <p:sp>
        <p:nvSpPr>
          <p:cNvPr id="3" name="Espace réservé du texte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5" name="Espace réservé du pied de page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1"/>
          </a:solidFill>
        </p:spPr>
        <p:txBody>
          <a:bodyPr vert="horz" lIns="0" tIns="0" rIns="0" bIns="0" rtlCol="0" anchor="ctr"/>
          <a:lstStyle>
            <a:lvl1pPr algn="ctr">
              <a:defRPr sz="800">
                <a:solidFill>
                  <a:schemeClr val="tx2"/>
                </a:solidFill>
              </a:defRPr>
            </a:lvl1pPr>
          </a:lstStyle>
          <a:p>
            <a:fld id="{EECC7194-A4D0-457B-9D3E-53681723AFF7}" type="slidenum">
              <a:rPr lang="fr-FR" smtClean="0"/>
              <a:pPr/>
              <a:t>‹#›</a:t>
            </a:fld>
            <a:endParaRPr lang="fr-FR" dirty="0"/>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ftr="0" dt="0"/>
  <p:txStyles>
    <p:titleStyle>
      <a:lvl1pPr algn="l" defTabSz="914400" rtl="0" eaLnBrk="1" latinLnBrk="0" hangingPunct="1">
        <a:lnSpc>
          <a:spcPct val="90000"/>
        </a:lnSpc>
        <a:spcBef>
          <a:spcPct val="0"/>
        </a:spcBef>
        <a:buNone/>
        <a:defRPr sz="3200" b="1" kern="1200" cap="all" spc="-150" baseline="0">
          <a:solidFill>
            <a:schemeClr val="accent2"/>
          </a:solidFill>
          <a:latin typeface="+mj-lt"/>
          <a:ea typeface="+mj-ea"/>
          <a:cs typeface="+mj-cs"/>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jpe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1.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22.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hyperlink" Target="http://34.229.72.125:3000/" TargetMode="External"/><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Espace réservé d’image 13" descr="Médecin pointant du doigt sur un écran de grande taille">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xfrm>
            <a:off x="0" y="-209550"/>
            <a:ext cx="12192000" cy="6858000"/>
          </a:xfrm>
        </p:spPr>
      </p:pic>
      <p:sp>
        <p:nvSpPr>
          <p:cNvPr id="5" name="objet 7" descr="Rectangle beige">
            <a:extLst>
              <a:ext uri="{FF2B5EF4-FFF2-40B4-BE49-F238E27FC236}">
                <a16:creationId xmlns:a16="http://schemas.microsoft.com/office/drawing/2014/main" id="{C85C272F-FCB2-478D-9E03-EC734D1AB6C0}"/>
              </a:ext>
            </a:extLst>
          </p:cNvPr>
          <p:cNvSpPr/>
          <p:nvPr/>
        </p:nvSpPr>
        <p:spPr bwMode="white">
          <a:xfrm>
            <a:off x="3687084" y="3441536"/>
            <a:ext cx="59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3903024" y="4896463"/>
            <a:ext cx="4500000"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pic>
        <p:nvPicPr>
          <p:cNvPr id="6" name="Image 5">
            <a:extLst>
              <a:ext uri="{FF2B5EF4-FFF2-40B4-BE49-F238E27FC236}">
                <a16:creationId xmlns:a16="http://schemas.microsoft.com/office/drawing/2014/main" id="{FA016CC8-C2F2-366F-7FF2-92FC6CDDF4EB}"/>
              </a:ext>
            </a:extLst>
          </p:cNvPr>
          <p:cNvPicPr>
            <a:picLocks noChangeAspect="1"/>
          </p:cNvPicPr>
          <p:nvPr/>
        </p:nvPicPr>
        <p:blipFill>
          <a:blip r:embed="rId4"/>
          <a:stretch>
            <a:fillRect/>
          </a:stretch>
        </p:blipFill>
        <p:spPr>
          <a:xfrm>
            <a:off x="4271757" y="-12536"/>
            <a:ext cx="8034291" cy="6858000"/>
          </a:xfrm>
          <a:prstGeom prst="rect">
            <a:avLst/>
          </a:prstGeom>
        </p:spPr>
      </p:pic>
      <p:sp>
        <p:nvSpPr>
          <p:cNvPr id="3" name="Titre 2">
            <a:extLst>
              <a:ext uri="{FF2B5EF4-FFF2-40B4-BE49-F238E27FC236}">
                <a16:creationId xmlns:a16="http://schemas.microsoft.com/office/drawing/2014/main" id="{B8D8E648-93B0-47FF-A306-492EFF7FC499}"/>
              </a:ext>
            </a:extLst>
          </p:cNvPr>
          <p:cNvSpPr>
            <a:spLocks noGrp="1"/>
          </p:cNvSpPr>
          <p:nvPr>
            <p:ph type="ctrTitle"/>
          </p:nvPr>
        </p:nvSpPr>
        <p:spPr>
          <a:xfrm>
            <a:off x="4271757" y="-209550"/>
            <a:ext cx="7920243" cy="7067550"/>
          </a:xfrm>
        </p:spPr>
        <p:txBody>
          <a:bodyPr rtlCol="0"/>
          <a:lstStyle/>
          <a:p>
            <a:pPr rtl="0">
              <a:lnSpc>
                <a:spcPct val="110000"/>
              </a:lnSpc>
            </a:pPr>
            <a:r>
              <a:rPr lang="fr-FR" sz="4600" dirty="0"/>
              <a:t>Projet De mise en place d’une solution d’analyse de données Big Data</a:t>
            </a:r>
          </a:p>
        </p:txBody>
      </p:sp>
      <p:sp>
        <p:nvSpPr>
          <p:cNvPr id="4" name="Sous-titre 3">
            <a:extLst>
              <a:ext uri="{FF2B5EF4-FFF2-40B4-BE49-F238E27FC236}">
                <a16:creationId xmlns:a16="http://schemas.microsoft.com/office/drawing/2014/main" id="{64857D70-F12B-4E1B-99F8-92DAD4349846}"/>
              </a:ext>
            </a:extLst>
          </p:cNvPr>
          <p:cNvSpPr>
            <a:spLocks noGrp="1"/>
          </p:cNvSpPr>
          <p:nvPr>
            <p:ph type="subTitle" idx="1"/>
          </p:nvPr>
        </p:nvSpPr>
        <p:spPr>
          <a:xfrm>
            <a:off x="7164187" y="5642726"/>
            <a:ext cx="3193584" cy="590500"/>
          </a:xfrm>
          <a:gradFill>
            <a:gsLst>
              <a:gs pos="8000">
                <a:schemeClr val="tx2"/>
              </a:gs>
              <a:gs pos="100000">
                <a:schemeClr val="accent2"/>
              </a:gs>
            </a:gsLst>
            <a:lin ang="14400000" scaled="0"/>
          </a:gradFill>
        </p:spPr>
        <p:txBody>
          <a:bodyPr rtlCol="0"/>
          <a:lstStyle/>
          <a:p>
            <a:pPr algn="ctr" rtl="0"/>
            <a:r>
              <a:rPr lang="fr-FR" dirty="0"/>
              <a:t>Mars 2023</a:t>
            </a:r>
          </a:p>
        </p:txBody>
      </p:sp>
    </p:spTree>
    <p:extLst>
      <p:ext uri="{BB962C8B-B14F-4D97-AF65-F5344CB8AC3E}">
        <p14:creationId xmlns:p14="http://schemas.microsoft.com/office/powerpoint/2010/main" val="8505931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86568"/>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5C84B00A-2062-4E70-8AD4-A114464A66DC}"/>
              </a:ext>
              <a:ext uri="{C183D7F6-B498-43B3-948B-1728B52AA6E4}">
                <adec:decorative xmlns:adec="http://schemas.microsoft.com/office/drawing/2017/decorative" val="1"/>
              </a:ext>
            </a:extLst>
          </p:cNvPr>
          <p:cNvSpPr/>
          <p:nvPr/>
        </p:nvSpPr>
        <p:spPr>
          <a:xfrm>
            <a:off x="802460" y="1410907"/>
            <a:ext cx="10629202" cy="145613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 name="Espace réservé du numéro de diapositive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rtlCol="0"/>
          <a:lstStyle/>
          <a:p>
            <a:pPr rtl="0"/>
            <a:fld id="{EECC7194-A4D0-457B-9D3E-53681723AFF7}" type="slidenum">
              <a:rPr lang="fr-FR" sz="1000" smtClean="0"/>
              <a:pPr rtl="0"/>
              <a:t>2</a:t>
            </a:fld>
            <a:endParaRPr lang="fr-FR" sz="1000" dirty="0"/>
          </a:p>
        </p:txBody>
      </p:sp>
      <p:sp>
        <p:nvSpPr>
          <p:cNvPr id="6" name="Espace réservé du texte 5">
            <a:extLst>
              <a:ext uri="{FF2B5EF4-FFF2-40B4-BE49-F238E27FC236}">
                <a16:creationId xmlns:a16="http://schemas.microsoft.com/office/drawing/2014/main" id="{C2FD735F-3532-48E3-982E-20E3B7CD4E77}"/>
              </a:ext>
            </a:extLst>
          </p:cNvPr>
          <p:cNvSpPr>
            <a:spLocks noGrp="1"/>
          </p:cNvSpPr>
          <p:nvPr>
            <p:ph type="body" sz="quarter" idx="16"/>
          </p:nvPr>
        </p:nvSpPr>
        <p:spPr>
          <a:xfrm>
            <a:off x="5067482" y="5766245"/>
            <a:ext cx="2034138" cy="360445"/>
          </a:xfrm>
        </p:spPr>
        <p:txBody>
          <a:bodyPr rtlCol="0"/>
          <a:lstStyle/>
          <a:p>
            <a:pPr rtl="0"/>
            <a:r>
              <a:rPr lang="fr-FR" noProof="1"/>
              <a:t>PREIRA Jean-Marie</a:t>
            </a:r>
          </a:p>
        </p:txBody>
      </p:sp>
      <p:sp>
        <p:nvSpPr>
          <p:cNvPr id="8" name="Espace réservé du texte 7">
            <a:extLst>
              <a:ext uri="{FF2B5EF4-FFF2-40B4-BE49-F238E27FC236}">
                <a16:creationId xmlns:a16="http://schemas.microsoft.com/office/drawing/2014/main" id="{C4044465-8F5D-4E03-90E0-7A3034CF8A69}"/>
              </a:ext>
            </a:extLst>
          </p:cNvPr>
          <p:cNvSpPr>
            <a:spLocks noGrp="1"/>
          </p:cNvSpPr>
          <p:nvPr>
            <p:ph type="body" sz="quarter" idx="18"/>
          </p:nvPr>
        </p:nvSpPr>
        <p:spPr>
          <a:xfrm>
            <a:off x="8871767" y="3475962"/>
            <a:ext cx="2598485" cy="360445"/>
          </a:xfrm>
        </p:spPr>
        <p:txBody>
          <a:bodyPr rtlCol="0"/>
          <a:lstStyle/>
          <a:p>
            <a:pPr rtl="0"/>
            <a:r>
              <a:rPr lang="fr-FR" noProof="1"/>
              <a:t>SANOGO Steve</a:t>
            </a:r>
          </a:p>
        </p:txBody>
      </p:sp>
      <p:sp>
        <p:nvSpPr>
          <p:cNvPr id="21" name="Titre 20">
            <a:extLst>
              <a:ext uri="{FF2B5EF4-FFF2-40B4-BE49-F238E27FC236}">
                <a16:creationId xmlns:a16="http://schemas.microsoft.com/office/drawing/2014/main" id="{BC5F3A4A-2857-4A67-818B-E62AB2121E48}"/>
              </a:ext>
            </a:extLst>
          </p:cNvPr>
          <p:cNvSpPr>
            <a:spLocks noGrp="1"/>
          </p:cNvSpPr>
          <p:nvPr>
            <p:ph type="title"/>
          </p:nvPr>
        </p:nvSpPr>
        <p:spPr>
          <a:xfrm>
            <a:off x="722099" y="368769"/>
            <a:ext cx="7560000" cy="370166"/>
          </a:xfrm>
        </p:spPr>
        <p:txBody>
          <a:bodyPr rtlCol="0"/>
          <a:lstStyle/>
          <a:p>
            <a:pPr rtl="0"/>
            <a:r>
              <a:rPr lang="fr-FR" dirty="0"/>
              <a:t>L’ÉQUIPE</a:t>
            </a:r>
          </a:p>
        </p:txBody>
      </p:sp>
      <p:sp>
        <p:nvSpPr>
          <p:cNvPr id="22" name="objet 7" descr="Rectangle beige">
            <a:extLst>
              <a:ext uri="{FF2B5EF4-FFF2-40B4-BE49-F238E27FC236}">
                <a16:creationId xmlns:a16="http://schemas.microsoft.com/office/drawing/2014/main" id="{FEEE4553-844E-49F9-8166-2F2E938E3677}"/>
              </a:ext>
            </a:extLst>
          </p:cNvPr>
          <p:cNvSpPr/>
          <p:nvPr/>
        </p:nvSpPr>
        <p:spPr bwMode="white">
          <a:xfrm flipV="1">
            <a:off x="722099" y="843563"/>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57" name="Rectangle 56">
            <a:extLst>
              <a:ext uri="{FF2B5EF4-FFF2-40B4-BE49-F238E27FC236}">
                <a16:creationId xmlns:a16="http://schemas.microsoft.com/office/drawing/2014/main" id="{5CCC7563-285F-46AC-90A3-8D8D6F494498}"/>
              </a:ext>
              <a:ext uri="{C183D7F6-B498-43B3-948B-1728B52AA6E4}">
                <adec:decorative xmlns:adec="http://schemas.microsoft.com/office/drawing/2017/decorative" val="1"/>
              </a:ext>
            </a:extLst>
          </p:cNvPr>
          <p:cNvSpPr/>
          <p:nvPr/>
        </p:nvSpPr>
        <p:spPr>
          <a:xfrm>
            <a:off x="1484461" y="2656411"/>
            <a:ext cx="1453048" cy="58102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pic>
        <p:nvPicPr>
          <p:cNvPr id="39" name="Picture 2" descr="User Profile icon PNG and SVG Vector Free Download">
            <a:extLst>
              <a:ext uri="{FF2B5EF4-FFF2-40B4-BE49-F238E27FC236}">
                <a16:creationId xmlns:a16="http://schemas.microsoft.com/office/drawing/2014/main" id="{0CF7E5F1-6F5C-8D1E-E0F9-DBE2DDD9C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3581" y="1688717"/>
            <a:ext cx="1194807" cy="140994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User Profile icon PNG and SVG Vector Free Download">
            <a:extLst>
              <a:ext uri="{FF2B5EF4-FFF2-40B4-BE49-F238E27FC236}">
                <a16:creationId xmlns:a16="http://schemas.microsoft.com/office/drawing/2014/main" id="{552B094D-3C56-CAE5-4E2F-3BBE84641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657" y="3874303"/>
            <a:ext cx="1194807" cy="140994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User Profile icon PNG and SVG Vector Free Download">
            <a:extLst>
              <a:ext uri="{FF2B5EF4-FFF2-40B4-BE49-F238E27FC236}">
                <a16:creationId xmlns:a16="http://schemas.microsoft.com/office/drawing/2014/main" id="{60D4BBDA-2BB7-4C0B-96AE-D4B95CC24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2732" y="1688716"/>
            <a:ext cx="1194807" cy="1409943"/>
          </a:xfrm>
          <a:prstGeom prst="rect">
            <a:avLst/>
          </a:prstGeom>
          <a:noFill/>
          <a:extLst>
            <a:ext uri="{909E8E84-426E-40DD-AFC4-6F175D3DCCD1}">
              <a14:hiddenFill xmlns:a14="http://schemas.microsoft.com/office/drawing/2010/main">
                <a:solidFill>
                  <a:srgbClr val="FFFFFF"/>
                </a:solidFill>
              </a14:hiddenFill>
            </a:ext>
          </a:extLst>
        </p:spPr>
      </p:pic>
      <p:sp>
        <p:nvSpPr>
          <p:cNvPr id="59" name="ZoneTexte 58">
            <a:extLst>
              <a:ext uri="{FF2B5EF4-FFF2-40B4-BE49-F238E27FC236}">
                <a16:creationId xmlns:a16="http://schemas.microsoft.com/office/drawing/2014/main" id="{2D8C6C4A-0BCE-4358-9790-A3B92A042D88}"/>
              </a:ext>
            </a:extLst>
          </p:cNvPr>
          <p:cNvSpPr txBox="1"/>
          <p:nvPr/>
        </p:nvSpPr>
        <p:spPr>
          <a:xfrm>
            <a:off x="2016586" y="5814382"/>
            <a:ext cx="2485513" cy="400110"/>
          </a:xfrm>
          <a:prstGeom prst="rect">
            <a:avLst/>
          </a:prstGeom>
          <a:noFill/>
        </p:spPr>
        <p:txBody>
          <a:bodyPr wrap="square" rtlCol="0">
            <a:spAutoFit/>
          </a:bodyPr>
          <a:lstStyle/>
          <a:p>
            <a:r>
              <a:rPr lang="fr-FR" sz="2000" dirty="0"/>
              <a:t>Sous la supervision</a:t>
            </a:r>
          </a:p>
        </p:txBody>
      </p:sp>
      <p:sp>
        <p:nvSpPr>
          <p:cNvPr id="62" name="Rectangle 61">
            <a:extLst>
              <a:ext uri="{FF2B5EF4-FFF2-40B4-BE49-F238E27FC236}">
                <a16:creationId xmlns:a16="http://schemas.microsoft.com/office/drawing/2014/main" id="{2DAA527D-C406-07D5-07E9-04E09A3D9928}"/>
              </a:ext>
              <a:ext uri="{C183D7F6-B498-43B3-948B-1728B52AA6E4}">
                <adec:decorative xmlns:adec="http://schemas.microsoft.com/office/drawing/2017/decorative" val="1"/>
              </a:ext>
            </a:extLst>
          </p:cNvPr>
          <p:cNvSpPr/>
          <p:nvPr/>
        </p:nvSpPr>
        <p:spPr>
          <a:xfrm>
            <a:off x="5377943" y="5160409"/>
            <a:ext cx="1453048" cy="37016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63" name="Rectangle 62">
            <a:extLst>
              <a:ext uri="{FF2B5EF4-FFF2-40B4-BE49-F238E27FC236}">
                <a16:creationId xmlns:a16="http://schemas.microsoft.com/office/drawing/2014/main" id="{03304BC9-C065-5935-75E1-FC54EAC2463F}"/>
              </a:ext>
              <a:ext uri="{C183D7F6-B498-43B3-948B-1728B52AA6E4}">
                <adec:decorative xmlns:adec="http://schemas.microsoft.com/office/drawing/2017/decorative" val="1"/>
              </a:ext>
            </a:extLst>
          </p:cNvPr>
          <p:cNvSpPr/>
          <p:nvPr/>
        </p:nvSpPr>
        <p:spPr>
          <a:xfrm>
            <a:off x="9409894" y="2682616"/>
            <a:ext cx="1453048" cy="58102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 name="Espace réservé du texte 3">
            <a:extLst>
              <a:ext uri="{FF2B5EF4-FFF2-40B4-BE49-F238E27FC236}">
                <a16:creationId xmlns:a16="http://schemas.microsoft.com/office/drawing/2014/main" id="{102DBD90-DB30-0DB5-81B1-77972BD685A0}"/>
              </a:ext>
            </a:extLst>
          </p:cNvPr>
          <p:cNvSpPr txBox="1">
            <a:spLocks/>
          </p:cNvSpPr>
          <p:nvPr/>
        </p:nvSpPr>
        <p:spPr>
          <a:xfrm>
            <a:off x="1280272" y="3376469"/>
            <a:ext cx="2034138" cy="360445"/>
          </a:xfrm>
          <a:prstGeom prst="rect">
            <a:avLst/>
          </a:prstGeom>
          <a:solidFill>
            <a:schemeClr val="tx2"/>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800" b="0" kern="1200" cap="none"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noProof="1"/>
          </a:p>
          <a:p>
            <a:r>
              <a:rPr lang="fr-FR" noProof="1"/>
              <a:t>BAZIE Dinin Lothaire</a:t>
            </a:r>
          </a:p>
          <a:p>
            <a:r>
              <a:rPr lang="fr-FR" noProof="1"/>
              <a:t> </a:t>
            </a:r>
          </a:p>
        </p:txBody>
      </p:sp>
    </p:spTree>
    <p:extLst>
      <p:ext uri="{BB962C8B-B14F-4D97-AF65-F5344CB8AC3E}">
        <p14:creationId xmlns:p14="http://schemas.microsoft.com/office/powerpoint/2010/main" val="786406106"/>
      </p:ext>
    </p:extLst>
  </p:cSld>
  <p:clrMapOvr>
    <a:masterClrMapping/>
  </p:clrMapOvr>
  <mc:AlternateContent xmlns:mc="http://schemas.openxmlformats.org/markup-compatibility/2006" xmlns:p14="http://schemas.microsoft.com/office/powerpoint/2010/main">
    <mc:Choice Requires="p14">
      <p:transition spd="slow" p14:dur="2000">
        <p:cover/>
      </p:transition>
    </mc:Choice>
    <mc:Fallback xmlns="">
      <p:transition spd="slow">
        <p:cov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Espace réservé pour une image  22">
            <a:extLst>
              <a:ext uri="{FF2B5EF4-FFF2-40B4-BE49-F238E27FC236}">
                <a16:creationId xmlns:a16="http://schemas.microsoft.com/office/drawing/2014/main" id="{D69580C8-F34E-19D3-3123-B86CE676282A}"/>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a:stretch>
            <a:fillRect/>
          </a:stretch>
        </p:blipFill>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14238" y="17203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 name="Titre 2">
            <a:extLst>
              <a:ext uri="{FF2B5EF4-FFF2-40B4-BE49-F238E27FC236}">
                <a16:creationId xmlns:a16="http://schemas.microsoft.com/office/drawing/2014/main" id="{E34E91A8-F608-453C-810A-BE991818063F}"/>
              </a:ext>
            </a:extLst>
          </p:cNvPr>
          <p:cNvSpPr>
            <a:spLocks noGrp="1"/>
          </p:cNvSpPr>
          <p:nvPr>
            <p:ph type="title"/>
          </p:nvPr>
        </p:nvSpPr>
        <p:spPr/>
        <p:txBody>
          <a:bodyPr rtlCol="0"/>
          <a:lstStyle/>
          <a:p>
            <a:pPr rtl="0"/>
            <a:r>
              <a:rPr lang="fr-FR" dirty="0"/>
              <a:t>PLAN de Présentation</a:t>
            </a:r>
          </a:p>
        </p:txBody>
      </p:sp>
      <p:sp>
        <p:nvSpPr>
          <p:cNvPr id="4" name="Espace réservé du numéro de diapositive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rtlCol="0"/>
          <a:lstStyle/>
          <a:p>
            <a:pPr rtl="0"/>
            <a:fld id="{EECC7194-A4D0-457B-9D3E-53681723AFF7}" type="slidenum">
              <a:rPr lang="fr-FR" sz="1000" smtClean="0"/>
              <a:pPr rtl="0"/>
              <a:t>3</a:t>
            </a:fld>
            <a:endParaRPr lang="fr-FR" sz="1000" dirty="0"/>
          </a:p>
        </p:txBody>
      </p:sp>
      <p:sp>
        <p:nvSpPr>
          <p:cNvPr id="5" name="Espace réservé du texte 4">
            <a:extLst>
              <a:ext uri="{FF2B5EF4-FFF2-40B4-BE49-F238E27FC236}">
                <a16:creationId xmlns:a16="http://schemas.microsoft.com/office/drawing/2014/main" id="{E2B821A5-5262-4D44-AFEB-D049F229C856}"/>
              </a:ext>
            </a:extLst>
          </p:cNvPr>
          <p:cNvSpPr>
            <a:spLocks noGrp="1"/>
          </p:cNvSpPr>
          <p:nvPr>
            <p:ph type="body" sz="quarter" idx="13"/>
          </p:nvPr>
        </p:nvSpPr>
        <p:spPr>
          <a:xfrm>
            <a:off x="684213" y="3097188"/>
            <a:ext cx="1652587" cy="435600"/>
          </a:xfrm>
        </p:spPr>
        <p:txBody>
          <a:bodyPr rtlCol="0"/>
          <a:lstStyle/>
          <a:p>
            <a:pPr rtl="0"/>
            <a:r>
              <a:rPr lang="fr-FR" sz="1400" dirty="0"/>
              <a:t>Introduction</a:t>
            </a:r>
          </a:p>
        </p:txBody>
      </p:sp>
      <p:sp>
        <p:nvSpPr>
          <p:cNvPr id="6" name="Espace réservé du texte 5">
            <a:extLst>
              <a:ext uri="{FF2B5EF4-FFF2-40B4-BE49-F238E27FC236}">
                <a16:creationId xmlns:a16="http://schemas.microsoft.com/office/drawing/2014/main" id="{A327E535-262E-40B8-A9E1-0C08FFD80900}"/>
              </a:ext>
            </a:extLst>
          </p:cNvPr>
          <p:cNvSpPr>
            <a:spLocks noGrp="1"/>
          </p:cNvSpPr>
          <p:nvPr>
            <p:ph type="body" sz="quarter" idx="14"/>
          </p:nvPr>
        </p:nvSpPr>
        <p:spPr>
          <a:xfrm>
            <a:off x="387167" y="3695377"/>
            <a:ext cx="2248702" cy="846137"/>
          </a:xfrm>
        </p:spPr>
        <p:txBody>
          <a:bodyPr rtlCol="0"/>
          <a:lstStyle/>
          <a:p>
            <a:pPr rtl="0"/>
            <a:r>
              <a:rPr lang="fr-FR" sz="1500" dirty="0"/>
              <a:t>*******************</a:t>
            </a:r>
          </a:p>
        </p:txBody>
      </p:sp>
      <p:sp>
        <p:nvSpPr>
          <p:cNvPr id="7" name="Espace réservé du texte 6">
            <a:extLst>
              <a:ext uri="{FF2B5EF4-FFF2-40B4-BE49-F238E27FC236}">
                <a16:creationId xmlns:a16="http://schemas.microsoft.com/office/drawing/2014/main" id="{030E095F-965E-476E-B681-EE615BECB08B}"/>
              </a:ext>
            </a:extLst>
          </p:cNvPr>
          <p:cNvSpPr>
            <a:spLocks noGrp="1"/>
          </p:cNvSpPr>
          <p:nvPr>
            <p:ph type="body" sz="quarter" idx="15"/>
          </p:nvPr>
        </p:nvSpPr>
        <p:spPr>
          <a:xfrm>
            <a:off x="2971013" y="3097188"/>
            <a:ext cx="1652587" cy="435600"/>
          </a:xfrm>
        </p:spPr>
        <p:txBody>
          <a:bodyPr rtlCol="0"/>
          <a:lstStyle/>
          <a:p>
            <a:r>
              <a:rPr lang="fr-FR" sz="1400" dirty="0"/>
              <a:t>Types D’analyses</a:t>
            </a:r>
          </a:p>
        </p:txBody>
      </p:sp>
      <p:sp>
        <p:nvSpPr>
          <p:cNvPr id="8" name="Espace réservé du texte 7">
            <a:extLst>
              <a:ext uri="{FF2B5EF4-FFF2-40B4-BE49-F238E27FC236}">
                <a16:creationId xmlns:a16="http://schemas.microsoft.com/office/drawing/2014/main" id="{AA5735F7-BDC6-4ACD-B0DE-4AB63D30BA52}"/>
              </a:ext>
            </a:extLst>
          </p:cNvPr>
          <p:cNvSpPr>
            <a:spLocks noGrp="1"/>
          </p:cNvSpPr>
          <p:nvPr>
            <p:ph type="body" sz="quarter" idx="16"/>
          </p:nvPr>
        </p:nvSpPr>
        <p:spPr>
          <a:xfrm>
            <a:off x="2970799" y="3695377"/>
            <a:ext cx="1652801" cy="846137"/>
          </a:xfrm>
        </p:spPr>
        <p:txBody>
          <a:bodyPr rtlCol="0"/>
          <a:lstStyle/>
          <a:p>
            <a:pPr rtl="0"/>
            <a:r>
              <a:rPr lang="fr-FR" sz="1500" dirty="0"/>
              <a:t>*******************</a:t>
            </a:r>
          </a:p>
        </p:txBody>
      </p:sp>
      <p:sp>
        <p:nvSpPr>
          <p:cNvPr id="9" name="Espace réservé du texte 8">
            <a:extLst>
              <a:ext uri="{FF2B5EF4-FFF2-40B4-BE49-F238E27FC236}">
                <a16:creationId xmlns:a16="http://schemas.microsoft.com/office/drawing/2014/main" id="{F405F6BC-5682-4AA1-9F61-DDF021E685B0}"/>
              </a:ext>
            </a:extLst>
          </p:cNvPr>
          <p:cNvSpPr>
            <a:spLocks noGrp="1"/>
          </p:cNvSpPr>
          <p:nvPr>
            <p:ph type="body" sz="quarter" idx="17"/>
          </p:nvPr>
        </p:nvSpPr>
        <p:spPr>
          <a:xfrm>
            <a:off x="5269705" y="3132643"/>
            <a:ext cx="1652587" cy="435600"/>
          </a:xfrm>
        </p:spPr>
        <p:txBody>
          <a:bodyPr rtlCol="0"/>
          <a:lstStyle/>
          <a:p>
            <a:pPr rtl="0"/>
            <a:r>
              <a:rPr lang="fr-FR" sz="1400" dirty="0"/>
              <a:t>Les Processus dans l’analyse de données</a:t>
            </a:r>
          </a:p>
        </p:txBody>
      </p:sp>
      <p:sp>
        <p:nvSpPr>
          <p:cNvPr id="10" name="Espace réservé du texte 9">
            <a:extLst>
              <a:ext uri="{FF2B5EF4-FFF2-40B4-BE49-F238E27FC236}">
                <a16:creationId xmlns:a16="http://schemas.microsoft.com/office/drawing/2014/main" id="{37BC20BC-85E6-48CD-B755-5D4149953C3B}"/>
              </a:ext>
            </a:extLst>
          </p:cNvPr>
          <p:cNvSpPr>
            <a:spLocks noGrp="1"/>
          </p:cNvSpPr>
          <p:nvPr>
            <p:ph type="body" sz="quarter" idx="18"/>
          </p:nvPr>
        </p:nvSpPr>
        <p:spPr>
          <a:xfrm>
            <a:off x="5269600" y="3695377"/>
            <a:ext cx="1652801" cy="846137"/>
          </a:xfrm>
        </p:spPr>
        <p:txBody>
          <a:bodyPr rtlCol="0"/>
          <a:lstStyle/>
          <a:p>
            <a:pPr rtl="0"/>
            <a:r>
              <a:rPr lang="fr-FR" sz="1500" dirty="0"/>
              <a:t>*******************</a:t>
            </a:r>
          </a:p>
        </p:txBody>
      </p:sp>
      <p:sp>
        <p:nvSpPr>
          <p:cNvPr id="11" name="Espace réservé du texte 10">
            <a:extLst>
              <a:ext uri="{FF2B5EF4-FFF2-40B4-BE49-F238E27FC236}">
                <a16:creationId xmlns:a16="http://schemas.microsoft.com/office/drawing/2014/main" id="{DDFBC7A3-AAE6-4502-9D44-F253ED1E8F97}"/>
              </a:ext>
            </a:extLst>
          </p:cNvPr>
          <p:cNvSpPr>
            <a:spLocks noGrp="1"/>
          </p:cNvSpPr>
          <p:nvPr>
            <p:ph type="body" sz="quarter" idx="19"/>
          </p:nvPr>
        </p:nvSpPr>
        <p:spPr>
          <a:xfrm>
            <a:off x="7544612" y="3199624"/>
            <a:ext cx="1652587" cy="482694"/>
          </a:xfrm>
        </p:spPr>
        <p:txBody>
          <a:bodyPr rtlCol="0"/>
          <a:lstStyle/>
          <a:p>
            <a:r>
              <a:rPr lang="fr-FR" sz="1400" dirty="0"/>
              <a:t>Présentation de la solution D’analyse Big Data</a:t>
            </a:r>
          </a:p>
        </p:txBody>
      </p:sp>
      <p:sp>
        <p:nvSpPr>
          <p:cNvPr id="12" name="Espace réservé du texte 11">
            <a:extLst>
              <a:ext uri="{FF2B5EF4-FFF2-40B4-BE49-F238E27FC236}">
                <a16:creationId xmlns:a16="http://schemas.microsoft.com/office/drawing/2014/main" id="{DC6EAD81-841A-483E-9B44-512A1470E471}"/>
              </a:ext>
            </a:extLst>
          </p:cNvPr>
          <p:cNvSpPr>
            <a:spLocks noGrp="1"/>
          </p:cNvSpPr>
          <p:nvPr>
            <p:ph type="body" sz="quarter" idx="20"/>
          </p:nvPr>
        </p:nvSpPr>
        <p:spPr>
          <a:xfrm>
            <a:off x="7380523" y="3732035"/>
            <a:ext cx="1999889" cy="846137"/>
          </a:xfrm>
        </p:spPr>
        <p:txBody>
          <a:bodyPr rtlCol="0"/>
          <a:lstStyle/>
          <a:p>
            <a:pPr rtl="0"/>
            <a:r>
              <a:rPr lang="fr-FR" sz="1500" dirty="0"/>
              <a:t>*******************</a:t>
            </a:r>
          </a:p>
        </p:txBody>
      </p:sp>
      <p:sp>
        <p:nvSpPr>
          <p:cNvPr id="13" name="Espace réservé du texte 12">
            <a:extLst>
              <a:ext uri="{FF2B5EF4-FFF2-40B4-BE49-F238E27FC236}">
                <a16:creationId xmlns:a16="http://schemas.microsoft.com/office/drawing/2014/main" id="{E10C0A43-6ED0-45F1-9DF9-5F2F32278B15}"/>
              </a:ext>
            </a:extLst>
          </p:cNvPr>
          <p:cNvSpPr>
            <a:spLocks noGrp="1"/>
          </p:cNvSpPr>
          <p:nvPr>
            <p:ph type="body" sz="quarter" idx="21"/>
          </p:nvPr>
        </p:nvSpPr>
        <p:spPr>
          <a:xfrm>
            <a:off x="9729926" y="3097188"/>
            <a:ext cx="1754073" cy="435600"/>
          </a:xfrm>
        </p:spPr>
        <p:txBody>
          <a:bodyPr rtlCol="0"/>
          <a:lstStyle/>
          <a:p>
            <a:endParaRPr lang="fr-FR" sz="1400" dirty="0"/>
          </a:p>
          <a:p>
            <a:r>
              <a:rPr lang="fr-FR" sz="1400" dirty="0"/>
              <a:t>Implémentation</a:t>
            </a:r>
          </a:p>
          <a:p>
            <a:pPr rtl="0"/>
            <a:r>
              <a:rPr lang="fr-FR" sz="1400" dirty="0"/>
              <a:t>De la solution</a:t>
            </a:r>
          </a:p>
        </p:txBody>
      </p:sp>
      <p:sp>
        <p:nvSpPr>
          <p:cNvPr id="14" name="Espace réservé du texte 13">
            <a:extLst>
              <a:ext uri="{FF2B5EF4-FFF2-40B4-BE49-F238E27FC236}">
                <a16:creationId xmlns:a16="http://schemas.microsoft.com/office/drawing/2014/main" id="{978028AA-13B5-4B26-947A-231084A75CD1}"/>
              </a:ext>
            </a:extLst>
          </p:cNvPr>
          <p:cNvSpPr>
            <a:spLocks noGrp="1"/>
          </p:cNvSpPr>
          <p:nvPr>
            <p:ph type="body" sz="quarter" idx="22"/>
          </p:nvPr>
        </p:nvSpPr>
        <p:spPr>
          <a:xfrm>
            <a:off x="9657654" y="3695377"/>
            <a:ext cx="1999889" cy="846137"/>
          </a:xfrm>
        </p:spPr>
        <p:txBody>
          <a:bodyPr rtlCol="0"/>
          <a:lstStyle/>
          <a:p>
            <a:pPr rtl="0"/>
            <a:r>
              <a:rPr lang="fr-FR" sz="1500" dirty="0"/>
              <a:t>*******************</a:t>
            </a:r>
          </a:p>
        </p:txBody>
      </p:sp>
      <p:sp>
        <p:nvSpPr>
          <p:cNvPr id="15" name="Sous-titre 14">
            <a:extLst>
              <a:ext uri="{FF2B5EF4-FFF2-40B4-BE49-F238E27FC236}">
                <a16:creationId xmlns:a16="http://schemas.microsoft.com/office/drawing/2014/main" id="{65657426-6073-47AB-BB7D-5ED2CAFD6BF2}"/>
              </a:ext>
            </a:extLst>
          </p:cNvPr>
          <p:cNvSpPr>
            <a:spLocks noGrp="1"/>
          </p:cNvSpPr>
          <p:nvPr>
            <p:ph type="subTitle" idx="1"/>
          </p:nvPr>
        </p:nvSpPr>
        <p:spPr>
          <a:xfrm>
            <a:off x="5101000" y="5137535"/>
            <a:ext cx="1990001" cy="620016"/>
          </a:xfrm>
        </p:spPr>
        <p:txBody>
          <a:bodyPr rtlCol="0"/>
          <a:lstStyle/>
          <a:p>
            <a:pPr rtl="0"/>
            <a:r>
              <a:rPr lang="fr-FR" dirty="0"/>
              <a:t>KEY POINTS</a:t>
            </a:r>
          </a:p>
        </p:txBody>
      </p:sp>
      <p:pic>
        <p:nvPicPr>
          <p:cNvPr id="46" name="Espace réservé d’image 45" descr="Équipe">
            <a:extLst>
              <a:ext uri="{FF2B5EF4-FFF2-40B4-BE49-F238E27FC236}">
                <a16:creationId xmlns:a16="http://schemas.microsoft.com/office/drawing/2014/main" id="{09833D49-61B1-40F0-A9D1-6D1D4B8701A1}"/>
              </a:ext>
            </a:extLst>
          </p:cNvPr>
          <p:cNvPicPr>
            <a:picLocks noGrp="1" noChangeAspect="1"/>
          </p:cNvPicPr>
          <p:nvPr>
            <p:ph type="pic" sz="quarter" idx="23"/>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1318326" y="2437246"/>
            <a:ext cx="384361" cy="384361"/>
          </a:xfrm>
        </p:spPr>
      </p:pic>
      <p:pic>
        <p:nvPicPr>
          <p:cNvPr id="49" name="Espace réservé d’image 48" descr="Médicament">
            <a:extLst>
              <a:ext uri="{FF2B5EF4-FFF2-40B4-BE49-F238E27FC236}">
                <a16:creationId xmlns:a16="http://schemas.microsoft.com/office/drawing/2014/main" id="{A17A8866-025F-45F8-9C1A-8DF0ACE8F3F7}"/>
              </a:ext>
            </a:extLst>
          </p:cNvPr>
          <p:cNvPicPr>
            <a:picLocks noGrp="1" noChangeAspect="1"/>
          </p:cNvPicPr>
          <p:nvPr>
            <p:ph type="pic" sz="quarter" idx="24"/>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p:blipFill>
        <p:spPr>
          <a:xfrm>
            <a:off x="3605126" y="2437246"/>
            <a:ext cx="384361" cy="384361"/>
          </a:xfrm>
        </p:spPr>
      </p:pic>
      <p:pic>
        <p:nvPicPr>
          <p:cNvPr id="53" name="Espace réservé d’image 52" descr="Portefeuille">
            <a:extLst>
              <a:ext uri="{FF2B5EF4-FFF2-40B4-BE49-F238E27FC236}">
                <a16:creationId xmlns:a16="http://schemas.microsoft.com/office/drawing/2014/main" id="{560A3C83-28A8-4054-B787-033808650715}"/>
              </a:ext>
            </a:extLst>
          </p:cNvPr>
          <p:cNvPicPr>
            <a:picLocks noGrp="1" noChangeAspect="1"/>
          </p:cNvPicPr>
          <p:nvPr>
            <p:ph type="pic" sz="quarter" idx="25"/>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a:xfrm>
            <a:off x="5903820" y="2437246"/>
            <a:ext cx="384361" cy="384361"/>
          </a:xfrm>
        </p:spPr>
      </p:pic>
      <p:pic>
        <p:nvPicPr>
          <p:cNvPr id="56" name="Espace réservé d’image 55" descr="Stéthoscope">
            <a:extLst>
              <a:ext uri="{FF2B5EF4-FFF2-40B4-BE49-F238E27FC236}">
                <a16:creationId xmlns:a16="http://schemas.microsoft.com/office/drawing/2014/main" id="{5CABC6B7-0A04-4890-B978-4D4F54B3CDC3}"/>
              </a:ext>
            </a:extLst>
          </p:cNvPr>
          <p:cNvPicPr>
            <a:picLocks noGrp="1" noChangeAspect="1"/>
          </p:cNvPicPr>
          <p:nvPr>
            <p:ph type="pic" sz="quarter" idx="26"/>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a:fillRect/>
          </a:stretch>
        </p:blipFill>
        <p:spPr>
          <a:xfrm>
            <a:off x="8178726" y="2437246"/>
            <a:ext cx="384361" cy="384361"/>
          </a:xfrm>
        </p:spPr>
      </p:pic>
      <p:pic>
        <p:nvPicPr>
          <p:cNvPr id="60" name="Espace réservé d’image 59" descr="Tendance haussière">
            <a:extLst>
              <a:ext uri="{FF2B5EF4-FFF2-40B4-BE49-F238E27FC236}">
                <a16:creationId xmlns:a16="http://schemas.microsoft.com/office/drawing/2014/main" id="{8C1A4036-A328-4600-8C42-B65922A2C149}"/>
              </a:ext>
            </a:extLst>
          </p:cNvPr>
          <p:cNvPicPr>
            <a:picLocks noGrp="1" noChangeAspect="1"/>
          </p:cNvPicPr>
          <p:nvPr>
            <p:ph type="pic" sz="quarter" idx="27"/>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a:stretch>
            <a:fillRect/>
          </a:stretch>
        </p:blipFill>
        <p:spPr>
          <a:xfrm>
            <a:off x="10465525" y="2437246"/>
            <a:ext cx="384361" cy="384361"/>
          </a:xfrm>
        </p:spPr>
      </p:pic>
      <p:sp>
        <p:nvSpPr>
          <p:cNvPr id="19" name="objet 7" descr="Rectangle beige">
            <a:extLst>
              <a:ext uri="{FF2B5EF4-FFF2-40B4-BE49-F238E27FC236}">
                <a16:creationId xmlns:a16="http://schemas.microsoft.com/office/drawing/2014/main" id="{9B6BE182-7444-49DA-B6FA-215DD68D50CA}"/>
              </a:ext>
            </a:extLst>
          </p:cNvPr>
          <p:cNvSpPr/>
          <p:nvPr/>
        </p:nvSpPr>
        <p:spPr bwMode="white">
          <a:xfrm flipV="1">
            <a:off x="722099" y="1277068"/>
            <a:ext cx="48976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cxnSp>
        <p:nvCxnSpPr>
          <p:cNvPr id="54" name="Connecteur droit 53">
            <a:extLst>
              <a:ext uri="{FF2B5EF4-FFF2-40B4-BE49-F238E27FC236}">
                <a16:creationId xmlns:a16="http://schemas.microsoft.com/office/drawing/2014/main" id="{CC6D3F76-4C60-4559-AE48-60D6FBDC4B83}"/>
              </a:ext>
              <a:ext uri="{C183D7F6-B498-43B3-948B-1728B52AA6E4}">
                <adec:decorative xmlns:adec="http://schemas.microsoft.com/office/drawing/2017/decorative" val="1"/>
              </a:ext>
            </a:extLst>
          </p:cNvPr>
          <p:cNvCxnSpPr>
            <a:cxnSpLocks/>
          </p:cNvCxnSpPr>
          <p:nvPr/>
        </p:nvCxnSpPr>
        <p:spPr>
          <a:xfrm flipV="1">
            <a:off x="37591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3CA93ACF-485A-4938-9815-8D5DFE3128D2}"/>
              </a:ext>
              <a:ext uri="{C183D7F6-B498-43B3-948B-1728B52AA6E4}">
                <adec:decorative xmlns:adec="http://schemas.microsoft.com/office/drawing/2017/decorative" val="1"/>
              </a:ext>
            </a:extLst>
          </p:cNvPr>
          <p:cNvCxnSpPr>
            <a:cxnSpLocks/>
          </p:cNvCxnSpPr>
          <p:nvPr/>
        </p:nvCxnSpPr>
        <p:spPr>
          <a:xfrm flipV="1">
            <a:off x="6096000" y="4527746"/>
            <a:ext cx="1"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48070A33-7382-44AE-AC77-685B09986FA1}"/>
              </a:ext>
              <a:ext uri="{C183D7F6-B498-43B3-948B-1728B52AA6E4}">
                <adec:decorative xmlns:adec="http://schemas.microsoft.com/office/drawing/2017/decorative" val="1"/>
              </a:ext>
            </a:extLst>
          </p:cNvPr>
          <p:cNvCxnSpPr>
            <a:cxnSpLocks/>
          </p:cNvCxnSpPr>
          <p:nvPr/>
        </p:nvCxnSpPr>
        <p:spPr>
          <a:xfrm flipV="1">
            <a:off x="83327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79784603-2F8F-493A-894B-9ECFC35876FE}"/>
              </a:ext>
              <a:ext uri="{C183D7F6-B498-43B3-948B-1728B52AA6E4}">
                <adec:decorative xmlns:adec="http://schemas.microsoft.com/office/drawing/2017/decorative" val="1"/>
              </a:ext>
            </a:extLst>
          </p:cNvPr>
          <p:cNvSpPr/>
          <p:nvPr/>
        </p:nvSpPr>
        <p:spPr>
          <a:xfrm>
            <a:off x="5281478" y="5747713"/>
            <a:ext cx="162904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cxnSp>
        <p:nvCxnSpPr>
          <p:cNvPr id="62" name="Connecteur : Coude 61">
            <a:extLst>
              <a:ext uri="{FF2B5EF4-FFF2-40B4-BE49-F238E27FC236}">
                <a16:creationId xmlns:a16="http://schemas.microsoft.com/office/drawing/2014/main" id="{9A6C85E8-3D95-45FE-A577-C08E6E920D70}"/>
              </a:ext>
              <a:ext uri="{C183D7F6-B498-43B3-948B-1728B52AA6E4}">
                <adec:decorative xmlns:adec="http://schemas.microsoft.com/office/drawing/2017/decorative" val="1"/>
              </a:ext>
            </a:extLst>
          </p:cNvPr>
          <p:cNvCxnSpPr>
            <a:cxnSpLocks/>
            <a:stCxn id="6" idx="2"/>
            <a:endCxn id="15" idx="0"/>
          </p:cNvCxnSpPr>
          <p:nvPr/>
        </p:nvCxnSpPr>
        <p:spPr>
          <a:xfrm rot="16200000" flipH="1">
            <a:off x="3505749" y="2547282"/>
            <a:ext cx="596021" cy="4584483"/>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eur : Coude 69">
            <a:extLst>
              <a:ext uri="{FF2B5EF4-FFF2-40B4-BE49-F238E27FC236}">
                <a16:creationId xmlns:a16="http://schemas.microsoft.com/office/drawing/2014/main" id="{F1BB5F7E-073B-4BF0-8FA1-F724BA8DB3D0}"/>
              </a:ext>
              <a:ext uri="{C183D7F6-B498-43B3-948B-1728B52AA6E4}">
                <adec:decorative xmlns:adec="http://schemas.microsoft.com/office/drawing/2017/decorative" val="1"/>
              </a:ext>
            </a:extLst>
          </p:cNvPr>
          <p:cNvCxnSpPr>
            <a:cxnSpLocks/>
            <a:stCxn id="14" idx="2"/>
            <a:endCxn id="15" idx="0"/>
          </p:cNvCxnSpPr>
          <p:nvPr/>
        </p:nvCxnSpPr>
        <p:spPr>
          <a:xfrm rot="5400000">
            <a:off x="8078790" y="2558725"/>
            <a:ext cx="596021" cy="4561598"/>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0" name="Groupe 29">
            <a:extLst>
              <a:ext uri="{FF2B5EF4-FFF2-40B4-BE49-F238E27FC236}">
                <a16:creationId xmlns:a16="http://schemas.microsoft.com/office/drawing/2014/main" id="{E2935599-B9F0-4312-864E-F6E3EF1AAC8E}"/>
              </a:ext>
              <a:ext uri="{C183D7F6-B498-43B3-948B-1728B52AA6E4}">
                <adec:decorative xmlns:adec="http://schemas.microsoft.com/office/drawing/2017/decorative" val="1"/>
              </a:ext>
            </a:extLst>
          </p:cNvPr>
          <p:cNvGrpSpPr>
            <a:grpSpLocks noChangeAspect="1"/>
          </p:cNvGrpSpPr>
          <p:nvPr/>
        </p:nvGrpSpPr>
        <p:grpSpPr>
          <a:xfrm>
            <a:off x="3380336" y="2224959"/>
            <a:ext cx="896287" cy="745643"/>
            <a:chOff x="1824638" y="1733550"/>
            <a:chExt cx="1192959" cy="992451"/>
          </a:xfrm>
        </p:grpSpPr>
        <p:sp>
          <p:nvSpPr>
            <p:cNvPr id="31" name="Rectangle 30">
              <a:extLst>
                <a:ext uri="{FF2B5EF4-FFF2-40B4-BE49-F238E27FC236}">
                  <a16:creationId xmlns:a16="http://schemas.microsoft.com/office/drawing/2014/main" id="{56718F85-02C5-4814-847B-818C8CCE6A2E}"/>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2" name="Rectangle 31">
              <a:extLst>
                <a:ext uri="{FF2B5EF4-FFF2-40B4-BE49-F238E27FC236}">
                  <a16:creationId xmlns:a16="http://schemas.microsoft.com/office/drawing/2014/main" id="{6B5C2063-3BBD-48BC-BDD6-D5E9563B1934}"/>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grpSp>
        <p:nvGrpSpPr>
          <p:cNvPr id="33" name="Groupe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grpSp>
        <p:nvGrpSpPr>
          <p:cNvPr id="36" name="Groupe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grpSp>
        <p:nvGrpSpPr>
          <p:cNvPr id="2" name="Groupe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grpSp>
        <p:nvGrpSpPr>
          <p:cNvPr id="47" name="Groupe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sp>
        <p:nvSpPr>
          <p:cNvPr id="16" name="Rectangle : coins arrondis 15">
            <a:extLst>
              <a:ext uri="{FF2B5EF4-FFF2-40B4-BE49-F238E27FC236}">
                <a16:creationId xmlns:a16="http://schemas.microsoft.com/office/drawing/2014/main" id="{15F96486-AD6D-5CD7-EF58-024BC5FF2F57}"/>
              </a:ext>
            </a:extLst>
          </p:cNvPr>
          <p:cNvSpPr/>
          <p:nvPr/>
        </p:nvSpPr>
        <p:spPr>
          <a:xfrm>
            <a:off x="344068" y="1424340"/>
            <a:ext cx="11460765" cy="4566885"/>
          </a:xfrm>
          <a:prstGeom prst="roundRect">
            <a:avLst/>
          </a:prstGeom>
          <a:noFill/>
          <a:ln>
            <a:solidFill>
              <a:srgbClr val="273663"/>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97691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517078" y="471062"/>
            <a:ext cx="3261156" cy="442148"/>
          </a:xfrm>
        </p:spPr>
        <p:txBody>
          <a:bodyPr rtlCol="0"/>
          <a:lstStyle/>
          <a:p>
            <a:pPr algn="ctr"/>
            <a:r>
              <a:rPr lang="fr-FR" dirty="0">
                <a:latin typeface="+mn-lt"/>
              </a:rPr>
              <a:t>INTRODUCTION</a:t>
            </a:r>
            <a:endParaRPr lang="fr-FR" sz="3200" dirty="0">
              <a:latin typeface="+mn-lt"/>
            </a:endParaRP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4</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722099" y="585926"/>
            <a:ext cx="2864480" cy="327284"/>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4" name="ZoneTexte 3">
            <a:extLst>
              <a:ext uri="{FF2B5EF4-FFF2-40B4-BE49-F238E27FC236}">
                <a16:creationId xmlns:a16="http://schemas.microsoft.com/office/drawing/2014/main" id="{D9AC30DE-614E-334C-45D2-4AFE8D9178FD}"/>
              </a:ext>
            </a:extLst>
          </p:cNvPr>
          <p:cNvSpPr txBox="1"/>
          <p:nvPr/>
        </p:nvSpPr>
        <p:spPr>
          <a:xfrm>
            <a:off x="344069" y="2376020"/>
            <a:ext cx="4227225" cy="1938992"/>
          </a:xfrm>
          <a:prstGeom prst="rect">
            <a:avLst/>
          </a:prstGeom>
          <a:noFill/>
        </p:spPr>
        <p:txBody>
          <a:bodyPr wrap="square" rtlCol="0">
            <a:spAutoFit/>
          </a:bodyPr>
          <a:lstStyle/>
          <a:p>
            <a:pPr marL="571500" indent="-571500">
              <a:buFont typeface="Wingdings" panose="05000000000000000000" pitchFamily="2" charset="2"/>
              <a:buChar char="§"/>
            </a:pPr>
            <a:r>
              <a:rPr lang="fr-FR" sz="6000" dirty="0"/>
              <a:t>Data </a:t>
            </a:r>
          </a:p>
          <a:p>
            <a:r>
              <a:rPr lang="fr-FR" sz="6000" dirty="0"/>
              <a:t>Analytics</a:t>
            </a:r>
          </a:p>
        </p:txBody>
      </p:sp>
      <p:cxnSp>
        <p:nvCxnSpPr>
          <p:cNvPr id="6" name="Connecteur droit 5">
            <a:extLst>
              <a:ext uri="{FF2B5EF4-FFF2-40B4-BE49-F238E27FC236}">
                <a16:creationId xmlns:a16="http://schemas.microsoft.com/office/drawing/2014/main" id="{3B7CB752-B5D0-A6C0-D0E8-15955EEE647A}"/>
              </a:ext>
            </a:extLst>
          </p:cNvPr>
          <p:cNvCxnSpPr>
            <a:cxnSpLocks/>
          </p:cNvCxnSpPr>
          <p:nvPr/>
        </p:nvCxnSpPr>
        <p:spPr>
          <a:xfrm>
            <a:off x="4571294" y="2150445"/>
            <a:ext cx="0" cy="3437710"/>
          </a:xfrm>
          <a:prstGeom prst="line">
            <a:avLst/>
          </a:prstGeom>
        </p:spPr>
        <p:style>
          <a:lnRef idx="3">
            <a:schemeClr val="dk1"/>
          </a:lnRef>
          <a:fillRef idx="0">
            <a:schemeClr val="dk1"/>
          </a:fillRef>
          <a:effectRef idx="2">
            <a:schemeClr val="dk1"/>
          </a:effectRef>
          <a:fontRef idx="minor">
            <a:schemeClr val="tx1"/>
          </a:fontRef>
        </p:style>
      </p:cxnSp>
      <p:sp>
        <p:nvSpPr>
          <p:cNvPr id="7" name="ZoneTexte 6">
            <a:extLst>
              <a:ext uri="{FF2B5EF4-FFF2-40B4-BE49-F238E27FC236}">
                <a16:creationId xmlns:a16="http://schemas.microsoft.com/office/drawing/2014/main" id="{DCF5660A-71EB-B299-4F30-543E3E2933C2}"/>
              </a:ext>
            </a:extLst>
          </p:cNvPr>
          <p:cNvSpPr txBox="1"/>
          <p:nvPr/>
        </p:nvSpPr>
        <p:spPr>
          <a:xfrm>
            <a:off x="4723115" y="2376020"/>
            <a:ext cx="7063222" cy="3108543"/>
          </a:xfrm>
          <a:prstGeom prst="rect">
            <a:avLst/>
          </a:prstGeom>
          <a:noFill/>
        </p:spPr>
        <p:txBody>
          <a:bodyPr wrap="square" rtlCol="0">
            <a:spAutoFit/>
          </a:bodyPr>
          <a:lstStyle/>
          <a:p>
            <a:pPr marL="342900" indent="-342900" algn="just">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Processus de découverte, d'interprétation et de communication de modèles significatifs de données</a:t>
            </a:r>
          </a:p>
          <a:p>
            <a:endParaRPr lang="fr-FR"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Permet aux organisations de gagner en visibilité et d'obtenir une compréhension plus approfondie de leurs processus et services</a:t>
            </a:r>
          </a:p>
        </p:txBody>
      </p:sp>
      <p:pic>
        <p:nvPicPr>
          <p:cNvPr id="8" name="Picture 2" descr="Employee Data Analysis">
            <a:extLst>
              <a:ext uri="{FF2B5EF4-FFF2-40B4-BE49-F238E27FC236}">
                <a16:creationId xmlns:a16="http://schemas.microsoft.com/office/drawing/2014/main" id="{ECC9BDE1-ED13-5673-B97C-C57A0BC3A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7010" y="179029"/>
            <a:ext cx="2240131" cy="188433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s Data Analysis A New Field? (Part 1). By Mukaila Ayuba | National Insight  News">
            <a:extLst>
              <a:ext uri="{FF2B5EF4-FFF2-40B4-BE49-F238E27FC236}">
                <a16:creationId xmlns:a16="http://schemas.microsoft.com/office/drawing/2014/main" id="{354086C9-9234-1343-4EC0-2D222E840C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259" y="4817015"/>
            <a:ext cx="2847975" cy="169522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 coins arrondis 1">
            <a:extLst>
              <a:ext uri="{FF2B5EF4-FFF2-40B4-BE49-F238E27FC236}">
                <a16:creationId xmlns:a16="http://schemas.microsoft.com/office/drawing/2014/main" id="{BCA7B74C-EE78-E72F-2D81-FC47FEB18A93}"/>
              </a:ext>
            </a:extLst>
          </p:cNvPr>
          <p:cNvSpPr/>
          <p:nvPr/>
        </p:nvSpPr>
        <p:spPr>
          <a:xfrm>
            <a:off x="246410" y="2005365"/>
            <a:ext cx="4075395" cy="4566885"/>
          </a:xfrm>
          <a:prstGeom prst="roundRect">
            <a:avLst/>
          </a:prstGeom>
          <a:noFill/>
          <a:ln>
            <a:solidFill>
              <a:srgbClr val="273663"/>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73156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312322" y="595115"/>
            <a:ext cx="3964604" cy="924062"/>
          </a:xfrm>
        </p:spPr>
        <p:txBody>
          <a:bodyPr rtlCol="0"/>
          <a:lstStyle/>
          <a:p>
            <a:pPr algn="ctr"/>
            <a:r>
              <a:rPr lang="fr-FR" dirty="0">
                <a:latin typeface="+mn-lt"/>
              </a:rPr>
              <a:t>Types d'Analytics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5</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722099" y="1011427"/>
            <a:ext cx="31450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pic>
        <p:nvPicPr>
          <p:cNvPr id="4" name="Image 3">
            <a:extLst>
              <a:ext uri="{FF2B5EF4-FFF2-40B4-BE49-F238E27FC236}">
                <a16:creationId xmlns:a16="http://schemas.microsoft.com/office/drawing/2014/main" id="{9DAA19CE-6992-19A2-FBA9-A965B618591A}"/>
              </a:ext>
            </a:extLst>
          </p:cNvPr>
          <p:cNvPicPr>
            <a:picLocks noChangeAspect="1"/>
          </p:cNvPicPr>
          <p:nvPr/>
        </p:nvPicPr>
        <p:blipFill>
          <a:blip r:embed="rId3"/>
          <a:stretch>
            <a:fillRect/>
          </a:stretch>
        </p:blipFill>
        <p:spPr>
          <a:xfrm>
            <a:off x="6847840" y="160229"/>
            <a:ext cx="5262880" cy="2044393"/>
          </a:xfrm>
          <a:prstGeom prst="rect">
            <a:avLst/>
          </a:prstGeom>
        </p:spPr>
      </p:pic>
      <p:sp>
        <p:nvSpPr>
          <p:cNvPr id="7" name="ZoneTexte 6">
            <a:extLst>
              <a:ext uri="{FF2B5EF4-FFF2-40B4-BE49-F238E27FC236}">
                <a16:creationId xmlns:a16="http://schemas.microsoft.com/office/drawing/2014/main" id="{3FA1832F-51D9-5AC6-EA22-EB7E9192A040}"/>
              </a:ext>
            </a:extLst>
          </p:cNvPr>
          <p:cNvSpPr txBox="1"/>
          <p:nvPr/>
        </p:nvSpPr>
        <p:spPr>
          <a:xfrm>
            <a:off x="640818" y="2468867"/>
            <a:ext cx="10707901" cy="1754326"/>
          </a:xfrm>
          <a:prstGeom prst="rect">
            <a:avLst/>
          </a:prstGeom>
          <a:noFill/>
        </p:spPr>
        <p:txBody>
          <a:bodyPr wrap="square">
            <a:spAutoFit/>
          </a:bodyPr>
          <a:lstStyle/>
          <a:p>
            <a:pPr algn="just"/>
            <a:r>
              <a:rPr lang="fr-FR" dirty="0">
                <a:latin typeface="Verdana" panose="020B0604030504040204" pitchFamily="34" charset="0"/>
                <a:ea typeface="Verdana" panose="020B0604030504040204" pitchFamily="34" charset="0"/>
              </a:rPr>
              <a:t>D'un point de vue technique, l'analyse des données peut être décrite comme le processus d'utilisation des données pour répondre à des questions, identifier des tendances et extraire des informations. Il existe de nombreux types d'analyse qui peuvent générer des informations pour stimuler l'innovation, améliorer l'efficacité et atténuer les risques.</a:t>
            </a:r>
          </a:p>
          <a:p>
            <a:pPr algn="just"/>
            <a:r>
              <a:rPr lang="fr-FR" dirty="0">
                <a:latin typeface="Verdana" panose="020B0604030504040204" pitchFamily="34" charset="0"/>
                <a:ea typeface="Verdana" panose="020B0604030504040204" pitchFamily="34" charset="0"/>
              </a:rPr>
              <a:t>Il existe quatre grands types d'analyse de données, chacun répondant à un type de question différent :</a:t>
            </a:r>
          </a:p>
        </p:txBody>
      </p:sp>
      <p:sp>
        <p:nvSpPr>
          <p:cNvPr id="12" name="ZoneTexte 11">
            <a:extLst>
              <a:ext uri="{FF2B5EF4-FFF2-40B4-BE49-F238E27FC236}">
                <a16:creationId xmlns:a16="http://schemas.microsoft.com/office/drawing/2014/main" id="{49B0440E-61D4-A1A6-BD69-35D797DE7883}"/>
              </a:ext>
            </a:extLst>
          </p:cNvPr>
          <p:cNvSpPr txBox="1"/>
          <p:nvPr/>
        </p:nvSpPr>
        <p:spPr>
          <a:xfrm>
            <a:off x="722099" y="4569568"/>
            <a:ext cx="10545341" cy="1200329"/>
          </a:xfrm>
          <a:prstGeom prst="rect">
            <a:avLst/>
          </a:prstGeom>
          <a:noFill/>
        </p:spPr>
        <p:txBody>
          <a:bodyPr wrap="square">
            <a:spAutoFit/>
          </a:bodyPr>
          <a:lstStyle/>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L'analyse descriptive </a:t>
            </a:r>
            <a:r>
              <a:rPr lang="fr-FR" dirty="0">
                <a:latin typeface="Verdana" panose="020B0604030504040204" pitchFamily="34" charset="0"/>
                <a:ea typeface="Verdana" panose="020B0604030504040204" pitchFamily="34" charset="0"/>
              </a:rPr>
              <a:t>: "Que s'est-il passé ? "   </a:t>
            </a: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L'analyse prédictive </a:t>
            </a:r>
            <a:r>
              <a:rPr lang="fr-FR" dirty="0">
                <a:latin typeface="Verdana" panose="020B0604030504040204" pitchFamily="34" charset="0"/>
                <a:ea typeface="Verdana" panose="020B0604030504040204" pitchFamily="34" charset="0"/>
              </a:rPr>
              <a:t>:  "Que pourrait-il se passer à l'avenir ?</a:t>
            </a: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L'analyse prescriptive </a:t>
            </a:r>
            <a:r>
              <a:rPr lang="fr-FR" dirty="0">
                <a:latin typeface="Verdana" panose="020B0604030504040204" pitchFamily="34" charset="0"/>
                <a:ea typeface="Verdana" panose="020B0604030504040204" pitchFamily="34" charset="0"/>
              </a:rPr>
              <a:t>: "Que faut-il faire ensuite ?</a:t>
            </a: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L'analyse diagnostique </a:t>
            </a:r>
            <a:r>
              <a:rPr lang="fr-FR" dirty="0">
                <a:latin typeface="Verdana" panose="020B0604030504040204" pitchFamily="34" charset="0"/>
                <a:ea typeface="Verdana" panose="020B0604030504040204" pitchFamily="34" charset="0"/>
              </a:rPr>
              <a:t>: "Pourquoi cela s'est-il produit ?"</a:t>
            </a:r>
          </a:p>
        </p:txBody>
      </p:sp>
    </p:spTree>
    <p:extLst>
      <p:ext uri="{BB962C8B-B14F-4D97-AF65-F5344CB8AC3E}">
        <p14:creationId xmlns:p14="http://schemas.microsoft.com/office/powerpoint/2010/main" val="199997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0" y="424155"/>
            <a:ext cx="7844852" cy="442148"/>
          </a:xfrm>
        </p:spPr>
        <p:txBody>
          <a:bodyPr rtlCol="0"/>
          <a:lstStyle/>
          <a:p>
            <a:pPr algn="ctr"/>
            <a:r>
              <a:rPr lang="fr-FR" dirty="0">
                <a:latin typeface="+mn-lt"/>
              </a:rPr>
              <a:t>processus d'analyse des données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6</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a:off x="216072" y="859225"/>
            <a:ext cx="685943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pic>
        <p:nvPicPr>
          <p:cNvPr id="13" name="Image 12">
            <a:extLst>
              <a:ext uri="{FF2B5EF4-FFF2-40B4-BE49-F238E27FC236}">
                <a16:creationId xmlns:a16="http://schemas.microsoft.com/office/drawing/2014/main" id="{44792BE6-E1E5-661F-3377-3EDFB5501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4852" y="645229"/>
            <a:ext cx="4274373" cy="3772146"/>
          </a:xfrm>
          <a:prstGeom prst="rect">
            <a:avLst/>
          </a:prstGeom>
        </p:spPr>
      </p:pic>
      <p:sp>
        <p:nvSpPr>
          <p:cNvPr id="16" name="ZoneTexte 15">
            <a:extLst>
              <a:ext uri="{FF2B5EF4-FFF2-40B4-BE49-F238E27FC236}">
                <a16:creationId xmlns:a16="http://schemas.microsoft.com/office/drawing/2014/main" id="{4CFB5AA6-EEE3-9133-6D9F-6CCD0B6BBC52}"/>
              </a:ext>
            </a:extLst>
          </p:cNvPr>
          <p:cNvSpPr txBox="1"/>
          <p:nvPr/>
        </p:nvSpPr>
        <p:spPr>
          <a:xfrm>
            <a:off x="255948" y="1185210"/>
            <a:ext cx="7332955" cy="3416320"/>
          </a:xfrm>
          <a:prstGeom prst="rect">
            <a:avLst/>
          </a:prstGeom>
          <a:noFill/>
        </p:spPr>
        <p:txBody>
          <a:bodyPr wrap="square">
            <a:spAutoFit/>
          </a:bodyPr>
          <a:lstStyle/>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Poser les questions </a:t>
            </a:r>
            <a:r>
              <a:rPr lang="fr-FR" dirty="0">
                <a:latin typeface="Verdana" panose="020B0604030504040204" pitchFamily="34" charset="0"/>
                <a:ea typeface="Verdana" panose="020B0604030504040204" pitchFamily="34" charset="0"/>
              </a:rPr>
              <a:t>: les questions auxquelles nous désirons répondent</a:t>
            </a:r>
          </a:p>
          <a:p>
            <a:pPr marL="285750" indent="-285750" algn="just">
              <a:buFont typeface="Wingdings" panose="05000000000000000000" pitchFamily="2" charset="2"/>
              <a:buChar char="v"/>
            </a:pPr>
            <a:endParaRPr lang="fr-FR" dirty="0">
              <a:latin typeface="Verdana" panose="020B0604030504040204" pitchFamily="34" charset="0"/>
              <a:ea typeface="Verdana" panose="020B0604030504040204" pitchFamily="34" charset="0"/>
            </a:endParaRP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Obtenir les données </a:t>
            </a:r>
            <a:r>
              <a:rPr lang="fr-FR" dirty="0">
                <a:latin typeface="Verdana" panose="020B0604030504040204" pitchFamily="34" charset="0"/>
                <a:ea typeface="Verdana" panose="020B0604030504040204" pitchFamily="34" charset="0"/>
              </a:rPr>
              <a:t>: localisation et obtention des données pertinentes pour la ou les questions,</a:t>
            </a:r>
          </a:p>
          <a:p>
            <a:pPr marL="285750" indent="-285750" algn="just">
              <a:buFont typeface="Wingdings" panose="05000000000000000000" pitchFamily="2" charset="2"/>
              <a:buChar char="v"/>
            </a:pPr>
            <a:endParaRPr lang="fr-FR" dirty="0">
              <a:latin typeface="Verdana" panose="020B0604030504040204" pitchFamily="34" charset="0"/>
              <a:ea typeface="Verdana" panose="020B0604030504040204" pitchFamily="34" charset="0"/>
            </a:endParaRP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Étudier les données : </a:t>
            </a:r>
            <a:r>
              <a:rPr lang="fr-FR" dirty="0">
                <a:latin typeface="Verdana" panose="020B0604030504040204" pitchFamily="34" charset="0"/>
                <a:ea typeface="Verdana" panose="020B0604030504040204" pitchFamily="34" charset="0"/>
              </a:rPr>
              <a:t>Cette étape consiste à déterminer si les données sont complètes et contiennent les informations pertinentes pour l'analyse.</a:t>
            </a:r>
          </a:p>
          <a:p>
            <a:pPr marL="285750" indent="-285750" algn="just">
              <a:buFont typeface="Wingdings" panose="05000000000000000000" pitchFamily="2" charset="2"/>
              <a:buChar char="v"/>
            </a:pPr>
            <a:endParaRPr lang="fr-FR" dirty="0">
              <a:latin typeface="Verdana" panose="020B0604030504040204" pitchFamily="34" charset="0"/>
              <a:ea typeface="Verdana" panose="020B0604030504040204" pitchFamily="34" charset="0"/>
            </a:endParaRP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Préparation des données </a:t>
            </a:r>
            <a:r>
              <a:rPr lang="fr-FR" dirty="0">
                <a:latin typeface="Verdana" panose="020B0604030504040204" pitchFamily="34" charset="0"/>
                <a:ea typeface="Verdana" panose="020B0604030504040204" pitchFamily="34" charset="0"/>
              </a:rPr>
              <a:t>: C’est le processus de nettoyage des données</a:t>
            </a:r>
          </a:p>
        </p:txBody>
      </p:sp>
      <p:sp>
        <p:nvSpPr>
          <p:cNvPr id="19" name="ZoneTexte 18">
            <a:extLst>
              <a:ext uri="{FF2B5EF4-FFF2-40B4-BE49-F238E27FC236}">
                <a16:creationId xmlns:a16="http://schemas.microsoft.com/office/drawing/2014/main" id="{62AF053F-38FC-9C51-E099-5A2C4AB5A22F}"/>
              </a:ext>
            </a:extLst>
          </p:cNvPr>
          <p:cNvSpPr txBox="1"/>
          <p:nvPr/>
        </p:nvSpPr>
        <p:spPr>
          <a:xfrm>
            <a:off x="255948" y="4659661"/>
            <a:ext cx="7844852" cy="2031325"/>
          </a:xfrm>
          <a:prstGeom prst="rect">
            <a:avLst/>
          </a:prstGeom>
          <a:noFill/>
        </p:spPr>
        <p:txBody>
          <a:bodyPr wrap="square">
            <a:spAutoFit/>
          </a:bodyPr>
          <a:lstStyle/>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Analyse des données </a:t>
            </a:r>
            <a:r>
              <a:rPr lang="fr-FR" dirty="0">
                <a:latin typeface="Verdana" panose="020B0604030504040204" pitchFamily="34" charset="0"/>
                <a:ea typeface="Verdana" panose="020B0604030504040204" pitchFamily="34" charset="0"/>
              </a:rPr>
              <a:t>:  consiste à identifier les modèles, les corrélations et les relations contenus dans une ou L'analyse repose souvent sur des techniques statistiques et des outils logiciels tels que des feuilles de calcul et des applications de visualisation.</a:t>
            </a:r>
          </a:p>
          <a:p>
            <a:pPr marL="285750" indent="-285750" algn="just">
              <a:buFont typeface="Wingdings" panose="05000000000000000000" pitchFamily="2" charset="2"/>
              <a:buChar char="v"/>
            </a:pPr>
            <a:endParaRPr lang="fr-FR" dirty="0">
              <a:latin typeface="Verdana" panose="020B0604030504040204" pitchFamily="34" charset="0"/>
              <a:ea typeface="Verdana" panose="020B0604030504040204" pitchFamily="34" charset="0"/>
            </a:endParaRPr>
          </a:p>
          <a:p>
            <a:pPr marL="285750" indent="-285750" algn="just">
              <a:buFont typeface="Wingdings" panose="05000000000000000000" pitchFamily="2" charset="2"/>
              <a:buChar char="v"/>
            </a:pPr>
            <a:r>
              <a:rPr lang="fr-FR" b="1" dirty="0">
                <a:latin typeface="Verdana" panose="020B0604030504040204" pitchFamily="34" charset="0"/>
                <a:ea typeface="Verdana" panose="020B0604030504040204" pitchFamily="34" charset="0"/>
              </a:rPr>
              <a:t>Présentation des résultats</a:t>
            </a:r>
          </a:p>
        </p:txBody>
      </p:sp>
    </p:spTree>
    <p:extLst>
      <p:ext uri="{BB962C8B-B14F-4D97-AF65-F5344CB8AC3E}">
        <p14:creationId xmlns:p14="http://schemas.microsoft.com/office/powerpoint/2010/main" val="2124616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7</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88979" y="3213804"/>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62A09961-440E-304F-74D8-58FB3C058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5951" y="958649"/>
            <a:ext cx="6115050" cy="4945178"/>
          </a:xfrm>
          <a:prstGeom prst="rect">
            <a:avLst/>
          </a:prstGeom>
        </p:spPr>
      </p:pic>
      <p:sp>
        <p:nvSpPr>
          <p:cNvPr id="10" name="Titre 2">
            <a:extLst>
              <a:ext uri="{FF2B5EF4-FFF2-40B4-BE49-F238E27FC236}">
                <a16:creationId xmlns:a16="http://schemas.microsoft.com/office/drawing/2014/main" id="{BC6062B0-1D75-4396-6819-DAF4D04C5B1D}"/>
              </a:ext>
            </a:extLst>
          </p:cNvPr>
          <p:cNvSpPr>
            <a:spLocks noGrp="1"/>
          </p:cNvSpPr>
          <p:nvPr>
            <p:ph type="title"/>
          </p:nvPr>
        </p:nvSpPr>
        <p:spPr>
          <a:xfrm>
            <a:off x="496115" y="2870722"/>
            <a:ext cx="3295265" cy="442148"/>
          </a:xfrm>
        </p:spPr>
        <p:txBody>
          <a:bodyPr rtlCol="0"/>
          <a:lstStyle/>
          <a:p>
            <a:pPr algn="ctr"/>
            <a:r>
              <a:rPr lang="fr-FR" dirty="0">
                <a:latin typeface="+mn-lt"/>
              </a:rPr>
              <a:t>Présentation de la solution</a:t>
            </a:r>
          </a:p>
        </p:txBody>
      </p:sp>
    </p:spTree>
    <p:extLst>
      <p:ext uri="{BB962C8B-B14F-4D97-AF65-F5344CB8AC3E}">
        <p14:creationId xmlns:p14="http://schemas.microsoft.com/office/powerpoint/2010/main" val="247870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8</a:t>
            </a:fld>
            <a:endParaRPr lang="fr-FR" sz="1000" dirty="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 coins arrondis 3">
            <a:extLst>
              <a:ext uri="{FF2B5EF4-FFF2-40B4-BE49-F238E27FC236}">
                <a16:creationId xmlns:a16="http://schemas.microsoft.com/office/drawing/2014/main" id="{1A650F33-BEE8-2509-64DB-28237334F8E7}"/>
              </a:ext>
            </a:extLst>
          </p:cNvPr>
          <p:cNvSpPr/>
          <p:nvPr/>
        </p:nvSpPr>
        <p:spPr>
          <a:xfrm>
            <a:off x="4225295" y="484328"/>
            <a:ext cx="4318398" cy="749877"/>
          </a:xfrm>
          <a:prstGeom prst="roundRect">
            <a:avLst/>
          </a:prstGeom>
          <a:solidFill>
            <a:srgbClr val="F7F7F7"/>
          </a:solidFill>
          <a:ln w="3810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3200" b="1" dirty="0">
                <a:solidFill>
                  <a:schemeClr val="bg2">
                    <a:lumMod val="75000"/>
                  </a:schemeClr>
                </a:solidFill>
                <a:latin typeface="Gill Sans MT (En-têtes)"/>
              </a:rPr>
              <a:t>Architecture</a:t>
            </a:r>
          </a:p>
        </p:txBody>
      </p:sp>
      <p:grpSp>
        <p:nvGrpSpPr>
          <p:cNvPr id="28" name="Groupe 27">
            <a:extLst>
              <a:ext uri="{FF2B5EF4-FFF2-40B4-BE49-F238E27FC236}">
                <a16:creationId xmlns:a16="http://schemas.microsoft.com/office/drawing/2014/main" id="{BEAAC364-C13F-280D-686A-5FD67B60B644}"/>
              </a:ext>
            </a:extLst>
          </p:cNvPr>
          <p:cNvGrpSpPr/>
          <p:nvPr/>
        </p:nvGrpSpPr>
        <p:grpSpPr>
          <a:xfrm>
            <a:off x="567969" y="1590866"/>
            <a:ext cx="10931706" cy="2779037"/>
            <a:chOff x="558593" y="2127453"/>
            <a:chExt cx="10931706" cy="2779037"/>
          </a:xfrm>
        </p:grpSpPr>
        <p:pic>
          <p:nvPicPr>
            <p:cNvPr id="26" name="Image 25">
              <a:extLst>
                <a:ext uri="{FF2B5EF4-FFF2-40B4-BE49-F238E27FC236}">
                  <a16:creationId xmlns:a16="http://schemas.microsoft.com/office/drawing/2014/main" id="{8AA2FC80-8AD8-CC4F-A5A4-18D65CF3EF5B}"/>
                </a:ext>
              </a:extLst>
            </p:cNvPr>
            <p:cNvPicPr>
              <a:picLocks noChangeAspect="1"/>
            </p:cNvPicPr>
            <p:nvPr/>
          </p:nvPicPr>
          <p:blipFill>
            <a:blip r:embed="rId3"/>
            <a:stretch>
              <a:fillRect/>
            </a:stretch>
          </p:blipFill>
          <p:spPr>
            <a:xfrm>
              <a:off x="9135610" y="2545498"/>
              <a:ext cx="1397473" cy="1530012"/>
            </a:xfrm>
            <a:prstGeom prst="rect">
              <a:avLst/>
            </a:prstGeom>
          </p:spPr>
        </p:pic>
        <p:grpSp>
          <p:nvGrpSpPr>
            <p:cNvPr id="25" name="Groupe 24">
              <a:extLst>
                <a:ext uri="{FF2B5EF4-FFF2-40B4-BE49-F238E27FC236}">
                  <a16:creationId xmlns:a16="http://schemas.microsoft.com/office/drawing/2014/main" id="{E82F81A5-D372-12C1-E5B3-7E5B227339E2}"/>
                </a:ext>
              </a:extLst>
            </p:cNvPr>
            <p:cNvGrpSpPr/>
            <p:nvPr/>
          </p:nvGrpSpPr>
          <p:grpSpPr>
            <a:xfrm>
              <a:off x="558593" y="2127453"/>
              <a:ext cx="10931706" cy="2779037"/>
              <a:chOff x="452061" y="1852245"/>
              <a:chExt cx="10931706" cy="2779037"/>
            </a:xfrm>
          </p:grpSpPr>
          <p:pic>
            <p:nvPicPr>
              <p:cNvPr id="12" name="Image 11">
                <a:extLst>
                  <a:ext uri="{FF2B5EF4-FFF2-40B4-BE49-F238E27FC236}">
                    <a16:creationId xmlns:a16="http://schemas.microsoft.com/office/drawing/2014/main" id="{4B1799DD-9448-CACD-FD8F-D4A5D4E0E49A}"/>
                  </a:ext>
                </a:extLst>
              </p:cNvPr>
              <p:cNvPicPr>
                <a:picLocks noChangeAspect="1"/>
              </p:cNvPicPr>
              <p:nvPr/>
            </p:nvPicPr>
            <p:blipFill>
              <a:blip r:embed="rId4"/>
              <a:stretch>
                <a:fillRect/>
              </a:stretch>
            </p:blipFill>
            <p:spPr>
              <a:xfrm>
                <a:off x="452061" y="2903064"/>
                <a:ext cx="1072358" cy="1110090"/>
              </a:xfrm>
              <a:prstGeom prst="rect">
                <a:avLst/>
              </a:prstGeom>
            </p:spPr>
          </p:pic>
          <p:grpSp>
            <p:nvGrpSpPr>
              <p:cNvPr id="6" name="Groupe 5">
                <a:extLst>
                  <a:ext uri="{FF2B5EF4-FFF2-40B4-BE49-F238E27FC236}">
                    <a16:creationId xmlns:a16="http://schemas.microsoft.com/office/drawing/2014/main" id="{2569EC9E-981A-5E45-4133-2C3601CFCE39}"/>
                  </a:ext>
                </a:extLst>
              </p:cNvPr>
              <p:cNvGrpSpPr/>
              <p:nvPr/>
            </p:nvGrpSpPr>
            <p:grpSpPr>
              <a:xfrm>
                <a:off x="461088" y="2505075"/>
                <a:ext cx="1271925" cy="1110090"/>
                <a:chOff x="9554684" y="158491"/>
                <a:chExt cx="2506309" cy="2571533"/>
              </a:xfrm>
            </p:grpSpPr>
            <p:pic>
              <p:nvPicPr>
                <p:cNvPr id="7" name="Picture 4" descr="Data Base Clip Art at Clker.com - vector clip art online, royalty free &amp;  public domain">
                  <a:extLst>
                    <a:ext uri="{FF2B5EF4-FFF2-40B4-BE49-F238E27FC236}">
                      <a16:creationId xmlns:a16="http://schemas.microsoft.com/office/drawing/2014/main" id="{50A7915B-B022-F146-F968-3EEAD64214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7842" y="158491"/>
                  <a:ext cx="2343151" cy="2571533"/>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3FEF5A64-6484-31D6-3FF4-998C304C2394}"/>
                    </a:ext>
                  </a:extLst>
                </p:cNvPr>
                <p:cNvSpPr txBox="1"/>
                <p:nvPr/>
              </p:nvSpPr>
              <p:spPr>
                <a:xfrm>
                  <a:off x="9554684" y="488633"/>
                  <a:ext cx="259739" cy="1711121"/>
                </a:xfrm>
                <a:prstGeom prst="rect">
                  <a:avLst/>
                </a:prstGeom>
                <a:noFill/>
              </p:spPr>
              <p:txBody>
                <a:bodyPr wrap="square" rtlCol="0">
                  <a:spAutoFit/>
                </a:bodyPr>
                <a:lstStyle/>
                <a:p>
                  <a:r>
                    <a:rPr lang="fr-FR" sz="1050" b="1" dirty="0">
                      <a:ln w="9525">
                        <a:solidFill>
                          <a:schemeClr val="bg1"/>
                        </a:solidFill>
                        <a:prstDash val="solid"/>
                      </a:ln>
                      <a:effectLst>
                        <a:outerShdw blurRad="12700" dist="38100" dir="2700000" algn="tl" rotWithShape="0">
                          <a:schemeClr val="bg1">
                            <a:lumMod val="50000"/>
                          </a:schemeClr>
                        </a:outerShdw>
                      </a:effectLst>
                    </a:rPr>
                    <a:t>D</a:t>
                  </a:r>
                </a:p>
                <a:p>
                  <a:r>
                    <a:rPr lang="fr-FR" sz="1050" b="1" dirty="0">
                      <a:ln w="9525">
                        <a:solidFill>
                          <a:schemeClr val="bg1"/>
                        </a:solidFill>
                        <a:prstDash val="solid"/>
                      </a:ln>
                      <a:effectLst>
                        <a:outerShdw blurRad="12700" dist="38100" dir="2700000" algn="tl" rotWithShape="0">
                          <a:schemeClr val="bg1">
                            <a:lumMod val="50000"/>
                          </a:schemeClr>
                        </a:outerShdw>
                      </a:effectLst>
                    </a:rPr>
                    <a:t>A</a:t>
                  </a:r>
                </a:p>
                <a:p>
                  <a:r>
                    <a:rPr lang="fr-FR" sz="1050" b="1" dirty="0">
                      <a:ln w="9525">
                        <a:solidFill>
                          <a:schemeClr val="bg1"/>
                        </a:solidFill>
                        <a:prstDash val="solid"/>
                      </a:ln>
                      <a:effectLst>
                        <a:outerShdw blurRad="12700" dist="38100" dir="2700000" algn="tl" rotWithShape="0">
                          <a:schemeClr val="bg1">
                            <a:lumMod val="50000"/>
                          </a:schemeClr>
                        </a:outerShdw>
                      </a:effectLst>
                    </a:rPr>
                    <a:t>T</a:t>
                  </a:r>
                </a:p>
                <a:p>
                  <a:r>
                    <a:rPr lang="fr-FR" sz="1050" b="1" dirty="0">
                      <a:ln w="9525">
                        <a:solidFill>
                          <a:schemeClr val="bg1"/>
                        </a:solidFill>
                        <a:prstDash val="solid"/>
                      </a:ln>
                      <a:effectLst>
                        <a:outerShdw blurRad="12700" dist="38100" dir="2700000" algn="tl" rotWithShape="0">
                          <a:schemeClr val="bg1">
                            <a:lumMod val="50000"/>
                          </a:schemeClr>
                        </a:outerShdw>
                      </a:effectLst>
                    </a:rPr>
                    <a:t>A</a:t>
                  </a:r>
                </a:p>
              </p:txBody>
            </p:sp>
          </p:grpSp>
          <p:pic>
            <p:nvPicPr>
              <p:cNvPr id="14" name="Image 13">
                <a:extLst>
                  <a:ext uri="{FF2B5EF4-FFF2-40B4-BE49-F238E27FC236}">
                    <a16:creationId xmlns:a16="http://schemas.microsoft.com/office/drawing/2014/main" id="{5B822C7B-5B95-6C75-2B08-C57D907CD8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33446" y="1941189"/>
                <a:ext cx="3276884" cy="2690093"/>
              </a:xfrm>
              <a:prstGeom prst="rect">
                <a:avLst/>
              </a:prstGeom>
            </p:spPr>
          </p:pic>
          <p:pic>
            <p:nvPicPr>
              <p:cNvPr id="15" name="Image 14">
                <a:extLst>
                  <a:ext uri="{FF2B5EF4-FFF2-40B4-BE49-F238E27FC236}">
                    <a16:creationId xmlns:a16="http://schemas.microsoft.com/office/drawing/2014/main" id="{350F06C0-53D6-A4DB-342C-7CC3588FC3B7}"/>
                  </a:ext>
                </a:extLst>
              </p:cNvPr>
              <p:cNvPicPr>
                <a:picLocks noChangeAspect="1"/>
              </p:cNvPicPr>
              <p:nvPr/>
            </p:nvPicPr>
            <p:blipFill>
              <a:blip r:embed="rId7"/>
              <a:stretch>
                <a:fillRect/>
              </a:stretch>
            </p:blipFill>
            <p:spPr>
              <a:xfrm>
                <a:off x="4462034" y="2551903"/>
                <a:ext cx="1272008" cy="1247505"/>
              </a:xfrm>
              <a:prstGeom prst="rect">
                <a:avLst/>
              </a:prstGeom>
            </p:spPr>
          </p:pic>
          <p:pic>
            <p:nvPicPr>
              <p:cNvPr id="16" name="Picture 4">
                <a:extLst>
                  <a:ext uri="{FF2B5EF4-FFF2-40B4-BE49-F238E27FC236}">
                    <a16:creationId xmlns:a16="http://schemas.microsoft.com/office/drawing/2014/main" id="{72409B65-92E4-8820-7B8A-C873610552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1571" y="2092309"/>
                <a:ext cx="1700125" cy="8826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Data visualization - Free marketing icons">
                <a:extLst>
                  <a:ext uri="{FF2B5EF4-FFF2-40B4-BE49-F238E27FC236}">
                    <a16:creationId xmlns:a16="http://schemas.microsoft.com/office/drawing/2014/main" id="{3304E459-9B6F-389A-7935-D21601349D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04028" y="1852245"/>
                <a:ext cx="1279739" cy="131388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Parameter - Free ui icons">
                <a:extLst>
                  <a:ext uri="{FF2B5EF4-FFF2-40B4-BE49-F238E27FC236}">
                    <a16:creationId xmlns:a16="http://schemas.microsoft.com/office/drawing/2014/main" id="{7F13B6CA-5661-8586-C441-9C2CCF06B6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6920" y="2847167"/>
                <a:ext cx="1397474" cy="133879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Parameter - Free ui icons">
                <a:extLst>
                  <a:ext uri="{FF2B5EF4-FFF2-40B4-BE49-F238E27FC236}">
                    <a16:creationId xmlns:a16="http://schemas.microsoft.com/office/drawing/2014/main" id="{85A3536B-F296-7D5F-5EB8-F93F02FC144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3864" y="2876238"/>
                <a:ext cx="1397473" cy="1280654"/>
              </a:xfrm>
              <a:prstGeom prst="rect">
                <a:avLst/>
              </a:prstGeom>
              <a:noFill/>
              <a:extLst>
                <a:ext uri="{909E8E84-426E-40DD-AFC4-6F175D3DCCD1}">
                  <a14:hiddenFill xmlns:a14="http://schemas.microsoft.com/office/drawing/2010/main">
                    <a:solidFill>
                      <a:srgbClr val="FFFFFF"/>
                    </a:solidFill>
                  </a14:hiddenFill>
                </a:ext>
              </a:extLst>
            </p:spPr>
          </p:pic>
          <p:sp>
            <p:nvSpPr>
              <p:cNvPr id="23" name="Flèche : droite 22">
                <a:extLst>
                  <a:ext uri="{FF2B5EF4-FFF2-40B4-BE49-F238E27FC236}">
                    <a16:creationId xmlns:a16="http://schemas.microsoft.com/office/drawing/2014/main" id="{5B888E7C-1323-4D0B-0CB3-F9839631BF53}"/>
                  </a:ext>
                </a:extLst>
              </p:cNvPr>
              <p:cNvSpPr/>
              <p:nvPr/>
            </p:nvSpPr>
            <p:spPr>
              <a:xfrm>
                <a:off x="5784013" y="2974913"/>
                <a:ext cx="627359" cy="442410"/>
              </a:xfrm>
              <a:prstGeom prst="rightArrow">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lèche : droite 23">
                <a:extLst>
                  <a:ext uri="{FF2B5EF4-FFF2-40B4-BE49-F238E27FC236}">
                    <a16:creationId xmlns:a16="http://schemas.microsoft.com/office/drawing/2014/main" id="{E2C83F8F-12F6-5560-CC94-235C60584748}"/>
                  </a:ext>
                </a:extLst>
              </p:cNvPr>
              <p:cNvSpPr/>
              <p:nvPr/>
            </p:nvSpPr>
            <p:spPr>
              <a:xfrm>
                <a:off x="8510029" y="2904561"/>
                <a:ext cx="627359" cy="442410"/>
              </a:xfrm>
              <a:prstGeom prst="rightArrow">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3" name="Accolade ouvrante 2">
            <a:extLst>
              <a:ext uri="{FF2B5EF4-FFF2-40B4-BE49-F238E27FC236}">
                <a16:creationId xmlns:a16="http://schemas.microsoft.com/office/drawing/2014/main" id="{77E0E142-9826-5C2C-A93D-B5A7FE5FDE19}"/>
              </a:ext>
            </a:extLst>
          </p:cNvPr>
          <p:cNvSpPr/>
          <p:nvPr/>
        </p:nvSpPr>
        <p:spPr>
          <a:xfrm rot="16200000">
            <a:off x="5607808" y="-237551"/>
            <a:ext cx="736600" cy="9733526"/>
          </a:xfrm>
          <a:prstGeom prst="leftBrace">
            <a:avLst/>
          </a:prstGeom>
          <a:ln w="38100">
            <a:solidFill>
              <a:srgbClr val="48656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10" name="Image 9">
            <a:extLst>
              <a:ext uri="{FF2B5EF4-FFF2-40B4-BE49-F238E27FC236}">
                <a16:creationId xmlns:a16="http://schemas.microsoft.com/office/drawing/2014/main" id="{30A853BA-5411-6631-FBD0-0D575CDFB2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25232" y="4997512"/>
            <a:ext cx="2994920" cy="1470787"/>
          </a:xfrm>
          <a:prstGeom prst="rect">
            <a:avLst/>
          </a:prstGeom>
        </p:spPr>
      </p:pic>
      <p:sp>
        <p:nvSpPr>
          <p:cNvPr id="11" name="Titre 2">
            <a:extLst>
              <a:ext uri="{FF2B5EF4-FFF2-40B4-BE49-F238E27FC236}">
                <a16:creationId xmlns:a16="http://schemas.microsoft.com/office/drawing/2014/main" id="{C4EA7B21-9A23-2472-3C74-E4B90193BEB3}"/>
              </a:ext>
            </a:extLst>
          </p:cNvPr>
          <p:cNvSpPr>
            <a:spLocks noGrp="1"/>
          </p:cNvSpPr>
          <p:nvPr>
            <p:ph type="title"/>
          </p:nvPr>
        </p:nvSpPr>
        <p:spPr>
          <a:xfrm>
            <a:off x="2150359" y="3637833"/>
            <a:ext cx="2059691" cy="334933"/>
          </a:xfrm>
        </p:spPr>
        <p:txBody>
          <a:bodyPr rtlCol="0"/>
          <a:lstStyle/>
          <a:p>
            <a:pPr algn="ctr"/>
            <a:r>
              <a:rPr lang="fr-FR" sz="2400" dirty="0" err="1">
                <a:latin typeface="+mn-lt"/>
              </a:rPr>
              <a:t>Filebeat</a:t>
            </a:r>
            <a:endParaRPr lang="fr-FR" sz="2400" dirty="0">
              <a:latin typeface="+mn-lt"/>
            </a:endParaRPr>
          </a:p>
        </p:txBody>
      </p:sp>
    </p:spTree>
    <p:extLst>
      <p:ext uri="{BB962C8B-B14F-4D97-AF65-F5344CB8AC3E}">
        <p14:creationId xmlns:p14="http://schemas.microsoft.com/office/powerpoint/2010/main" val="152337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9</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88979" y="3213804"/>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2">
            <a:extLst>
              <a:ext uri="{FF2B5EF4-FFF2-40B4-BE49-F238E27FC236}">
                <a16:creationId xmlns:a16="http://schemas.microsoft.com/office/drawing/2014/main" id="{BC6062B0-1D75-4396-6819-DAF4D04C5B1D}"/>
              </a:ext>
            </a:extLst>
          </p:cNvPr>
          <p:cNvSpPr>
            <a:spLocks noGrp="1"/>
          </p:cNvSpPr>
          <p:nvPr>
            <p:ph type="title"/>
          </p:nvPr>
        </p:nvSpPr>
        <p:spPr>
          <a:xfrm>
            <a:off x="496115" y="2870722"/>
            <a:ext cx="3295265" cy="442148"/>
          </a:xfrm>
        </p:spPr>
        <p:txBody>
          <a:bodyPr rtlCol="0"/>
          <a:lstStyle/>
          <a:p>
            <a:pPr algn="ctr"/>
            <a:r>
              <a:rPr lang="fr-FR" dirty="0">
                <a:latin typeface="+mn-lt"/>
              </a:rPr>
              <a:t>Data ingestion</a:t>
            </a:r>
          </a:p>
        </p:txBody>
      </p:sp>
      <p:pic>
        <p:nvPicPr>
          <p:cNvPr id="3" name="Image 2">
            <a:extLst>
              <a:ext uri="{FF2B5EF4-FFF2-40B4-BE49-F238E27FC236}">
                <a16:creationId xmlns:a16="http://schemas.microsoft.com/office/drawing/2014/main" id="{B2DC7190-2A76-7A51-3129-FC9C64E45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1194748"/>
            <a:ext cx="6361373" cy="5084568"/>
          </a:xfrm>
          <a:prstGeom prst="rect">
            <a:avLst/>
          </a:prstGeom>
        </p:spPr>
      </p:pic>
    </p:spTree>
    <p:extLst>
      <p:ext uri="{BB962C8B-B14F-4D97-AF65-F5344CB8AC3E}">
        <p14:creationId xmlns:p14="http://schemas.microsoft.com/office/powerpoint/2010/main" val="293975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103077" y="464339"/>
            <a:ext cx="5318341" cy="370166"/>
          </a:xfrm>
        </p:spPr>
        <p:txBody>
          <a:bodyPr rtlCol="0"/>
          <a:lstStyle/>
          <a:p>
            <a:pPr algn="ctr" rtl="0"/>
            <a:r>
              <a:rPr lang="fr-FR" dirty="0"/>
              <a:t>Source des données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10</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722099" y="867492"/>
            <a:ext cx="31450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6" name="ZoneTexte 5">
            <a:extLst>
              <a:ext uri="{FF2B5EF4-FFF2-40B4-BE49-F238E27FC236}">
                <a16:creationId xmlns:a16="http://schemas.microsoft.com/office/drawing/2014/main" id="{E27EC8BD-94B8-2D6C-B691-D1AEA2333AFD}"/>
              </a:ext>
            </a:extLst>
          </p:cNvPr>
          <p:cNvSpPr txBox="1"/>
          <p:nvPr/>
        </p:nvSpPr>
        <p:spPr>
          <a:xfrm>
            <a:off x="377369" y="3374240"/>
            <a:ext cx="5044049" cy="707886"/>
          </a:xfrm>
          <a:prstGeom prst="rect">
            <a:avLst/>
          </a:prstGeom>
          <a:noFill/>
        </p:spPr>
        <p:txBody>
          <a:bodyPr wrap="square">
            <a:spAutoFit/>
          </a:bodyPr>
          <a:lstStyle/>
          <a:p>
            <a:r>
              <a:rPr lang="fr-FR" sz="2000" b="1" noProof="1">
                <a:solidFill>
                  <a:schemeClr val="accent2"/>
                </a:solidFill>
                <a:latin typeface="+mj-lt"/>
              </a:rPr>
              <a:t>Les principaux caractéristiques</a:t>
            </a:r>
          </a:p>
          <a:p>
            <a:r>
              <a:rPr lang="fr-FR" sz="2000" b="1" noProof="1">
                <a:solidFill>
                  <a:schemeClr val="accent2"/>
                </a:solidFill>
                <a:latin typeface="+mj-lt"/>
              </a:rPr>
              <a:t>de cette API sont :</a:t>
            </a:r>
          </a:p>
        </p:txBody>
      </p:sp>
      <p:grpSp>
        <p:nvGrpSpPr>
          <p:cNvPr id="99" name="Groupe 98">
            <a:extLst>
              <a:ext uri="{FF2B5EF4-FFF2-40B4-BE49-F238E27FC236}">
                <a16:creationId xmlns:a16="http://schemas.microsoft.com/office/drawing/2014/main" id="{2ECD21E5-0030-5F58-24B9-5E721AAC1E0B}"/>
              </a:ext>
            </a:extLst>
          </p:cNvPr>
          <p:cNvGrpSpPr/>
          <p:nvPr/>
        </p:nvGrpSpPr>
        <p:grpSpPr>
          <a:xfrm>
            <a:off x="147741" y="1217508"/>
            <a:ext cx="6501285" cy="2018127"/>
            <a:chOff x="144239" y="1085280"/>
            <a:chExt cx="6501285" cy="2018127"/>
          </a:xfrm>
        </p:grpSpPr>
        <p:sp>
          <p:nvSpPr>
            <p:cNvPr id="39" name="Rectangle : coins arrondis 38">
              <a:extLst>
                <a:ext uri="{FF2B5EF4-FFF2-40B4-BE49-F238E27FC236}">
                  <a16:creationId xmlns:a16="http://schemas.microsoft.com/office/drawing/2014/main" id="{4E888289-7837-33EB-D13E-E19D3D2BD524}"/>
                </a:ext>
              </a:extLst>
            </p:cNvPr>
            <p:cNvSpPr/>
            <p:nvPr/>
          </p:nvSpPr>
          <p:spPr>
            <a:xfrm>
              <a:off x="144239" y="1085280"/>
              <a:ext cx="6501285" cy="201812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8" name="ZoneTexte 7">
              <a:extLst>
                <a:ext uri="{FF2B5EF4-FFF2-40B4-BE49-F238E27FC236}">
                  <a16:creationId xmlns:a16="http://schemas.microsoft.com/office/drawing/2014/main" id="{261EB1F1-BB45-649D-AE22-74B93EB354D4}"/>
                </a:ext>
              </a:extLst>
            </p:cNvPr>
            <p:cNvSpPr txBox="1"/>
            <p:nvPr/>
          </p:nvSpPr>
          <p:spPr>
            <a:xfrm>
              <a:off x="346881" y="1160247"/>
              <a:ext cx="6096000" cy="1754326"/>
            </a:xfrm>
            <a:prstGeom prst="rect">
              <a:avLst/>
            </a:prstGeom>
            <a:noFill/>
          </p:spPr>
          <p:txBody>
            <a:bodyPr wrap="square">
              <a:spAutoFit/>
            </a:bodyPr>
            <a:lstStyle/>
            <a:p>
              <a:pPr algn="just"/>
              <a:r>
                <a:rPr lang="fr-FR" dirty="0">
                  <a:latin typeface="Verdana" panose="020B0604030504040204" pitchFamily="34" charset="0"/>
                  <a:ea typeface="Verdana" panose="020B0604030504040204" pitchFamily="34" charset="0"/>
                </a:rPr>
                <a:t>Open-</a:t>
              </a:r>
              <a:r>
                <a:rPr lang="fr-FR" dirty="0" err="1">
                  <a:latin typeface="Verdana" panose="020B0604030504040204" pitchFamily="34" charset="0"/>
                  <a:ea typeface="Verdana" panose="020B0604030504040204" pitchFamily="34" charset="0"/>
                </a:rPr>
                <a:t>Meteo</a:t>
              </a:r>
              <a:r>
                <a:rPr lang="fr-FR" dirty="0">
                  <a:latin typeface="Verdana" panose="020B0604030504040204" pitchFamily="34" charset="0"/>
                  <a:ea typeface="Verdana" panose="020B0604030504040204" pitchFamily="34" charset="0"/>
                </a:rPr>
                <a:t> est une API météo open-source avec accès gratuit pour un usage non commercial. Aucune clé d’API n’est requise pour l’utiliser.</a:t>
              </a:r>
            </a:p>
            <a:p>
              <a:pPr algn="just"/>
              <a:r>
                <a:rPr lang="fr-FR" dirty="0">
                  <a:latin typeface="Verdana" panose="020B0604030504040204" pitchFamily="34" charset="0"/>
                  <a:ea typeface="Verdana" panose="020B0604030504040204" pitchFamily="34" charset="0"/>
                </a:rPr>
                <a:t>Elle fournit des données météorologiques en temps réel et des prévisions météorologiques à court et long terme.</a:t>
              </a:r>
            </a:p>
          </p:txBody>
        </p:sp>
      </p:grpSp>
      <p:pic>
        <p:nvPicPr>
          <p:cNvPr id="2" name="Image 1">
            <a:extLst>
              <a:ext uri="{FF2B5EF4-FFF2-40B4-BE49-F238E27FC236}">
                <a16:creationId xmlns:a16="http://schemas.microsoft.com/office/drawing/2014/main" id="{3B7C8EDE-F809-974A-D6FA-277DEED5D5F5}"/>
              </a:ext>
            </a:extLst>
          </p:cNvPr>
          <p:cNvPicPr>
            <a:picLocks noChangeAspect="1"/>
          </p:cNvPicPr>
          <p:nvPr/>
        </p:nvPicPr>
        <p:blipFill>
          <a:blip r:embed="rId3"/>
          <a:stretch>
            <a:fillRect/>
          </a:stretch>
        </p:blipFill>
        <p:spPr>
          <a:xfrm>
            <a:off x="10407227" y="143518"/>
            <a:ext cx="1577486" cy="1577486"/>
          </a:xfrm>
          <a:prstGeom prst="rect">
            <a:avLst/>
          </a:prstGeom>
        </p:spPr>
      </p:pic>
      <p:grpSp>
        <p:nvGrpSpPr>
          <p:cNvPr id="101" name="Groupe 100">
            <a:extLst>
              <a:ext uri="{FF2B5EF4-FFF2-40B4-BE49-F238E27FC236}">
                <a16:creationId xmlns:a16="http://schemas.microsoft.com/office/drawing/2014/main" id="{1364F621-2A9E-0A9C-D37A-8B86877E725E}"/>
              </a:ext>
            </a:extLst>
          </p:cNvPr>
          <p:cNvGrpSpPr/>
          <p:nvPr/>
        </p:nvGrpSpPr>
        <p:grpSpPr>
          <a:xfrm>
            <a:off x="103077" y="4528989"/>
            <a:ext cx="11881636" cy="1676819"/>
            <a:chOff x="103077" y="3849324"/>
            <a:chExt cx="11881636" cy="1676819"/>
          </a:xfrm>
        </p:grpSpPr>
        <p:sp>
          <p:nvSpPr>
            <p:cNvPr id="68" name="ZoneTexte 67">
              <a:extLst>
                <a:ext uri="{FF2B5EF4-FFF2-40B4-BE49-F238E27FC236}">
                  <a16:creationId xmlns:a16="http://schemas.microsoft.com/office/drawing/2014/main" id="{993DCB7D-29A3-6B60-CDEB-C4F8ECAC1D2E}"/>
                </a:ext>
              </a:extLst>
            </p:cNvPr>
            <p:cNvSpPr txBox="1"/>
            <p:nvPr/>
          </p:nvSpPr>
          <p:spPr>
            <a:xfrm>
              <a:off x="10234427" y="5185999"/>
              <a:ext cx="1750286" cy="338554"/>
            </a:xfrm>
            <a:prstGeom prst="rect">
              <a:avLst/>
            </a:prstGeom>
            <a:noFill/>
          </p:spPr>
          <p:txBody>
            <a:bodyPr wrap="square" rtlCol="0">
              <a:spAutoFit/>
            </a:bodyPr>
            <a:lstStyle/>
            <a:p>
              <a:pPr algn="ctr"/>
              <a:r>
                <a:rPr lang="fr-FR" sz="1600" b="1" dirty="0"/>
                <a:t>Open Source</a:t>
              </a:r>
            </a:p>
          </p:txBody>
        </p:sp>
        <p:sp>
          <p:nvSpPr>
            <p:cNvPr id="70" name="ZoneTexte 69">
              <a:extLst>
                <a:ext uri="{FF2B5EF4-FFF2-40B4-BE49-F238E27FC236}">
                  <a16:creationId xmlns:a16="http://schemas.microsoft.com/office/drawing/2014/main" id="{2A28D580-6CB7-54FC-CFD4-CE6BFEB685E0}"/>
                </a:ext>
              </a:extLst>
            </p:cNvPr>
            <p:cNvSpPr txBox="1"/>
            <p:nvPr/>
          </p:nvSpPr>
          <p:spPr>
            <a:xfrm>
              <a:off x="103077" y="5185999"/>
              <a:ext cx="1981735" cy="338554"/>
            </a:xfrm>
            <a:prstGeom prst="rect">
              <a:avLst/>
            </a:prstGeom>
            <a:noFill/>
          </p:spPr>
          <p:txBody>
            <a:bodyPr wrap="square">
              <a:spAutoFit/>
            </a:bodyPr>
            <a:lstStyle/>
            <a:p>
              <a:pPr algn="ctr"/>
              <a:r>
                <a:rPr lang="fr-FR" sz="1600" b="1" dirty="0"/>
                <a:t>Free API</a:t>
              </a:r>
            </a:p>
          </p:txBody>
        </p:sp>
        <p:grpSp>
          <p:nvGrpSpPr>
            <p:cNvPr id="96" name="Groupe 95">
              <a:extLst>
                <a:ext uri="{FF2B5EF4-FFF2-40B4-BE49-F238E27FC236}">
                  <a16:creationId xmlns:a16="http://schemas.microsoft.com/office/drawing/2014/main" id="{76F445B8-460A-A38F-26BE-35C3D9CB9306}"/>
                </a:ext>
              </a:extLst>
            </p:cNvPr>
            <p:cNvGrpSpPr/>
            <p:nvPr/>
          </p:nvGrpSpPr>
          <p:grpSpPr>
            <a:xfrm>
              <a:off x="524959" y="3849324"/>
              <a:ext cx="1174786" cy="1107213"/>
              <a:chOff x="350179" y="5591472"/>
              <a:chExt cx="1174786" cy="1107213"/>
            </a:xfrm>
          </p:grpSpPr>
          <p:sp>
            <p:nvSpPr>
              <p:cNvPr id="77" name="Rectangle : coins arrondis 76">
                <a:extLst>
                  <a:ext uri="{FF2B5EF4-FFF2-40B4-BE49-F238E27FC236}">
                    <a16:creationId xmlns:a16="http://schemas.microsoft.com/office/drawing/2014/main" id="{FC3E771B-6D84-C554-9EF1-FEC7BECA71B1}"/>
                  </a:ext>
                </a:extLst>
              </p:cNvPr>
              <p:cNvSpPr/>
              <p:nvPr/>
            </p:nvSpPr>
            <p:spPr>
              <a:xfrm>
                <a:off x="350179" y="5591472"/>
                <a:ext cx="1174786" cy="1107213"/>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5" name="Image 14">
                <a:extLst>
                  <a:ext uri="{FF2B5EF4-FFF2-40B4-BE49-F238E27FC236}">
                    <a16:creationId xmlns:a16="http://schemas.microsoft.com/office/drawing/2014/main" id="{2D06BD0F-B4FA-3CCE-7F2F-FA44EDFEB446}"/>
                  </a:ext>
                </a:extLst>
              </p:cNvPr>
              <p:cNvPicPr>
                <a:picLocks noChangeAspect="1"/>
              </p:cNvPicPr>
              <p:nvPr/>
            </p:nvPicPr>
            <p:blipFill>
              <a:blip r:embed="rId4"/>
              <a:stretch>
                <a:fillRect/>
              </a:stretch>
            </p:blipFill>
            <p:spPr>
              <a:xfrm>
                <a:off x="456757" y="5662778"/>
                <a:ext cx="961630" cy="902721"/>
              </a:xfrm>
              <a:prstGeom prst="rect">
                <a:avLst/>
              </a:prstGeom>
            </p:spPr>
          </p:pic>
        </p:grpSp>
        <p:grpSp>
          <p:nvGrpSpPr>
            <p:cNvPr id="95" name="Groupe 94">
              <a:extLst>
                <a:ext uri="{FF2B5EF4-FFF2-40B4-BE49-F238E27FC236}">
                  <a16:creationId xmlns:a16="http://schemas.microsoft.com/office/drawing/2014/main" id="{A2719DC3-DD12-CECD-9870-526DC51D4DF2}"/>
                </a:ext>
              </a:extLst>
            </p:cNvPr>
            <p:cNvGrpSpPr/>
            <p:nvPr/>
          </p:nvGrpSpPr>
          <p:grpSpPr>
            <a:xfrm>
              <a:off x="10522177" y="3926471"/>
              <a:ext cx="1174786" cy="1107213"/>
              <a:chOff x="2994944" y="5666930"/>
              <a:chExt cx="1174786" cy="1107213"/>
            </a:xfrm>
          </p:grpSpPr>
          <p:sp>
            <p:nvSpPr>
              <p:cNvPr id="76" name="Rectangle : coins arrondis 75">
                <a:extLst>
                  <a:ext uri="{FF2B5EF4-FFF2-40B4-BE49-F238E27FC236}">
                    <a16:creationId xmlns:a16="http://schemas.microsoft.com/office/drawing/2014/main" id="{8DC98298-6945-5465-A083-9AFDD98C520C}"/>
                  </a:ext>
                </a:extLst>
              </p:cNvPr>
              <p:cNvSpPr/>
              <p:nvPr/>
            </p:nvSpPr>
            <p:spPr>
              <a:xfrm>
                <a:off x="2994944" y="5666930"/>
                <a:ext cx="1174786" cy="1107213"/>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7" name="Image 16">
                <a:extLst>
                  <a:ext uri="{FF2B5EF4-FFF2-40B4-BE49-F238E27FC236}">
                    <a16:creationId xmlns:a16="http://schemas.microsoft.com/office/drawing/2014/main" id="{2D26A78F-17CC-E360-0D6E-618AD4DCCF82}"/>
                  </a:ext>
                </a:extLst>
              </p:cNvPr>
              <p:cNvPicPr>
                <a:picLocks noChangeAspect="1"/>
              </p:cNvPicPr>
              <p:nvPr/>
            </p:nvPicPr>
            <p:blipFill>
              <a:blip r:embed="rId5"/>
              <a:stretch>
                <a:fillRect/>
              </a:stretch>
            </p:blipFill>
            <p:spPr>
              <a:xfrm>
                <a:off x="3111733" y="5727273"/>
                <a:ext cx="980565" cy="971412"/>
              </a:xfrm>
              <a:prstGeom prst="rect">
                <a:avLst/>
              </a:prstGeom>
            </p:spPr>
          </p:pic>
        </p:grpSp>
        <p:sp>
          <p:nvSpPr>
            <p:cNvPr id="23" name="ZoneTexte 22">
              <a:extLst>
                <a:ext uri="{FF2B5EF4-FFF2-40B4-BE49-F238E27FC236}">
                  <a16:creationId xmlns:a16="http://schemas.microsoft.com/office/drawing/2014/main" id="{A007499F-951E-2BDC-034F-F5FCBCF76439}"/>
                </a:ext>
              </a:extLst>
            </p:cNvPr>
            <p:cNvSpPr txBox="1"/>
            <p:nvPr/>
          </p:nvSpPr>
          <p:spPr>
            <a:xfrm>
              <a:off x="4594086" y="5190588"/>
              <a:ext cx="1366388" cy="333965"/>
            </a:xfrm>
            <a:prstGeom prst="rect">
              <a:avLst/>
            </a:prstGeom>
            <a:noFill/>
          </p:spPr>
          <p:txBody>
            <a:bodyPr wrap="square" rtlCol="0">
              <a:spAutoFit/>
            </a:bodyPr>
            <a:lstStyle/>
            <a:p>
              <a:r>
                <a:rPr lang="fr-FR" sz="1600" b="1" dirty="0"/>
                <a:t>Fast Update</a:t>
              </a:r>
            </a:p>
          </p:txBody>
        </p:sp>
        <p:sp>
          <p:nvSpPr>
            <p:cNvPr id="26" name="ZoneTexte 25">
              <a:extLst>
                <a:ext uri="{FF2B5EF4-FFF2-40B4-BE49-F238E27FC236}">
                  <a16:creationId xmlns:a16="http://schemas.microsoft.com/office/drawing/2014/main" id="{3B8BC580-1135-9A35-1290-848B3BB6994E}"/>
                </a:ext>
              </a:extLst>
            </p:cNvPr>
            <p:cNvSpPr txBox="1"/>
            <p:nvPr/>
          </p:nvSpPr>
          <p:spPr>
            <a:xfrm>
              <a:off x="6308539" y="5190588"/>
              <a:ext cx="1750284" cy="333965"/>
            </a:xfrm>
            <a:prstGeom prst="rect">
              <a:avLst/>
            </a:prstGeom>
            <a:noFill/>
          </p:spPr>
          <p:txBody>
            <a:bodyPr wrap="square" rtlCol="0">
              <a:spAutoFit/>
            </a:bodyPr>
            <a:lstStyle/>
            <a:p>
              <a:r>
                <a:rPr lang="en-US" sz="1600" b="1" dirty="0"/>
                <a:t>Historical Data</a:t>
              </a:r>
              <a:endParaRPr lang="fr-FR" sz="1600" b="1" dirty="0"/>
            </a:p>
          </p:txBody>
        </p:sp>
        <p:grpSp>
          <p:nvGrpSpPr>
            <p:cNvPr id="91" name="Groupe 90">
              <a:extLst>
                <a:ext uri="{FF2B5EF4-FFF2-40B4-BE49-F238E27FC236}">
                  <a16:creationId xmlns:a16="http://schemas.microsoft.com/office/drawing/2014/main" id="{429F97A8-CE31-AF21-C347-01BCEE1D2168}"/>
                </a:ext>
              </a:extLst>
            </p:cNvPr>
            <p:cNvGrpSpPr/>
            <p:nvPr/>
          </p:nvGrpSpPr>
          <p:grpSpPr>
            <a:xfrm>
              <a:off x="2506488" y="3873015"/>
              <a:ext cx="1174785" cy="1107214"/>
              <a:chOff x="841991" y="3683397"/>
              <a:chExt cx="1174785" cy="1107214"/>
            </a:xfrm>
          </p:grpSpPr>
          <p:sp>
            <p:nvSpPr>
              <p:cNvPr id="59" name="Rectangle : coins arrondis 58">
                <a:extLst>
                  <a:ext uri="{FF2B5EF4-FFF2-40B4-BE49-F238E27FC236}">
                    <a16:creationId xmlns:a16="http://schemas.microsoft.com/office/drawing/2014/main" id="{691E4231-7B44-861F-1CFC-FD5ABB6DDF53}"/>
                  </a:ext>
                </a:extLst>
              </p:cNvPr>
              <p:cNvSpPr/>
              <p:nvPr/>
            </p:nvSpPr>
            <p:spPr>
              <a:xfrm>
                <a:off x="841991" y="3683397"/>
                <a:ext cx="1174785" cy="1107214"/>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7" name="Image 6">
                <a:extLst>
                  <a:ext uri="{FF2B5EF4-FFF2-40B4-BE49-F238E27FC236}">
                    <a16:creationId xmlns:a16="http://schemas.microsoft.com/office/drawing/2014/main" id="{FE99EB5F-A754-82AC-C04E-4366BC7EF93C}"/>
                  </a:ext>
                </a:extLst>
              </p:cNvPr>
              <p:cNvPicPr>
                <a:picLocks noChangeAspect="1"/>
              </p:cNvPicPr>
              <p:nvPr/>
            </p:nvPicPr>
            <p:blipFill>
              <a:blip r:embed="rId6"/>
              <a:stretch>
                <a:fillRect/>
              </a:stretch>
            </p:blipFill>
            <p:spPr>
              <a:xfrm>
                <a:off x="946771" y="3762872"/>
                <a:ext cx="979876" cy="902539"/>
              </a:xfrm>
              <a:prstGeom prst="rect">
                <a:avLst/>
              </a:prstGeom>
            </p:spPr>
          </p:pic>
        </p:grpSp>
        <p:grpSp>
          <p:nvGrpSpPr>
            <p:cNvPr id="92" name="Groupe 91">
              <a:extLst>
                <a:ext uri="{FF2B5EF4-FFF2-40B4-BE49-F238E27FC236}">
                  <a16:creationId xmlns:a16="http://schemas.microsoft.com/office/drawing/2014/main" id="{F1FB37E5-0888-3E3A-40E5-F415C8DF3A07}"/>
                </a:ext>
              </a:extLst>
            </p:cNvPr>
            <p:cNvGrpSpPr/>
            <p:nvPr/>
          </p:nvGrpSpPr>
          <p:grpSpPr>
            <a:xfrm>
              <a:off x="4594086" y="3850152"/>
              <a:ext cx="1174785" cy="1107214"/>
              <a:chOff x="3424026" y="3773239"/>
              <a:chExt cx="1174785" cy="1107214"/>
            </a:xfrm>
          </p:grpSpPr>
          <p:sp>
            <p:nvSpPr>
              <p:cNvPr id="53" name="Rectangle : coins arrondis 52">
                <a:extLst>
                  <a:ext uri="{FF2B5EF4-FFF2-40B4-BE49-F238E27FC236}">
                    <a16:creationId xmlns:a16="http://schemas.microsoft.com/office/drawing/2014/main" id="{45B03A80-8526-01C4-3D60-CDEE28694B66}"/>
                  </a:ext>
                </a:extLst>
              </p:cNvPr>
              <p:cNvSpPr/>
              <p:nvPr/>
            </p:nvSpPr>
            <p:spPr>
              <a:xfrm>
                <a:off x="3424026" y="3773239"/>
                <a:ext cx="1174785" cy="1107214"/>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0" name="Image 9">
                <a:extLst>
                  <a:ext uri="{FF2B5EF4-FFF2-40B4-BE49-F238E27FC236}">
                    <a16:creationId xmlns:a16="http://schemas.microsoft.com/office/drawing/2014/main" id="{847C22CE-1E0E-1FCB-F766-36D9879C449D}"/>
                  </a:ext>
                </a:extLst>
              </p:cNvPr>
              <p:cNvPicPr>
                <a:picLocks noChangeAspect="1"/>
              </p:cNvPicPr>
              <p:nvPr/>
            </p:nvPicPr>
            <p:blipFill>
              <a:blip r:embed="rId7"/>
              <a:stretch>
                <a:fillRect/>
              </a:stretch>
            </p:blipFill>
            <p:spPr>
              <a:xfrm>
                <a:off x="3529897" y="3840468"/>
                <a:ext cx="970814" cy="941188"/>
              </a:xfrm>
              <a:prstGeom prst="rect">
                <a:avLst/>
              </a:prstGeom>
            </p:spPr>
          </p:pic>
        </p:grpSp>
        <p:grpSp>
          <p:nvGrpSpPr>
            <p:cNvPr id="93" name="Groupe 92">
              <a:extLst>
                <a:ext uri="{FF2B5EF4-FFF2-40B4-BE49-F238E27FC236}">
                  <a16:creationId xmlns:a16="http://schemas.microsoft.com/office/drawing/2014/main" id="{2F3FB45B-4A8B-C802-9A7D-DA9E314EC019}"/>
                </a:ext>
              </a:extLst>
            </p:cNvPr>
            <p:cNvGrpSpPr/>
            <p:nvPr/>
          </p:nvGrpSpPr>
          <p:grpSpPr>
            <a:xfrm>
              <a:off x="6596289" y="3850152"/>
              <a:ext cx="1174785" cy="1107214"/>
              <a:chOff x="5360442" y="4005059"/>
              <a:chExt cx="1174785" cy="1107214"/>
            </a:xfrm>
          </p:grpSpPr>
          <p:sp>
            <p:nvSpPr>
              <p:cNvPr id="56" name="Rectangle : coins arrondis 55">
                <a:extLst>
                  <a:ext uri="{FF2B5EF4-FFF2-40B4-BE49-F238E27FC236}">
                    <a16:creationId xmlns:a16="http://schemas.microsoft.com/office/drawing/2014/main" id="{ADA3301C-4AAD-EFBD-F9BB-49475FF605BF}"/>
                  </a:ext>
                </a:extLst>
              </p:cNvPr>
              <p:cNvSpPr/>
              <p:nvPr/>
            </p:nvSpPr>
            <p:spPr>
              <a:xfrm>
                <a:off x="5360442" y="4005059"/>
                <a:ext cx="1174785" cy="1107214"/>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3" name="Image 12">
                <a:extLst>
                  <a:ext uri="{FF2B5EF4-FFF2-40B4-BE49-F238E27FC236}">
                    <a16:creationId xmlns:a16="http://schemas.microsoft.com/office/drawing/2014/main" id="{88209174-6D91-ABA9-4659-429F9CE9619E}"/>
                  </a:ext>
                </a:extLst>
              </p:cNvPr>
              <p:cNvPicPr>
                <a:picLocks noChangeAspect="1"/>
              </p:cNvPicPr>
              <p:nvPr/>
            </p:nvPicPr>
            <p:blipFill>
              <a:blip r:embed="rId8"/>
              <a:stretch>
                <a:fillRect/>
              </a:stretch>
            </p:blipFill>
            <p:spPr>
              <a:xfrm>
                <a:off x="5485853" y="4081378"/>
                <a:ext cx="963737" cy="916030"/>
              </a:xfrm>
              <a:prstGeom prst="rect">
                <a:avLst/>
              </a:prstGeom>
            </p:spPr>
          </p:pic>
        </p:grpSp>
        <p:sp>
          <p:nvSpPr>
            <p:cNvPr id="64" name="ZoneTexte 63">
              <a:extLst>
                <a:ext uri="{FF2B5EF4-FFF2-40B4-BE49-F238E27FC236}">
                  <a16:creationId xmlns:a16="http://schemas.microsoft.com/office/drawing/2014/main" id="{FE7E7F61-18F8-2BCC-BE7D-8C7DD4258A5A}"/>
                </a:ext>
              </a:extLst>
            </p:cNvPr>
            <p:cNvSpPr txBox="1"/>
            <p:nvPr/>
          </p:nvSpPr>
          <p:spPr>
            <a:xfrm>
              <a:off x="2110339" y="5187589"/>
              <a:ext cx="1981733" cy="338554"/>
            </a:xfrm>
            <a:prstGeom prst="rect">
              <a:avLst/>
            </a:prstGeom>
            <a:noFill/>
          </p:spPr>
          <p:txBody>
            <a:bodyPr wrap="square">
              <a:spAutoFit/>
            </a:bodyPr>
            <a:lstStyle/>
            <a:p>
              <a:pPr algn="ctr"/>
              <a:r>
                <a:rPr lang="fr-FR" sz="1600" b="1" dirty="0"/>
                <a:t>High </a:t>
              </a:r>
              <a:r>
                <a:rPr lang="fr-FR" sz="1600" b="1" dirty="0" err="1"/>
                <a:t>Resolution</a:t>
              </a:r>
              <a:endParaRPr lang="fr-FR" sz="1600" b="1" dirty="0"/>
            </a:p>
          </p:txBody>
        </p:sp>
        <p:sp>
          <p:nvSpPr>
            <p:cNvPr id="67" name="ZoneTexte 66">
              <a:extLst>
                <a:ext uri="{FF2B5EF4-FFF2-40B4-BE49-F238E27FC236}">
                  <a16:creationId xmlns:a16="http://schemas.microsoft.com/office/drawing/2014/main" id="{CD50C89A-CFD0-4388-F835-5ED0DC1E4282}"/>
                </a:ext>
              </a:extLst>
            </p:cNvPr>
            <p:cNvSpPr txBox="1"/>
            <p:nvPr/>
          </p:nvSpPr>
          <p:spPr>
            <a:xfrm>
              <a:off x="8499145" y="5185999"/>
              <a:ext cx="1466678" cy="338554"/>
            </a:xfrm>
            <a:prstGeom prst="rect">
              <a:avLst/>
            </a:prstGeom>
            <a:noFill/>
          </p:spPr>
          <p:txBody>
            <a:bodyPr wrap="square" rtlCol="0">
              <a:spAutoFit/>
            </a:bodyPr>
            <a:lstStyle/>
            <a:p>
              <a:pPr algn="ctr"/>
              <a:r>
                <a:rPr lang="fr-FR" sz="1600" b="1" dirty="0" err="1"/>
                <a:t>Easy</a:t>
              </a:r>
              <a:r>
                <a:rPr lang="fr-FR" sz="1600" b="1" dirty="0"/>
                <a:t> To Use</a:t>
              </a:r>
            </a:p>
          </p:txBody>
        </p:sp>
        <p:grpSp>
          <p:nvGrpSpPr>
            <p:cNvPr id="94" name="Groupe 93">
              <a:extLst>
                <a:ext uri="{FF2B5EF4-FFF2-40B4-BE49-F238E27FC236}">
                  <a16:creationId xmlns:a16="http://schemas.microsoft.com/office/drawing/2014/main" id="{CD9AAB11-6256-BFFA-FBD4-3E22632ECF5E}"/>
                </a:ext>
              </a:extLst>
            </p:cNvPr>
            <p:cNvGrpSpPr/>
            <p:nvPr/>
          </p:nvGrpSpPr>
          <p:grpSpPr>
            <a:xfrm>
              <a:off x="8616517" y="3873015"/>
              <a:ext cx="1174786" cy="1107213"/>
              <a:chOff x="5855488" y="5483887"/>
              <a:chExt cx="1174786" cy="1107213"/>
            </a:xfrm>
          </p:grpSpPr>
          <p:sp>
            <p:nvSpPr>
              <p:cNvPr id="75" name="Rectangle : coins arrondis 74">
                <a:extLst>
                  <a:ext uri="{FF2B5EF4-FFF2-40B4-BE49-F238E27FC236}">
                    <a16:creationId xmlns:a16="http://schemas.microsoft.com/office/drawing/2014/main" id="{C6B1603B-7D12-54AC-ECC4-065561B303B4}"/>
                  </a:ext>
                </a:extLst>
              </p:cNvPr>
              <p:cNvSpPr/>
              <p:nvPr/>
            </p:nvSpPr>
            <p:spPr>
              <a:xfrm>
                <a:off x="5855488" y="5483887"/>
                <a:ext cx="1174786" cy="1107213"/>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9" name="Image 18">
                <a:extLst>
                  <a:ext uri="{FF2B5EF4-FFF2-40B4-BE49-F238E27FC236}">
                    <a16:creationId xmlns:a16="http://schemas.microsoft.com/office/drawing/2014/main" id="{F4306268-991F-14CA-CE1F-1CC64B5129BD}"/>
                  </a:ext>
                </a:extLst>
              </p:cNvPr>
              <p:cNvPicPr>
                <a:picLocks noChangeAspect="1"/>
              </p:cNvPicPr>
              <p:nvPr/>
            </p:nvPicPr>
            <p:blipFill>
              <a:blip r:embed="rId9"/>
              <a:stretch>
                <a:fillRect/>
              </a:stretch>
            </p:blipFill>
            <p:spPr>
              <a:xfrm>
                <a:off x="6005011" y="5581605"/>
                <a:ext cx="932889" cy="930633"/>
              </a:xfrm>
              <a:prstGeom prst="rect">
                <a:avLst/>
              </a:prstGeom>
            </p:spPr>
          </p:pic>
        </p:grpSp>
      </p:grpSp>
      <p:pic>
        <p:nvPicPr>
          <p:cNvPr id="1028" name="Picture 4" descr="Data Base Clip Art at Clker.com - vector clip art online, royalty free &amp;  public domain">
            <a:extLst>
              <a:ext uri="{FF2B5EF4-FFF2-40B4-BE49-F238E27FC236}">
                <a16:creationId xmlns:a16="http://schemas.microsoft.com/office/drawing/2014/main" id="{CCF472D5-5956-EC84-7CA4-465BFE68E7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09174" y="469289"/>
            <a:ext cx="2343150" cy="2571533"/>
          </a:xfrm>
          <a:prstGeom prst="rect">
            <a:avLst/>
          </a:prstGeom>
          <a:noFill/>
          <a:extLst>
            <a:ext uri="{909E8E84-426E-40DD-AFC4-6F175D3DCCD1}">
              <a14:hiddenFill xmlns:a14="http://schemas.microsoft.com/office/drawing/2010/main">
                <a:solidFill>
                  <a:srgbClr val="FFFFFF"/>
                </a:solidFill>
              </a14:hiddenFill>
            </a:ext>
          </a:extLst>
        </p:spPr>
      </p:pic>
      <p:sp>
        <p:nvSpPr>
          <p:cNvPr id="102" name="ZoneTexte 101">
            <a:extLst>
              <a:ext uri="{FF2B5EF4-FFF2-40B4-BE49-F238E27FC236}">
                <a16:creationId xmlns:a16="http://schemas.microsoft.com/office/drawing/2014/main" id="{0DC9B277-D4DE-4E36-E05D-2411F68BBECD}"/>
              </a:ext>
            </a:extLst>
          </p:cNvPr>
          <p:cNvSpPr txBox="1"/>
          <p:nvPr/>
        </p:nvSpPr>
        <p:spPr>
          <a:xfrm>
            <a:off x="7654583" y="467525"/>
            <a:ext cx="259739" cy="2492990"/>
          </a:xfrm>
          <a:prstGeom prst="rect">
            <a:avLst/>
          </a:prstGeom>
          <a:noFill/>
        </p:spPr>
        <p:txBody>
          <a:bodyPr wrap="square" rtlCol="0">
            <a:spAutoFit/>
          </a:bodyPr>
          <a:lstStyle/>
          <a:p>
            <a:r>
              <a:rPr lang="fr-FR" sz="1200" b="1" dirty="0">
                <a:ln w="9525">
                  <a:solidFill>
                    <a:schemeClr val="bg1"/>
                  </a:solidFill>
                  <a:prstDash val="solid"/>
                </a:ln>
                <a:effectLst>
                  <a:outerShdw blurRad="12700" dist="38100" dir="2700000" algn="tl" rotWithShape="0">
                    <a:schemeClr val="bg1">
                      <a:lumMod val="50000"/>
                    </a:schemeClr>
                  </a:outerShdw>
                </a:effectLst>
              </a:rPr>
              <a:t>D</a:t>
            </a:r>
          </a:p>
          <a:p>
            <a:r>
              <a:rPr lang="fr-FR" sz="1200" b="1" dirty="0">
                <a:ln w="9525">
                  <a:solidFill>
                    <a:schemeClr val="bg1"/>
                  </a:solidFill>
                  <a:prstDash val="solid"/>
                </a:ln>
                <a:effectLst>
                  <a:outerShdw blurRad="12700" dist="38100" dir="2700000" algn="tl" rotWithShape="0">
                    <a:schemeClr val="bg1">
                      <a:lumMod val="50000"/>
                    </a:schemeClr>
                  </a:outerShdw>
                </a:effectLst>
              </a:rPr>
              <a:t>A</a:t>
            </a:r>
          </a:p>
          <a:p>
            <a:r>
              <a:rPr lang="fr-FR" sz="1200" b="1" dirty="0">
                <a:ln w="9525">
                  <a:solidFill>
                    <a:schemeClr val="bg1"/>
                  </a:solidFill>
                  <a:prstDash val="solid"/>
                </a:ln>
                <a:effectLst>
                  <a:outerShdw blurRad="12700" dist="38100" dir="2700000" algn="tl" rotWithShape="0">
                    <a:schemeClr val="bg1">
                      <a:lumMod val="50000"/>
                    </a:schemeClr>
                  </a:outerShdw>
                </a:effectLst>
              </a:rPr>
              <a:t>T</a:t>
            </a:r>
          </a:p>
          <a:p>
            <a:r>
              <a:rPr lang="fr-FR" sz="1200" b="1" dirty="0">
                <a:ln w="9525">
                  <a:solidFill>
                    <a:schemeClr val="bg1"/>
                  </a:solidFill>
                  <a:prstDash val="solid"/>
                </a:ln>
                <a:effectLst>
                  <a:outerShdw blurRad="12700" dist="38100" dir="2700000" algn="tl" rotWithShape="0">
                    <a:schemeClr val="bg1">
                      <a:lumMod val="50000"/>
                    </a:schemeClr>
                  </a:outerShdw>
                </a:effectLst>
              </a:rPr>
              <a:t>A</a:t>
            </a:r>
          </a:p>
          <a:p>
            <a:endParaRPr lang="fr-FR" sz="1200" b="1" dirty="0">
              <a:ln w="9525">
                <a:solidFill>
                  <a:schemeClr val="bg1"/>
                </a:solidFill>
                <a:prstDash val="solid"/>
              </a:ln>
              <a:effectLst>
                <a:outerShdw blurRad="12700" dist="38100" dir="2700000" algn="tl" rotWithShape="0">
                  <a:schemeClr val="bg1">
                    <a:lumMod val="50000"/>
                  </a:schemeClr>
                </a:outerShdw>
              </a:effectLst>
            </a:endParaRPr>
          </a:p>
          <a:p>
            <a:r>
              <a:rPr lang="fr-FR" sz="1200" b="1" dirty="0">
                <a:ln w="9525">
                  <a:solidFill>
                    <a:schemeClr val="bg1"/>
                  </a:solidFill>
                  <a:prstDash val="solid"/>
                </a:ln>
                <a:effectLst>
                  <a:outerShdw blurRad="12700" dist="38100" dir="2700000" algn="tl" rotWithShape="0">
                    <a:schemeClr val="bg1">
                      <a:lumMod val="50000"/>
                    </a:schemeClr>
                  </a:outerShdw>
                </a:effectLst>
              </a:rPr>
              <a:t>S</a:t>
            </a:r>
          </a:p>
          <a:p>
            <a:r>
              <a:rPr lang="fr-FR" sz="1200" b="1" dirty="0">
                <a:ln w="9525">
                  <a:solidFill>
                    <a:schemeClr val="bg1"/>
                  </a:solidFill>
                  <a:prstDash val="solid"/>
                </a:ln>
                <a:effectLst>
                  <a:outerShdw blurRad="12700" dist="38100" dir="2700000" algn="tl" rotWithShape="0">
                    <a:schemeClr val="bg1">
                      <a:lumMod val="50000"/>
                    </a:schemeClr>
                  </a:outerShdw>
                </a:effectLst>
              </a:rPr>
              <a:t>O</a:t>
            </a:r>
          </a:p>
          <a:p>
            <a:r>
              <a:rPr lang="fr-FR" sz="1200" b="1" dirty="0">
                <a:ln w="9525">
                  <a:solidFill>
                    <a:schemeClr val="bg1"/>
                  </a:solidFill>
                  <a:prstDash val="solid"/>
                </a:ln>
                <a:effectLst>
                  <a:outerShdw blurRad="12700" dist="38100" dir="2700000" algn="tl" rotWithShape="0">
                    <a:schemeClr val="bg1">
                      <a:lumMod val="50000"/>
                    </a:schemeClr>
                  </a:outerShdw>
                </a:effectLst>
              </a:rPr>
              <a:t>U</a:t>
            </a:r>
          </a:p>
          <a:p>
            <a:r>
              <a:rPr lang="fr-FR" sz="1200" b="1" dirty="0">
                <a:ln w="9525">
                  <a:solidFill>
                    <a:schemeClr val="bg1"/>
                  </a:solidFill>
                  <a:prstDash val="solid"/>
                </a:ln>
                <a:effectLst>
                  <a:outerShdw blurRad="12700" dist="38100" dir="2700000" algn="tl" rotWithShape="0">
                    <a:schemeClr val="bg1">
                      <a:lumMod val="50000"/>
                    </a:schemeClr>
                  </a:outerShdw>
                </a:effectLst>
              </a:rPr>
              <a:t>R</a:t>
            </a:r>
          </a:p>
          <a:p>
            <a:r>
              <a:rPr lang="fr-FR" sz="1200" b="1" dirty="0">
                <a:ln w="9525">
                  <a:solidFill>
                    <a:schemeClr val="bg1"/>
                  </a:solidFill>
                  <a:prstDash val="solid"/>
                </a:ln>
                <a:effectLst>
                  <a:outerShdw blurRad="12700" dist="38100" dir="2700000" algn="tl" rotWithShape="0">
                    <a:schemeClr val="bg1">
                      <a:lumMod val="50000"/>
                    </a:schemeClr>
                  </a:outerShdw>
                </a:effectLst>
              </a:rPr>
              <a:t>C</a:t>
            </a:r>
          </a:p>
          <a:p>
            <a:r>
              <a:rPr lang="fr-FR" sz="1200" b="1" dirty="0">
                <a:ln w="9525">
                  <a:solidFill>
                    <a:schemeClr val="bg1"/>
                  </a:solidFill>
                  <a:prstDash val="solid"/>
                </a:ln>
                <a:effectLst>
                  <a:outerShdw blurRad="12700" dist="38100" dir="2700000" algn="tl" rotWithShape="0">
                    <a:schemeClr val="bg1">
                      <a:lumMod val="50000"/>
                    </a:schemeClr>
                  </a:outerShdw>
                </a:effectLst>
              </a:rPr>
              <a:t>I</a:t>
            </a:r>
          </a:p>
          <a:p>
            <a:r>
              <a:rPr lang="fr-FR" sz="1200" b="1" dirty="0">
                <a:ln w="9525">
                  <a:solidFill>
                    <a:schemeClr val="bg1"/>
                  </a:solidFill>
                  <a:prstDash val="solid"/>
                </a:ln>
                <a:effectLst>
                  <a:outerShdw blurRad="12700" dist="38100" dir="2700000" algn="tl" rotWithShape="0">
                    <a:schemeClr val="bg1">
                      <a:lumMod val="50000"/>
                    </a:schemeClr>
                  </a:outerShdw>
                </a:effectLst>
              </a:rPr>
              <a:t>N</a:t>
            </a:r>
          </a:p>
          <a:p>
            <a:r>
              <a:rPr lang="fr-FR" sz="1200" b="1" dirty="0">
                <a:ln w="9525">
                  <a:solidFill>
                    <a:schemeClr val="bg1"/>
                  </a:solidFill>
                  <a:prstDash val="solid"/>
                </a:ln>
                <a:effectLst>
                  <a:outerShdw blurRad="12700" dist="38100" dir="2700000" algn="tl" rotWithShape="0">
                    <a:schemeClr val="bg1">
                      <a:lumMod val="50000"/>
                    </a:schemeClr>
                  </a:outerShdw>
                </a:effectLst>
              </a:rPr>
              <a:t>G</a:t>
            </a:r>
          </a:p>
        </p:txBody>
      </p:sp>
      <p:sp>
        <p:nvSpPr>
          <p:cNvPr id="103" name="Rectangle : coins arrondis 102">
            <a:extLst>
              <a:ext uri="{FF2B5EF4-FFF2-40B4-BE49-F238E27FC236}">
                <a16:creationId xmlns:a16="http://schemas.microsoft.com/office/drawing/2014/main" id="{763E46F0-F8BD-D4BF-3EF5-107F16A613C7}"/>
              </a:ext>
            </a:extLst>
          </p:cNvPr>
          <p:cNvSpPr/>
          <p:nvPr/>
        </p:nvSpPr>
        <p:spPr>
          <a:xfrm>
            <a:off x="343042" y="4259921"/>
            <a:ext cx="11505916" cy="2067167"/>
          </a:xfrm>
          <a:prstGeom prst="roundRect">
            <a:avLst/>
          </a:prstGeom>
          <a:noFill/>
          <a:ln>
            <a:solidFill>
              <a:srgbClr val="273663"/>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192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191757" y="373631"/>
            <a:ext cx="3381742" cy="370166"/>
          </a:xfrm>
        </p:spPr>
        <p:txBody>
          <a:bodyPr rtlCol="0"/>
          <a:lstStyle/>
          <a:p>
            <a:pPr algn="ctr" rtl="0"/>
            <a:r>
              <a:rPr lang="fr-FR" dirty="0"/>
              <a:t>données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11</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26789" y="772674"/>
            <a:ext cx="2580395"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grpSp>
        <p:nvGrpSpPr>
          <p:cNvPr id="99" name="Groupe 98">
            <a:extLst>
              <a:ext uri="{FF2B5EF4-FFF2-40B4-BE49-F238E27FC236}">
                <a16:creationId xmlns:a16="http://schemas.microsoft.com/office/drawing/2014/main" id="{2ECD21E5-0030-5F58-24B9-5E721AAC1E0B}"/>
              </a:ext>
            </a:extLst>
          </p:cNvPr>
          <p:cNvGrpSpPr/>
          <p:nvPr/>
        </p:nvGrpSpPr>
        <p:grpSpPr>
          <a:xfrm>
            <a:off x="176529" y="1156956"/>
            <a:ext cx="6242025" cy="1955940"/>
            <a:chOff x="144239" y="1085280"/>
            <a:chExt cx="6501285" cy="2018127"/>
          </a:xfrm>
        </p:grpSpPr>
        <p:sp>
          <p:nvSpPr>
            <p:cNvPr id="39" name="Rectangle : coins arrondis 38">
              <a:extLst>
                <a:ext uri="{FF2B5EF4-FFF2-40B4-BE49-F238E27FC236}">
                  <a16:creationId xmlns:a16="http://schemas.microsoft.com/office/drawing/2014/main" id="{4E888289-7837-33EB-D13E-E19D3D2BD524}"/>
                </a:ext>
              </a:extLst>
            </p:cNvPr>
            <p:cNvSpPr/>
            <p:nvPr/>
          </p:nvSpPr>
          <p:spPr>
            <a:xfrm>
              <a:off x="144239" y="1085280"/>
              <a:ext cx="6501285" cy="201812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8" name="ZoneTexte 7">
              <a:extLst>
                <a:ext uri="{FF2B5EF4-FFF2-40B4-BE49-F238E27FC236}">
                  <a16:creationId xmlns:a16="http://schemas.microsoft.com/office/drawing/2014/main" id="{261EB1F1-BB45-649D-AE22-74B93EB354D4}"/>
                </a:ext>
              </a:extLst>
            </p:cNvPr>
            <p:cNvSpPr txBox="1"/>
            <p:nvPr/>
          </p:nvSpPr>
          <p:spPr>
            <a:xfrm>
              <a:off x="232804" y="1231243"/>
              <a:ext cx="6324154" cy="1524298"/>
            </a:xfrm>
            <a:prstGeom prst="rect">
              <a:avLst/>
            </a:prstGeom>
            <a:noFill/>
          </p:spPr>
          <p:txBody>
            <a:bodyPr wrap="square">
              <a:spAutoFit/>
            </a:bodyPr>
            <a:lstStyle/>
            <a:p>
              <a:pPr algn="just"/>
              <a:r>
                <a:rPr lang="fr-FR" dirty="0">
                  <a:latin typeface="Verdana" panose="020B0604030504040204" pitchFamily="34" charset="0"/>
                  <a:ea typeface="Verdana" panose="020B0604030504040204" pitchFamily="34" charset="0"/>
                </a:rPr>
                <a:t>Nous avons récupéré les données climatiques de la ville de Dakar pour les années de 2002 à 2022 pour chaque heure pour un total de 184.080 lignes et 8 colonnes.</a:t>
              </a:r>
            </a:p>
            <a:p>
              <a:pPr algn="just"/>
              <a:r>
                <a:rPr lang="fr-FR" dirty="0">
                  <a:latin typeface="Verdana" panose="020B0604030504040204" pitchFamily="34" charset="0"/>
                  <a:ea typeface="Verdana" panose="020B0604030504040204" pitchFamily="34" charset="0"/>
                </a:rPr>
                <a:t>Les caractéristiques des données récupérés sont :</a:t>
              </a:r>
            </a:p>
          </p:txBody>
        </p:sp>
      </p:grpSp>
      <p:grpSp>
        <p:nvGrpSpPr>
          <p:cNvPr id="29" name="Groupe 28">
            <a:extLst>
              <a:ext uri="{FF2B5EF4-FFF2-40B4-BE49-F238E27FC236}">
                <a16:creationId xmlns:a16="http://schemas.microsoft.com/office/drawing/2014/main" id="{21F3BC44-C96A-8C37-55D4-F4A719D281F0}"/>
              </a:ext>
            </a:extLst>
          </p:cNvPr>
          <p:cNvGrpSpPr/>
          <p:nvPr/>
        </p:nvGrpSpPr>
        <p:grpSpPr>
          <a:xfrm>
            <a:off x="10874595" y="53876"/>
            <a:ext cx="1271925" cy="1110090"/>
            <a:chOff x="9554684" y="158491"/>
            <a:chExt cx="2506309" cy="2571533"/>
          </a:xfrm>
        </p:grpSpPr>
        <p:pic>
          <p:nvPicPr>
            <p:cNvPr id="1028" name="Picture 4" descr="Data Base Clip Art at Clker.com - vector clip art online, royalty free &amp;  public domain">
              <a:extLst>
                <a:ext uri="{FF2B5EF4-FFF2-40B4-BE49-F238E27FC236}">
                  <a16:creationId xmlns:a16="http://schemas.microsoft.com/office/drawing/2014/main" id="{CCF472D5-5956-EC84-7CA4-465BFE68E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7842" y="158491"/>
              <a:ext cx="2343151" cy="2571533"/>
            </a:xfrm>
            <a:prstGeom prst="rect">
              <a:avLst/>
            </a:prstGeom>
            <a:noFill/>
            <a:extLst>
              <a:ext uri="{909E8E84-426E-40DD-AFC4-6F175D3DCCD1}">
                <a14:hiddenFill xmlns:a14="http://schemas.microsoft.com/office/drawing/2010/main">
                  <a:solidFill>
                    <a:srgbClr val="FFFFFF"/>
                  </a:solidFill>
                </a14:hiddenFill>
              </a:ext>
            </a:extLst>
          </p:spPr>
        </p:pic>
        <p:sp>
          <p:nvSpPr>
            <p:cNvPr id="102" name="ZoneTexte 101">
              <a:extLst>
                <a:ext uri="{FF2B5EF4-FFF2-40B4-BE49-F238E27FC236}">
                  <a16:creationId xmlns:a16="http://schemas.microsoft.com/office/drawing/2014/main" id="{0DC9B277-D4DE-4E36-E05D-2411F68BBECD}"/>
                </a:ext>
              </a:extLst>
            </p:cNvPr>
            <p:cNvSpPr txBox="1"/>
            <p:nvPr/>
          </p:nvSpPr>
          <p:spPr>
            <a:xfrm>
              <a:off x="9554684" y="488633"/>
              <a:ext cx="259739" cy="1711121"/>
            </a:xfrm>
            <a:prstGeom prst="rect">
              <a:avLst/>
            </a:prstGeom>
            <a:noFill/>
          </p:spPr>
          <p:txBody>
            <a:bodyPr wrap="square" rtlCol="0">
              <a:spAutoFit/>
            </a:bodyPr>
            <a:lstStyle/>
            <a:p>
              <a:r>
                <a:rPr lang="fr-FR" sz="1050" b="1" dirty="0">
                  <a:ln w="9525">
                    <a:solidFill>
                      <a:schemeClr val="bg1"/>
                    </a:solidFill>
                    <a:prstDash val="solid"/>
                  </a:ln>
                  <a:effectLst>
                    <a:outerShdw blurRad="12700" dist="38100" dir="2700000" algn="tl" rotWithShape="0">
                      <a:schemeClr val="bg1">
                        <a:lumMod val="50000"/>
                      </a:schemeClr>
                    </a:outerShdw>
                  </a:effectLst>
                </a:rPr>
                <a:t>D</a:t>
              </a:r>
            </a:p>
            <a:p>
              <a:r>
                <a:rPr lang="fr-FR" sz="1050" b="1" dirty="0">
                  <a:ln w="9525">
                    <a:solidFill>
                      <a:schemeClr val="bg1"/>
                    </a:solidFill>
                    <a:prstDash val="solid"/>
                  </a:ln>
                  <a:effectLst>
                    <a:outerShdw blurRad="12700" dist="38100" dir="2700000" algn="tl" rotWithShape="0">
                      <a:schemeClr val="bg1">
                        <a:lumMod val="50000"/>
                      </a:schemeClr>
                    </a:outerShdw>
                  </a:effectLst>
                </a:rPr>
                <a:t>A</a:t>
              </a:r>
            </a:p>
            <a:p>
              <a:r>
                <a:rPr lang="fr-FR" sz="1050" b="1" dirty="0">
                  <a:ln w="9525">
                    <a:solidFill>
                      <a:schemeClr val="bg1"/>
                    </a:solidFill>
                    <a:prstDash val="solid"/>
                  </a:ln>
                  <a:effectLst>
                    <a:outerShdw blurRad="12700" dist="38100" dir="2700000" algn="tl" rotWithShape="0">
                      <a:schemeClr val="bg1">
                        <a:lumMod val="50000"/>
                      </a:schemeClr>
                    </a:outerShdw>
                  </a:effectLst>
                </a:rPr>
                <a:t>T</a:t>
              </a:r>
            </a:p>
            <a:p>
              <a:r>
                <a:rPr lang="fr-FR" sz="1050" b="1" dirty="0">
                  <a:ln w="9525">
                    <a:solidFill>
                      <a:schemeClr val="bg1"/>
                    </a:solidFill>
                    <a:prstDash val="solid"/>
                  </a:ln>
                  <a:effectLst>
                    <a:outerShdw blurRad="12700" dist="38100" dir="2700000" algn="tl" rotWithShape="0">
                      <a:schemeClr val="bg1">
                        <a:lumMod val="50000"/>
                      </a:schemeClr>
                    </a:outerShdw>
                  </a:effectLst>
                </a:rPr>
                <a:t>A</a:t>
              </a:r>
            </a:p>
          </p:txBody>
        </p:sp>
      </p:grpSp>
      <p:graphicFrame>
        <p:nvGraphicFramePr>
          <p:cNvPr id="4" name="Tableau 8">
            <a:extLst>
              <a:ext uri="{FF2B5EF4-FFF2-40B4-BE49-F238E27FC236}">
                <a16:creationId xmlns:a16="http://schemas.microsoft.com/office/drawing/2014/main" id="{B480F4CC-0AC1-6A62-4CC5-E7A3A0CA5FB1}"/>
              </a:ext>
            </a:extLst>
          </p:cNvPr>
          <p:cNvGraphicFramePr>
            <a:graphicFrameLocks noGrp="1"/>
          </p:cNvGraphicFramePr>
          <p:nvPr>
            <p:extLst>
              <p:ext uri="{D42A27DB-BD31-4B8C-83A1-F6EECF244321}">
                <p14:modId xmlns:p14="http://schemas.microsoft.com/office/powerpoint/2010/main" val="3445577030"/>
              </p:ext>
            </p:extLst>
          </p:nvPr>
        </p:nvGraphicFramePr>
        <p:xfrm>
          <a:off x="283971" y="3658642"/>
          <a:ext cx="5812029" cy="2925508"/>
        </p:xfrm>
        <a:graphic>
          <a:graphicData uri="http://schemas.openxmlformats.org/drawingml/2006/table">
            <a:tbl>
              <a:tblPr firstRow="1" bandRow="1">
                <a:tableStyleId>{21E4AEA4-8DFA-4A89-87EB-49C32662AFE0}</a:tableStyleId>
              </a:tblPr>
              <a:tblGrid>
                <a:gridCol w="1937343">
                  <a:extLst>
                    <a:ext uri="{9D8B030D-6E8A-4147-A177-3AD203B41FA5}">
                      <a16:colId xmlns:a16="http://schemas.microsoft.com/office/drawing/2014/main" val="3910643797"/>
                    </a:ext>
                  </a:extLst>
                </a:gridCol>
                <a:gridCol w="1937343">
                  <a:extLst>
                    <a:ext uri="{9D8B030D-6E8A-4147-A177-3AD203B41FA5}">
                      <a16:colId xmlns:a16="http://schemas.microsoft.com/office/drawing/2014/main" val="4144828294"/>
                    </a:ext>
                  </a:extLst>
                </a:gridCol>
                <a:gridCol w="1937343">
                  <a:extLst>
                    <a:ext uri="{9D8B030D-6E8A-4147-A177-3AD203B41FA5}">
                      <a16:colId xmlns:a16="http://schemas.microsoft.com/office/drawing/2014/main" val="161011374"/>
                    </a:ext>
                  </a:extLst>
                </a:gridCol>
              </a:tblGrid>
              <a:tr h="315058">
                <a:tc>
                  <a:txBody>
                    <a:bodyPr/>
                    <a:lstStyle/>
                    <a:p>
                      <a:pPr algn="ctr"/>
                      <a:r>
                        <a:rPr lang="fr-FR" sz="1400" dirty="0"/>
                        <a:t>Name</a:t>
                      </a:r>
                    </a:p>
                  </a:txBody>
                  <a:tcPr/>
                </a:tc>
                <a:tc>
                  <a:txBody>
                    <a:bodyPr/>
                    <a:lstStyle/>
                    <a:p>
                      <a:pPr algn="ctr"/>
                      <a:r>
                        <a:rPr lang="fr-FR" sz="1400" dirty="0"/>
                        <a:t>Unit</a:t>
                      </a:r>
                    </a:p>
                  </a:txBody>
                  <a:tcPr/>
                </a:tc>
                <a:tc>
                  <a:txBody>
                    <a:bodyPr/>
                    <a:lstStyle/>
                    <a:p>
                      <a:pPr algn="ctr"/>
                      <a:r>
                        <a:rPr lang="fr-FR" sz="1400" dirty="0"/>
                        <a:t>Format</a:t>
                      </a:r>
                    </a:p>
                  </a:txBody>
                  <a:tcPr/>
                </a:tc>
                <a:extLst>
                  <a:ext uri="{0D108BD9-81ED-4DB2-BD59-A6C34878D82A}">
                    <a16:rowId xmlns:a16="http://schemas.microsoft.com/office/drawing/2014/main" val="1866318769"/>
                  </a:ext>
                </a:extLst>
              </a:tr>
              <a:tr h="315058">
                <a:tc>
                  <a:txBody>
                    <a:bodyPr/>
                    <a:lstStyle/>
                    <a:p>
                      <a:pPr algn="l"/>
                      <a:r>
                        <a:rPr lang="en-US" sz="1400" dirty="0"/>
                        <a:t>time</a:t>
                      </a:r>
                      <a:endParaRPr lang="fr-FR" sz="1400" dirty="0"/>
                    </a:p>
                  </a:txBody>
                  <a:tcPr/>
                </a:tc>
                <a:tc>
                  <a:txBody>
                    <a:bodyPr/>
                    <a:lstStyle/>
                    <a:p>
                      <a:pPr algn="ctr"/>
                      <a:r>
                        <a:rPr lang="fr-FR" sz="1400" dirty="0"/>
                        <a:t>iso8601</a:t>
                      </a:r>
                    </a:p>
                  </a:txBody>
                  <a:tcPr/>
                </a:tc>
                <a:tc>
                  <a:txBody>
                    <a:bodyPr/>
                    <a:lstStyle/>
                    <a:p>
                      <a:pPr algn="ctr"/>
                      <a:r>
                        <a:rPr lang="fr-FR" sz="1400" dirty="0"/>
                        <a:t>Date</a:t>
                      </a:r>
                    </a:p>
                  </a:txBody>
                  <a:tcPr/>
                </a:tc>
                <a:extLst>
                  <a:ext uri="{0D108BD9-81ED-4DB2-BD59-A6C34878D82A}">
                    <a16:rowId xmlns:a16="http://schemas.microsoft.com/office/drawing/2014/main" val="1810091030"/>
                  </a:ext>
                </a:extLst>
              </a:tr>
              <a:tr h="315058">
                <a:tc>
                  <a:txBody>
                    <a:bodyPr/>
                    <a:lstStyle/>
                    <a:p>
                      <a:pPr algn="l"/>
                      <a:r>
                        <a:rPr lang="en-US" sz="1400" dirty="0"/>
                        <a:t>temperature</a:t>
                      </a:r>
                      <a:endParaRPr lang="fr-FR" sz="1400" dirty="0"/>
                    </a:p>
                  </a:txBody>
                  <a:tcPr/>
                </a:tc>
                <a:tc>
                  <a:txBody>
                    <a:bodyPr/>
                    <a:lstStyle/>
                    <a:p>
                      <a:pPr algn="ctr"/>
                      <a:r>
                        <a:rPr lang="fr-FR" sz="1400" b="0" i="0" kern="1200" dirty="0">
                          <a:solidFill>
                            <a:schemeClr val="dk1"/>
                          </a:solidFill>
                          <a:effectLst/>
                          <a:latin typeface="+mn-lt"/>
                          <a:ea typeface="+mn-ea"/>
                          <a:cs typeface="+mn-cs"/>
                        </a:rPr>
                        <a:t>°C</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877239930"/>
                  </a:ext>
                </a:extLst>
              </a:tr>
              <a:tr h="405044">
                <a:tc>
                  <a:txBody>
                    <a:bodyPr/>
                    <a:lstStyle/>
                    <a:p>
                      <a:pPr algn="l"/>
                      <a:r>
                        <a:rPr lang="en-US" sz="1400" dirty="0" err="1"/>
                        <a:t>apparentTemperature</a:t>
                      </a:r>
                      <a:endParaRPr lang="fr-FR"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b="0" i="0" kern="1200" dirty="0">
                          <a:solidFill>
                            <a:schemeClr val="dk1"/>
                          </a:solidFill>
                          <a:effectLst/>
                          <a:latin typeface="+mn-lt"/>
                          <a:ea typeface="+mn-ea"/>
                          <a:cs typeface="+mn-cs"/>
                        </a:rPr>
                        <a:t>°C</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3728185469"/>
                  </a:ext>
                </a:extLst>
              </a:tr>
              <a:tr h="315058">
                <a:tc>
                  <a:txBody>
                    <a:bodyPr/>
                    <a:lstStyle/>
                    <a:p>
                      <a:pPr algn="l"/>
                      <a:r>
                        <a:rPr lang="en-US" sz="1400" dirty="0" err="1"/>
                        <a:t>relativeHumidity</a:t>
                      </a:r>
                      <a:endParaRPr lang="fr-FR" sz="1400" dirty="0"/>
                    </a:p>
                  </a:txBody>
                  <a:tcPr/>
                </a:tc>
                <a:tc>
                  <a:txBody>
                    <a:bodyPr/>
                    <a:lstStyle/>
                    <a:p>
                      <a:pPr algn="ctr"/>
                      <a:r>
                        <a:rPr lang="fr-FR" sz="1400" b="0" i="0" kern="1200" dirty="0">
                          <a:solidFill>
                            <a:schemeClr val="dk1"/>
                          </a:solidFill>
                          <a:effectLst/>
                          <a:latin typeface="+mn-lt"/>
                          <a:ea typeface="+mn-ea"/>
                          <a:cs typeface="+mn-cs"/>
                        </a:rPr>
                        <a:t>%</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2050567890"/>
                  </a:ext>
                </a:extLst>
              </a:tr>
              <a:tr h="315058">
                <a:tc>
                  <a:txBody>
                    <a:bodyPr/>
                    <a:lstStyle/>
                    <a:p>
                      <a:pPr algn="l"/>
                      <a:r>
                        <a:rPr lang="en-US" sz="1400" dirty="0" err="1"/>
                        <a:t>windSpeed</a:t>
                      </a:r>
                      <a:endParaRPr lang="fr-FR" sz="1400" dirty="0"/>
                    </a:p>
                  </a:txBody>
                  <a:tcPr/>
                </a:tc>
                <a:tc>
                  <a:txBody>
                    <a:bodyPr/>
                    <a:lstStyle/>
                    <a:p>
                      <a:pPr algn="ctr"/>
                      <a:r>
                        <a:rPr lang="fr-FR" sz="1400" b="0" i="0" kern="1200" dirty="0">
                          <a:solidFill>
                            <a:schemeClr val="dk1"/>
                          </a:solidFill>
                          <a:effectLst/>
                          <a:latin typeface="+mn-lt"/>
                          <a:ea typeface="+mn-ea"/>
                          <a:cs typeface="+mn-cs"/>
                        </a:rPr>
                        <a:t>km/h</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68244501"/>
                  </a:ext>
                </a:extLst>
              </a:tr>
              <a:tr h="315058">
                <a:tc>
                  <a:txBody>
                    <a:bodyPr/>
                    <a:lstStyle/>
                    <a:p>
                      <a:pPr algn="l"/>
                      <a:r>
                        <a:rPr lang="en-US" sz="1400" dirty="0"/>
                        <a:t>pressure</a:t>
                      </a:r>
                      <a:endParaRPr lang="fr-FR" sz="1400" dirty="0"/>
                    </a:p>
                  </a:txBody>
                  <a:tcPr/>
                </a:tc>
                <a:tc>
                  <a:txBody>
                    <a:bodyPr/>
                    <a:lstStyle/>
                    <a:p>
                      <a:pPr algn="ctr"/>
                      <a:r>
                        <a:rPr lang="fr-FR" sz="1400" b="0" i="0" kern="1200" dirty="0">
                          <a:solidFill>
                            <a:schemeClr val="dk1"/>
                          </a:solidFill>
                          <a:effectLst/>
                          <a:latin typeface="+mn-lt"/>
                          <a:ea typeface="+mn-ea"/>
                          <a:cs typeface="+mn-cs"/>
                        </a:rPr>
                        <a:t>hPa</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2046842010"/>
                  </a:ext>
                </a:extLst>
              </a:tr>
              <a:tr h="315058">
                <a:tc>
                  <a:txBody>
                    <a:bodyPr/>
                    <a:lstStyle/>
                    <a:p>
                      <a:pPr algn="l"/>
                      <a:r>
                        <a:rPr lang="en-US" sz="1400" dirty="0" err="1"/>
                        <a:t>weathercode</a:t>
                      </a:r>
                      <a:endParaRPr lang="fr-FR" sz="1400" dirty="0"/>
                    </a:p>
                  </a:txBody>
                  <a:tcPr/>
                </a:tc>
                <a:tc>
                  <a:txBody>
                    <a:bodyPr/>
                    <a:lstStyle/>
                    <a:p>
                      <a:pPr algn="ctr"/>
                      <a:r>
                        <a:rPr lang="fr-FR" sz="1400" b="0" i="0" kern="1200" dirty="0">
                          <a:solidFill>
                            <a:schemeClr val="dk1"/>
                          </a:solidFill>
                          <a:effectLst/>
                          <a:latin typeface="+mn-lt"/>
                          <a:ea typeface="+mn-ea"/>
                          <a:cs typeface="+mn-cs"/>
                        </a:rPr>
                        <a:t>WMO code</a:t>
                      </a:r>
                      <a:endParaRPr lang="fr-FR" sz="1400" dirty="0"/>
                    </a:p>
                  </a:txBody>
                  <a:tcPr/>
                </a:tc>
                <a:tc>
                  <a:txBody>
                    <a:bodyPr/>
                    <a:lstStyle/>
                    <a:p>
                      <a:pPr algn="ctr"/>
                      <a:r>
                        <a:rPr lang="fr-FR" sz="1400" dirty="0" err="1"/>
                        <a:t>ategorial</a:t>
                      </a:r>
                      <a:endParaRPr lang="fr-FR" sz="1400" dirty="0"/>
                    </a:p>
                  </a:txBody>
                  <a:tcPr/>
                </a:tc>
                <a:extLst>
                  <a:ext uri="{0D108BD9-81ED-4DB2-BD59-A6C34878D82A}">
                    <a16:rowId xmlns:a16="http://schemas.microsoft.com/office/drawing/2014/main" val="29032666"/>
                  </a:ext>
                </a:extLst>
              </a:tr>
              <a:tr h="315058">
                <a:tc>
                  <a:txBody>
                    <a:bodyPr/>
                    <a:lstStyle/>
                    <a:p>
                      <a:pPr algn="l"/>
                      <a:r>
                        <a:rPr lang="en-US" sz="1400" dirty="0"/>
                        <a:t>rain</a:t>
                      </a:r>
                      <a:endParaRPr lang="fr-FR" sz="1400" dirty="0"/>
                    </a:p>
                  </a:txBody>
                  <a:tcPr/>
                </a:tc>
                <a:tc>
                  <a:txBody>
                    <a:bodyPr/>
                    <a:lstStyle/>
                    <a:p>
                      <a:pPr algn="ctr"/>
                      <a:r>
                        <a:rPr lang="fr-FR" sz="1400" b="0" i="0" kern="1200" dirty="0">
                          <a:solidFill>
                            <a:schemeClr val="dk1"/>
                          </a:solidFill>
                          <a:effectLst/>
                          <a:latin typeface="+mn-lt"/>
                          <a:ea typeface="+mn-ea"/>
                          <a:cs typeface="+mn-cs"/>
                        </a:rPr>
                        <a:t>mm</a:t>
                      </a:r>
                      <a:endParaRPr lang="fr-FR" sz="1400" dirty="0"/>
                    </a:p>
                  </a:txBody>
                  <a:tcPr/>
                </a:tc>
                <a:tc>
                  <a:txBody>
                    <a:bodyPr/>
                    <a:lstStyle/>
                    <a:p>
                      <a:pPr algn="ctr"/>
                      <a:r>
                        <a:rPr lang="fr-FR" sz="1400" dirty="0" err="1"/>
                        <a:t>Float</a:t>
                      </a:r>
                      <a:endParaRPr lang="fr-FR" sz="1400" dirty="0"/>
                    </a:p>
                  </a:txBody>
                  <a:tcPr/>
                </a:tc>
                <a:extLst>
                  <a:ext uri="{0D108BD9-81ED-4DB2-BD59-A6C34878D82A}">
                    <a16:rowId xmlns:a16="http://schemas.microsoft.com/office/drawing/2014/main" val="1394627203"/>
                  </a:ext>
                </a:extLst>
              </a:tr>
            </a:tbl>
          </a:graphicData>
        </a:graphic>
      </p:graphicFrame>
      <p:pic>
        <p:nvPicPr>
          <p:cNvPr id="22" name="Image 21">
            <a:extLst>
              <a:ext uri="{FF2B5EF4-FFF2-40B4-BE49-F238E27FC236}">
                <a16:creationId xmlns:a16="http://schemas.microsoft.com/office/drawing/2014/main" id="{02FE33AB-EAFD-885B-1DA1-0B74336D7594}"/>
              </a:ext>
            </a:extLst>
          </p:cNvPr>
          <p:cNvPicPr>
            <a:picLocks noChangeAspect="1"/>
          </p:cNvPicPr>
          <p:nvPr/>
        </p:nvPicPr>
        <p:blipFill>
          <a:blip r:embed="rId4"/>
          <a:stretch>
            <a:fillRect/>
          </a:stretch>
        </p:blipFill>
        <p:spPr>
          <a:xfrm>
            <a:off x="7153891" y="2489137"/>
            <a:ext cx="4557110" cy="665204"/>
          </a:xfrm>
          <a:prstGeom prst="rect">
            <a:avLst/>
          </a:prstGeom>
        </p:spPr>
      </p:pic>
      <p:pic>
        <p:nvPicPr>
          <p:cNvPr id="25" name="Image 24">
            <a:extLst>
              <a:ext uri="{FF2B5EF4-FFF2-40B4-BE49-F238E27FC236}">
                <a16:creationId xmlns:a16="http://schemas.microsoft.com/office/drawing/2014/main" id="{C6D7914A-D9F6-26CC-76EF-5EBAA4EE1F32}"/>
              </a:ext>
            </a:extLst>
          </p:cNvPr>
          <p:cNvPicPr>
            <a:picLocks noChangeAspect="1"/>
          </p:cNvPicPr>
          <p:nvPr/>
        </p:nvPicPr>
        <p:blipFill>
          <a:blip r:embed="rId5"/>
          <a:stretch>
            <a:fillRect/>
          </a:stretch>
        </p:blipFill>
        <p:spPr>
          <a:xfrm>
            <a:off x="7500521" y="3681973"/>
            <a:ext cx="4010037" cy="2210827"/>
          </a:xfrm>
          <a:prstGeom prst="rect">
            <a:avLst/>
          </a:prstGeom>
        </p:spPr>
      </p:pic>
      <p:sp>
        <p:nvSpPr>
          <p:cNvPr id="30" name="Rectangle : coins arrondis 29">
            <a:extLst>
              <a:ext uri="{FF2B5EF4-FFF2-40B4-BE49-F238E27FC236}">
                <a16:creationId xmlns:a16="http://schemas.microsoft.com/office/drawing/2014/main" id="{FA97E7FB-9DF9-F61C-8D54-39DACA75DB2F}"/>
              </a:ext>
            </a:extLst>
          </p:cNvPr>
          <p:cNvSpPr/>
          <p:nvPr/>
        </p:nvSpPr>
        <p:spPr>
          <a:xfrm>
            <a:off x="7266503" y="1163966"/>
            <a:ext cx="4318398" cy="749877"/>
          </a:xfrm>
          <a:prstGeom prst="roundRect">
            <a:avLst/>
          </a:prstGeom>
          <a:solidFill>
            <a:srgbClr val="F7F7F7"/>
          </a:solidFill>
          <a:ln w="3810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2000" b="1" cap="none" dirty="0">
                <a:solidFill>
                  <a:schemeClr val="bg2">
                    <a:lumMod val="75000"/>
                  </a:schemeClr>
                </a:solidFill>
                <a:latin typeface="Gill Sans MT (En-têtes)"/>
              </a:rPr>
              <a:t>Data end-point and </a:t>
            </a:r>
            <a:r>
              <a:rPr lang="fr-FR" sz="2000" b="1" dirty="0" err="1">
                <a:solidFill>
                  <a:schemeClr val="bg2">
                    <a:lumMod val="75000"/>
                  </a:schemeClr>
                </a:solidFill>
                <a:latin typeface="Gill Sans MT (En-têtes)"/>
              </a:rPr>
              <a:t>P</a:t>
            </a:r>
            <a:r>
              <a:rPr lang="fr-FR" sz="2000" b="1" cap="none" dirty="0" err="1">
                <a:solidFill>
                  <a:schemeClr val="bg2">
                    <a:lumMod val="75000"/>
                  </a:schemeClr>
                </a:solidFill>
                <a:latin typeface="Gill Sans MT (En-têtes)"/>
              </a:rPr>
              <a:t>arameters</a:t>
            </a:r>
            <a:endParaRPr lang="fr-FR" sz="2000" b="1" cap="none" dirty="0">
              <a:solidFill>
                <a:schemeClr val="bg2">
                  <a:lumMod val="75000"/>
                </a:schemeClr>
              </a:solidFill>
              <a:latin typeface="Gill Sans MT (En-têtes)"/>
            </a:endParaRPr>
          </a:p>
        </p:txBody>
      </p:sp>
      <p:sp>
        <p:nvSpPr>
          <p:cNvPr id="31" name="objet 7" descr="Rectangle beige">
            <a:extLst>
              <a:ext uri="{FF2B5EF4-FFF2-40B4-BE49-F238E27FC236}">
                <a16:creationId xmlns:a16="http://schemas.microsoft.com/office/drawing/2014/main" id="{E91985C1-568A-9E9D-434F-E06AE3D8D150}"/>
              </a:ext>
            </a:extLst>
          </p:cNvPr>
          <p:cNvSpPr/>
          <p:nvPr/>
        </p:nvSpPr>
        <p:spPr bwMode="white">
          <a:xfrm rot="16200000" flipV="1">
            <a:off x="4096320" y="3880304"/>
            <a:ext cx="5492417"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Tree>
    <p:extLst>
      <p:ext uri="{BB962C8B-B14F-4D97-AF65-F5344CB8AC3E}">
        <p14:creationId xmlns:p14="http://schemas.microsoft.com/office/powerpoint/2010/main" val="3292879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12</a:t>
            </a:fld>
            <a:endParaRPr lang="fr-FR" sz="1000" dirty="0"/>
          </a:p>
        </p:txBody>
      </p:sp>
      <p:sp>
        <p:nvSpPr>
          <p:cNvPr id="2" name="Titre 2">
            <a:extLst>
              <a:ext uri="{FF2B5EF4-FFF2-40B4-BE49-F238E27FC236}">
                <a16:creationId xmlns:a16="http://schemas.microsoft.com/office/drawing/2014/main" id="{675898F7-7EF3-40FC-46FF-E2B158B5730F}"/>
              </a:ext>
            </a:extLst>
          </p:cNvPr>
          <p:cNvSpPr>
            <a:spLocks noGrp="1"/>
          </p:cNvSpPr>
          <p:nvPr>
            <p:ph type="title"/>
          </p:nvPr>
        </p:nvSpPr>
        <p:spPr>
          <a:xfrm>
            <a:off x="-163726" y="399397"/>
            <a:ext cx="2754525" cy="370166"/>
          </a:xfrm>
        </p:spPr>
        <p:txBody>
          <a:bodyPr rtlCol="0"/>
          <a:lstStyle/>
          <a:p>
            <a:pPr algn="ctr" rtl="0"/>
            <a:r>
              <a:rPr lang="fr-FR" dirty="0"/>
              <a:t>Filebeat</a:t>
            </a:r>
          </a:p>
        </p:txBody>
      </p:sp>
      <p:sp>
        <p:nvSpPr>
          <p:cNvPr id="3" name="objet 7" descr="Rectangle beige">
            <a:extLst>
              <a:ext uri="{FF2B5EF4-FFF2-40B4-BE49-F238E27FC236}">
                <a16:creationId xmlns:a16="http://schemas.microsoft.com/office/drawing/2014/main" id="{8B8C711A-0536-8FE6-D2B7-BE7573E76822}"/>
              </a:ext>
            </a:extLst>
          </p:cNvPr>
          <p:cNvSpPr/>
          <p:nvPr/>
        </p:nvSpPr>
        <p:spPr bwMode="white">
          <a:xfrm flipV="1">
            <a:off x="274425" y="857966"/>
            <a:ext cx="2011576" cy="85008"/>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pic>
        <p:nvPicPr>
          <p:cNvPr id="2050" name="Picture 2" descr="elastic/filebeat - Certified Container Image - Red Hat Ecosystem Catalog">
            <a:extLst>
              <a:ext uri="{FF2B5EF4-FFF2-40B4-BE49-F238E27FC236}">
                <a16:creationId xmlns:a16="http://schemas.microsoft.com/office/drawing/2014/main" id="{234EE8AA-E085-5B70-7FF5-640E3A20A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5392" y="241463"/>
            <a:ext cx="870846" cy="874867"/>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e 25">
            <a:extLst>
              <a:ext uri="{FF2B5EF4-FFF2-40B4-BE49-F238E27FC236}">
                <a16:creationId xmlns:a16="http://schemas.microsoft.com/office/drawing/2014/main" id="{4D1F4FED-7A8D-78A1-ED38-D42578AABAAD}"/>
              </a:ext>
            </a:extLst>
          </p:cNvPr>
          <p:cNvGrpSpPr/>
          <p:nvPr/>
        </p:nvGrpSpPr>
        <p:grpSpPr>
          <a:xfrm>
            <a:off x="223941" y="1236559"/>
            <a:ext cx="11167959" cy="2022327"/>
            <a:chOff x="157266" y="1217509"/>
            <a:chExt cx="11167959" cy="2022327"/>
          </a:xfrm>
        </p:grpSpPr>
        <p:sp>
          <p:nvSpPr>
            <p:cNvPr id="24" name="Rectangle : coins arrondis 23">
              <a:extLst>
                <a:ext uri="{FF2B5EF4-FFF2-40B4-BE49-F238E27FC236}">
                  <a16:creationId xmlns:a16="http://schemas.microsoft.com/office/drawing/2014/main" id="{4B0A61C9-12D9-FE75-02BD-98C063309585}"/>
                </a:ext>
              </a:extLst>
            </p:cNvPr>
            <p:cNvSpPr/>
            <p:nvPr/>
          </p:nvSpPr>
          <p:spPr>
            <a:xfrm>
              <a:off x="157266" y="1217509"/>
              <a:ext cx="11167959" cy="202232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6" name="ZoneTexte 5">
              <a:extLst>
                <a:ext uri="{FF2B5EF4-FFF2-40B4-BE49-F238E27FC236}">
                  <a16:creationId xmlns:a16="http://schemas.microsoft.com/office/drawing/2014/main" id="{75A80B88-C673-8F4D-E828-E67DB844F76C}"/>
                </a:ext>
              </a:extLst>
            </p:cNvPr>
            <p:cNvSpPr txBox="1"/>
            <p:nvPr/>
          </p:nvSpPr>
          <p:spPr>
            <a:xfrm>
              <a:off x="274425" y="1351509"/>
              <a:ext cx="10829925" cy="1754326"/>
            </a:xfrm>
            <a:prstGeom prst="rect">
              <a:avLst/>
            </a:prstGeom>
            <a:noFill/>
          </p:spPr>
          <p:txBody>
            <a:bodyPr wrap="square">
              <a:spAutoFit/>
            </a:bodyPr>
            <a:lstStyle/>
            <a:p>
              <a:pPr algn="just"/>
              <a:r>
                <a:rPr lang="fr-FR" dirty="0">
                  <a:latin typeface="Verdana" panose="020B0604030504040204" pitchFamily="34" charset="0"/>
                  <a:ea typeface="Verdana" panose="020B0604030504040204" pitchFamily="34" charset="0"/>
                </a:rPr>
                <a:t>Filebeat est un outil de transfert de données léger et efficace qui collecte et transfère des données de fichiers de logs et de métriques vers une sortie de votre choix. Filebeat est développé par </a:t>
              </a:r>
              <a:r>
                <a:rPr lang="fr-FR" b="1" dirty="0" err="1">
                  <a:latin typeface="Verdana" panose="020B0604030504040204" pitchFamily="34" charset="0"/>
                  <a:ea typeface="Verdana" panose="020B0604030504040204" pitchFamily="34" charset="0"/>
                </a:rPr>
                <a:t>Elastic</a:t>
              </a:r>
              <a:r>
                <a:rPr lang="fr-FR" dirty="0">
                  <a:latin typeface="Verdana" panose="020B0604030504040204" pitchFamily="34" charset="0"/>
                  <a:ea typeface="Verdana" panose="020B0604030504040204" pitchFamily="34" charset="0"/>
                </a:rPr>
                <a:t>, la même entreprise qui développe </a:t>
              </a:r>
              <a:r>
                <a:rPr lang="fr-FR" b="1" dirty="0" err="1">
                  <a:latin typeface="Verdana" panose="020B0604030504040204" pitchFamily="34" charset="0"/>
                  <a:ea typeface="Verdana" panose="020B0604030504040204" pitchFamily="34" charset="0"/>
                </a:rPr>
                <a:t>Elasticsearch</a:t>
              </a:r>
              <a:r>
                <a:rPr lang="fr-FR" dirty="0">
                  <a:latin typeface="Verdana" panose="020B0604030504040204" pitchFamily="34" charset="0"/>
                  <a:ea typeface="Verdana" panose="020B0604030504040204" pitchFamily="34" charset="0"/>
                </a:rPr>
                <a:t>, </a:t>
              </a:r>
              <a:r>
                <a:rPr lang="fr-FR" b="1" dirty="0" err="1">
                  <a:latin typeface="Verdana" panose="020B0604030504040204" pitchFamily="34" charset="0"/>
                  <a:ea typeface="Verdana" panose="020B0604030504040204" pitchFamily="34" charset="0"/>
                </a:rPr>
                <a:t>Logstash</a:t>
              </a:r>
              <a:r>
                <a:rPr lang="fr-FR" dirty="0">
                  <a:latin typeface="Verdana" panose="020B0604030504040204" pitchFamily="34" charset="0"/>
                  <a:ea typeface="Verdana" panose="020B0604030504040204" pitchFamily="34" charset="0"/>
                </a:rPr>
                <a:t> et </a:t>
              </a:r>
              <a:r>
                <a:rPr lang="fr-FR" b="1" dirty="0" err="1">
                  <a:latin typeface="Verdana" panose="020B0604030504040204" pitchFamily="34" charset="0"/>
                  <a:ea typeface="Verdana" panose="020B0604030504040204" pitchFamily="34" charset="0"/>
                </a:rPr>
                <a:t>Kibana</a:t>
              </a:r>
              <a:r>
                <a:rPr lang="fr-FR" dirty="0">
                  <a:latin typeface="Verdana" panose="020B0604030504040204" pitchFamily="34" charset="0"/>
                  <a:ea typeface="Verdana" panose="020B0604030504040204" pitchFamily="34" charset="0"/>
                </a:rPr>
                <a:t>, et est distribué sous licence Apache.</a:t>
              </a:r>
            </a:p>
            <a:p>
              <a:pPr algn="just"/>
              <a:r>
                <a:rPr lang="fr-FR" dirty="0">
                  <a:latin typeface="Verdana" panose="020B0604030504040204" pitchFamily="34" charset="0"/>
                  <a:ea typeface="Verdana" panose="020B0604030504040204" pitchFamily="34" charset="0"/>
                </a:rPr>
                <a:t>Filebeat est facile à installer et à configurer et prend en charge de nombreux formats de fichiers :</a:t>
              </a:r>
            </a:p>
          </p:txBody>
        </p:sp>
      </p:grpSp>
      <p:sp>
        <p:nvSpPr>
          <p:cNvPr id="8" name="ZoneTexte 7">
            <a:extLst>
              <a:ext uri="{FF2B5EF4-FFF2-40B4-BE49-F238E27FC236}">
                <a16:creationId xmlns:a16="http://schemas.microsoft.com/office/drawing/2014/main" id="{B03224F2-7EEA-DAAF-6B73-7D78F0DDCE0F}"/>
              </a:ext>
            </a:extLst>
          </p:cNvPr>
          <p:cNvSpPr txBox="1"/>
          <p:nvPr/>
        </p:nvSpPr>
        <p:spPr>
          <a:xfrm>
            <a:off x="312553" y="3743838"/>
            <a:ext cx="8441531" cy="2308324"/>
          </a:xfrm>
          <a:prstGeom prst="rect">
            <a:avLst/>
          </a:prstGeom>
          <a:noFill/>
        </p:spPr>
        <p:txBody>
          <a:bodyPr wrap="square">
            <a:spAutoFit/>
          </a:bodyPr>
          <a:lstStyle/>
          <a:p>
            <a:pPr marL="285750" indent="-285750" algn="just">
              <a:buFont typeface="Wingdings" panose="05000000000000000000" pitchFamily="2" charset="2"/>
              <a:buChar char="q"/>
            </a:pPr>
            <a:r>
              <a:rPr lang="fr-FR" b="1" dirty="0">
                <a:latin typeface="Verdana" panose="020B0604030504040204" pitchFamily="34" charset="0"/>
                <a:ea typeface="Verdana" panose="020B0604030504040204" pitchFamily="34" charset="0"/>
              </a:rPr>
              <a:t>logs, </a:t>
            </a:r>
          </a:p>
          <a:p>
            <a:pPr marL="285750" indent="-285750" algn="just">
              <a:buFont typeface="Wingdings" panose="05000000000000000000" pitchFamily="2" charset="2"/>
              <a:buChar char="q"/>
            </a:pPr>
            <a:r>
              <a:rPr lang="fr-FR" b="1" dirty="0">
                <a:latin typeface="Verdana" panose="020B0604030504040204" pitchFamily="34" charset="0"/>
                <a:ea typeface="Verdana" panose="020B0604030504040204" pitchFamily="34" charset="0"/>
              </a:rPr>
              <a:t>Fichiers système,</a:t>
            </a:r>
          </a:p>
          <a:p>
            <a:pPr marL="285750" indent="-285750" algn="just">
              <a:buFont typeface="Wingdings" panose="05000000000000000000" pitchFamily="2" charset="2"/>
              <a:buChar char="q"/>
            </a:pPr>
            <a:r>
              <a:rPr lang="fr-FR" b="1" dirty="0">
                <a:latin typeface="Verdana" panose="020B0604030504040204" pitchFamily="34" charset="0"/>
                <a:ea typeface="Verdana" panose="020B0604030504040204" pitchFamily="34" charset="0"/>
              </a:rPr>
              <a:t>JSON,</a:t>
            </a:r>
          </a:p>
          <a:p>
            <a:pPr marL="285750" indent="-285750" algn="just">
              <a:buFont typeface="Wingdings" panose="05000000000000000000" pitchFamily="2" charset="2"/>
              <a:buChar char="q"/>
            </a:pPr>
            <a:r>
              <a:rPr lang="fr-FR" b="1" dirty="0">
                <a:latin typeface="Verdana" panose="020B0604030504040204" pitchFamily="34" charset="0"/>
                <a:ea typeface="Verdana" panose="020B0604030504040204" pitchFamily="34" charset="0"/>
              </a:rPr>
              <a:t>CSV </a:t>
            </a:r>
          </a:p>
          <a:p>
            <a:pPr marL="285750" indent="-285750" algn="just">
              <a:buFont typeface="Wingdings" panose="05000000000000000000" pitchFamily="2" charset="2"/>
              <a:buChar char="q"/>
            </a:pPr>
            <a:r>
              <a:rPr lang="fr-FR" b="1" dirty="0">
                <a:latin typeface="Verdana" panose="020B0604030504040204" pitchFamily="34" charset="0"/>
                <a:ea typeface="Verdana" panose="020B0604030504040204" pitchFamily="34" charset="0"/>
              </a:rPr>
              <a:t>Apache. </a:t>
            </a:r>
          </a:p>
          <a:p>
            <a:pPr marL="285750" indent="-285750" algn="just">
              <a:buFont typeface="Wingdings" panose="05000000000000000000" pitchFamily="2" charset="2"/>
              <a:buChar char="q"/>
            </a:pPr>
            <a:endParaRPr lang="fr-FR" b="1" dirty="0">
              <a:latin typeface="Verdana" panose="020B0604030504040204" pitchFamily="34" charset="0"/>
              <a:ea typeface="Verdana" panose="020B0604030504040204" pitchFamily="34" charset="0"/>
            </a:endParaRPr>
          </a:p>
          <a:p>
            <a:pPr algn="just"/>
            <a:r>
              <a:rPr lang="fr-FR" dirty="0">
                <a:latin typeface="Verdana" panose="020B0604030504040204" pitchFamily="34" charset="0"/>
                <a:ea typeface="Verdana" panose="020B0604030504040204" pitchFamily="34" charset="0"/>
              </a:rPr>
              <a:t>Il est disponible pour de nombreuses plateformes, </a:t>
            </a:r>
          </a:p>
          <a:p>
            <a:pPr algn="just"/>
            <a:r>
              <a:rPr lang="fr-FR" dirty="0">
                <a:latin typeface="Verdana" panose="020B0604030504040204" pitchFamily="34" charset="0"/>
                <a:ea typeface="Verdana" panose="020B0604030504040204" pitchFamily="34" charset="0"/>
              </a:rPr>
              <a:t>y compris </a:t>
            </a:r>
            <a:r>
              <a:rPr lang="fr-FR" b="1" dirty="0">
                <a:latin typeface="Verdana" panose="020B0604030504040204" pitchFamily="34" charset="0"/>
                <a:ea typeface="Verdana" panose="020B0604030504040204" pitchFamily="34" charset="0"/>
              </a:rPr>
              <a:t>Linux</a:t>
            </a:r>
            <a:r>
              <a:rPr lang="fr-FR" dirty="0">
                <a:latin typeface="Verdana" panose="020B0604030504040204" pitchFamily="34" charset="0"/>
                <a:ea typeface="Verdana" panose="020B0604030504040204" pitchFamily="34" charset="0"/>
              </a:rPr>
              <a:t>, </a:t>
            </a:r>
            <a:r>
              <a:rPr lang="fr-FR" b="1" dirty="0">
                <a:latin typeface="Verdana" panose="020B0604030504040204" pitchFamily="34" charset="0"/>
                <a:ea typeface="Verdana" panose="020B0604030504040204" pitchFamily="34" charset="0"/>
              </a:rPr>
              <a:t>Windows</a:t>
            </a:r>
            <a:r>
              <a:rPr lang="fr-FR" dirty="0">
                <a:latin typeface="Verdana" panose="020B0604030504040204" pitchFamily="34" charset="0"/>
                <a:ea typeface="Verdana" panose="020B0604030504040204" pitchFamily="34" charset="0"/>
              </a:rPr>
              <a:t> et </a:t>
            </a:r>
            <a:r>
              <a:rPr lang="fr-FR" b="1" dirty="0">
                <a:latin typeface="Verdana" panose="020B0604030504040204" pitchFamily="34" charset="0"/>
                <a:ea typeface="Verdana" panose="020B0604030504040204" pitchFamily="34" charset="0"/>
              </a:rPr>
              <a:t>Mac OS X.</a:t>
            </a:r>
            <a:endParaRPr lang="fr-FR" b="1" dirty="0"/>
          </a:p>
        </p:txBody>
      </p:sp>
      <p:grpSp>
        <p:nvGrpSpPr>
          <p:cNvPr id="21" name="Groupe 20">
            <a:extLst>
              <a:ext uri="{FF2B5EF4-FFF2-40B4-BE49-F238E27FC236}">
                <a16:creationId xmlns:a16="http://schemas.microsoft.com/office/drawing/2014/main" id="{F540C375-4A7F-BF1E-E8C9-968B04D96DD2}"/>
              </a:ext>
            </a:extLst>
          </p:cNvPr>
          <p:cNvGrpSpPr/>
          <p:nvPr/>
        </p:nvGrpSpPr>
        <p:grpSpPr>
          <a:xfrm>
            <a:off x="8809727" y="3546951"/>
            <a:ext cx="3051369" cy="3113318"/>
            <a:chOff x="8809727" y="3594576"/>
            <a:chExt cx="3051369" cy="3113318"/>
          </a:xfrm>
        </p:grpSpPr>
        <p:sp>
          <p:nvSpPr>
            <p:cNvPr id="10" name="Rectangle : coins arrondis 9">
              <a:extLst>
                <a:ext uri="{FF2B5EF4-FFF2-40B4-BE49-F238E27FC236}">
                  <a16:creationId xmlns:a16="http://schemas.microsoft.com/office/drawing/2014/main" id="{B97A5A6A-18A3-6606-B75D-95B4744FD9F3}"/>
                </a:ext>
              </a:extLst>
            </p:cNvPr>
            <p:cNvSpPr/>
            <p:nvPr/>
          </p:nvSpPr>
          <p:spPr>
            <a:xfrm>
              <a:off x="10605637" y="4410935"/>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13" name="Rectangle : coins arrondis 12">
              <a:extLst>
                <a:ext uri="{FF2B5EF4-FFF2-40B4-BE49-F238E27FC236}">
                  <a16:creationId xmlns:a16="http://schemas.microsoft.com/office/drawing/2014/main" id="{4AC1D62E-10C2-D12F-FF54-04E8383F5A30}"/>
                </a:ext>
              </a:extLst>
            </p:cNvPr>
            <p:cNvSpPr/>
            <p:nvPr/>
          </p:nvSpPr>
          <p:spPr>
            <a:xfrm>
              <a:off x="8809727" y="5525797"/>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16" name="Rectangle : coins arrondis 15">
              <a:extLst>
                <a:ext uri="{FF2B5EF4-FFF2-40B4-BE49-F238E27FC236}">
                  <a16:creationId xmlns:a16="http://schemas.microsoft.com/office/drawing/2014/main" id="{5C39A2DF-0536-E3C6-B67A-5E8347A4945D}"/>
                </a:ext>
              </a:extLst>
            </p:cNvPr>
            <p:cNvSpPr/>
            <p:nvPr/>
          </p:nvSpPr>
          <p:spPr>
            <a:xfrm>
              <a:off x="8885929" y="3594576"/>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8" name="Image 17">
              <a:extLst>
                <a:ext uri="{FF2B5EF4-FFF2-40B4-BE49-F238E27FC236}">
                  <a16:creationId xmlns:a16="http://schemas.microsoft.com/office/drawing/2014/main" id="{E1B5DBE5-E6EC-3D8C-06D5-74EDA8FAF312}"/>
                </a:ext>
              </a:extLst>
            </p:cNvPr>
            <p:cNvPicPr>
              <a:picLocks noChangeAspect="1"/>
            </p:cNvPicPr>
            <p:nvPr/>
          </p:nvPicPr>
          <p:blipFill>
            <a:blip r:embed="rId4"/>
            <a:stretch>
              <a:fillRect/>
            </a:stretch>
          </p:blipFill>
          <p:spPr>
            <a:xfrm>
              <a:off x="10716433" y="4503692"/>
              <a:ext cx="1065992" cy="996582"/>
            </a:xfrm>
            <a:prstGeom prst="rect">
              <a:avLst/>
            </a:prstGeom>
          </p:spPr>
        </p:pic>
        <p:pic>
          <p:nvPicPr>
            <p:cNvPr id="19" name="Image 18">
              <a:extLst>
                <a:ext uri="{FF2B5EF4-FFF2-40B4-BE49-F238E27FC236}">
                  <a16:creationId xmlns:a16="http://schemas.microsoft.com/office/drawing/2014/main" id="{D2758159-9A89-50ED-9A59-5FC608C293A0}"/>
                </a:ext>
              </a:extLst>
            </p:cNvPr>
            <p:cNvPicPr>
              <a:picLocks noChangeAspect="1"/>
            </p:cNvPicPr>
            <p:nvPr/>
          </p:nvPicPr>
          <p:blipFill>
            <a:blip r:embed="rId5"/>
            <a:stretch>
              <a:fillRect/>
            </a:stretch>
          </p:blipFill>
          <p:spPr>
            <a:xfrm>
              <a:off x="8944499" y="5655419"/>
              <a:ext cx="1027293" cy="922851"/>
            </a:xfrm>
            <a:prstGeom prst="rect">
              <a:avLst/>
            </a:prstGeom>
          </p:spPr>
        </p:pic>
        <p:pic>
          <p:nvPicPr>
            <p:cNvPr id="20" name="Image 19">
              <a:extLst>
                <a:ext uri="{FF2B5EF4-FFF2-40B4-BE49-F238E27FC236}">
                  <a16:creationId xmlns:a16="http://schemas.microsoft.com/office/drawing/2014/main" id="{86164E4C-4F08-EFCF-8621-D481751201EF}"/>
                </a:ext>
              </a:extLst>
            </p:cNvPr>
            <p:cNvPicPr>
              <a:picLocks noChangeAspect="1"/>
            </p:cNvPicPr>
            <p:nvPr/>
          </p:nvPicPr>
          <p:blipFill>
            <a:blip r:embed="rId6"/>
            <a:stretch>
              <a:fillRect/>
            </a:stretch>
          </p:blipFill>
          <p:spPr>
            <a:xfrm>
              <a:off x="8980952" y="3677008"/>
              <a:ext cx="1108517" cy="982818"/>
            </a:xfrm>
            <a:prstGeom prst="rect">
              <a:avLst/>
            </a:prstGeom>
          </p:spPr>
        </p:pic>
      </p:grpSp>
      <p:sp>
        <p:nvSpPr>
          <p:cNvPr id="22" name="Rectangle : coins arrondis 21">
            <a:extLst>
              <a:ext uri="{FF2B5EF4-FFF2-40B4-BE49-F238E27FC236}">
                <a16:creationId xmlns:a16="http://schemas.microsoft.com/office/drawing/2014/main" id="{A880096C-22FF-819A-EAC4-A1F9552B1EE8}"/>
              </a:ext>
            </a:extLst>
          </p:cNvPr>
          <p:cNvSpPr/>
          <p:nvPr/>
        </p:nvSpPr>
        <p:spPr>
          <a:xfrm>
            <a:off x="8486775" y="3413192"/>
            <a:ext cx="3506166" cy="3387657"/>
          </a:xfrm>
          <a:prstGeom prst="roundRect">
            <a:avLst/>
          </a:prstGeom>
          <a:noFill/>
          <a:ln>
            <a:solidFill>
              <a:srgbClr val="273663"/>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45652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13</a:t>
            </a:fld>
            <a:endParaRPr lang="fr-FR" sz="1000" dirty="0"/>
          </a:p>
        </p:txBody>
      </p:sp>
      <p:sp>
        <p:nvSpPr>
          <p:cNvPr id="14" name="Rectangle 13">
            <a:extLst>
              <a:ext uri="{FF2B5EF4-FFF2-40B4-BE49-F238E27FC236}">
                <a16:creationId xmlns:a16="http://schemas.microsoft.com/office/drawing/2014/main" id="{3E6D0A72-BD1F-9FCE-2AB7-0602AFF02909}"/>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roupe 16">
            <a:extLst>
              <a:ext uri="{FF2B5EF4-FFF2-40B4-BE49-F238E27FC236}">
                <a16:creationId xmlns:a16="http://schemas.microsoft.com/office/drawing/2014/main" id="{59665BF5-4396-152E-D8AE-96E1C90C9244}"/>
              </a:ext>
            </a:extLst>
          </p:cNvPr>
          <p:cNvGrpSpPr/>
          <p:nvPr/>
        </p:nvGrpSpPr>
        <p:grpSpPr>
          <a:xfrm>
            <a:off x="1921931" y="1217784"/>
            <a:ext cx="8321440" cy="1444263"/>
            <a:chOff x="89135" y="1276350"/>
            <a:chExt cx="8321440" cy="1444263"/>
          </a:xfrm>
        </p:grpSpPr>
        <p:sp>
          <p:nvSpPr>
            <p:cNvPr id="13" name="Rectangle : coins arrondis 12">
              <a:extLst>
                <a:ext uri="{FF2B5EF4-FFF2-40B4-BE49-F238E27FC236}">
                  <a16:creationId xmlns:a16="http://schemas.microsoft.com/office/drawing/2014/main" id="{B0E3E1D7-8B08-1E38-68D5-E83E42A24372}"/>
                </a:ext>
              </a:extLst>
            </p:cNvPr>
            <p:cNvSpPr/>
            <p:nvPr/>
          </p:nvSpPr>
          <p:spPr>
            <a:xfrm>
              <a:off x="89135" y="1276350"/>
              <a:ext cx="8321440" cy="1444263"/>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2" name="ZoneTexte 1">
              <a:extLst>
                <a:ext uri="{FF2B5EF4-FFF2-40B4-BE49-F238E27FC236}">
                  <a16:creationId xmlns:a16="http://schemas.microsoft.com/office/drawing/2014/main" id="{F19F20F3-82C3-F000-3B96-65F7E7AB9569}"/>
                </a:ext>
              </a:extLst>
            </p:cNvPr>
            <p:cNvSpPr txBox="1"/>
            <p:nvPr/>
          </p:nvSpPr>
          <p:spPr>
            <a:xfrm>
              <a:off x="282573" y="1536816"/>
              <a:ext cx="7934563" cy="923330"/>
            </a:xfrm>
            <a:prstGeom prst="rect">
              <a:avLst/>
            </a:prstGeom>
            <a:noFill/>
          </p:spPr>
          <p:txBody>
            <a:bodyPr wrap="square" rtlCol="0">
              <a:spAutoFit/>
            </a:bodyPr>
            <a:lstStyle/>
            <a:p>
              <a:pPr algn="just"/>
              <a:r>
                <a:rPr lang="fr-FR" dirty="0">
                  <a:latin typeface="Verdana" panose="020B0604030504040204" pitchFamily="34" charset="0"/>
                  <a:ea typeface="Verdana" panose="020B0604030504040204" pitchFamily="34" charset="0"/>
                </a:rPr>
                <a:t>Filebeat est composé de deux éléments principaux fonctionnant ensemble pour suivre les fichiers et envoyer les données d’événement à une sortie spécifié: </a:t>
              </a:r>
            </a:p>
          </p:txBody>
        </p:sp>
      </p:grpSp>
      <p:sp>
        <p:nvSpPr>
          <p:cNvPr id="8" name="ZoneTexte 7">
            <a:extLst>
              <a:ext uri="{FF2B5EF4-FFF2-40B4-BE49-F238E27FC236}">
                <a16:creationId xmlns:a16="http://schemas.microsoft.com/office/drawing/2014/main" id="{C019D8CB-F837-40EB-3E62-567BFC45EC51}"/>
              </a:ext>
            </a:extLst>
          </p:cNvPr>
          <p:cNvSpPr txBox="1"/>
          <p:nvPr/>
        </p:nvSpPr>
        <p:spPr>
          <a:xfrm>
            <a:off x="121925" y="2900635"/>
            <a:ext cx="5345426" cy="2585323"/>
          </a:xfrm>
          <a:prstGeom prst="rect">
            <a:avLst/>
          </a:prstGeom>
          <a:noFill/>
        </p:spPr>
        <p:txBody>
          <a:bodyPr wrap="square">
            <a:spAutoFit/>
          </a:bodyPr>
          <a:lstStyle/>
          <a:p>
            <a:pPr marL="285750" indent="-285750" algn="just">
              <a:buFont typeface="Wingdings" panose="05000000000000000000" pitchFamily="2" charset="2"/>
              <a:buChar char="q"/>
            </a:pPr>
            <a:r>
              <a:rPr lang="fr-FR" b="1" dirty="0"/>
              <a:t>Inputs  :</a:t>
            </a:r>
          </a:p>
          <a:p>
            <a:pPr lvl="1" algn="just"/>
            <a:r>
              <a:rPr lang="fr-FR" dirty="0"/>
              <a:t>Ce sont les sources de données que Filebeat surveille. Des inputs configurés dans un fichier de configuration pour collecter des données de différents types de sources telles que des fichiers de logs, HTTP JSON, AWS S3. Ces inputs déterminent les données qui seront collectées et transférées.</a:t>
            </a:r>
          </a:p>
          <a:p>
            <a:pPr algn="just"/>
            <a:endParaRPr lang="fr-FR" b="1" dirty="0"/>
          </a:p>
        </p:txBody>
      </p:sp>
      <p:sp>
        <p:nvSpPr>
          <p:cNvPr id="19" name="ZoneTexte 18">
            <a:extLst>
              <a:ext uri="{FF2B5EF4-FFF2-40B4-BE49-F238E27FC236}">
                <a16:creationId xmlns:a16="http://schemas.microsoft.com/office/drawing/2014/main" id="{99BAE75B-723E-CE0F-B0A8-4687145F65E5}"/>
              </a:ext>
            </a:extLst>
          </p:cNvPr>
          <p:cNvSpPr txBox="1"/>
          <p:nvPr/>
        </p:nvSpPr>
        <p:spPr>
          <a:xfrm>
            <a:off x="6365575" y="3052749"/>
            <a:ext cx="5345426" cy="2308324"/>
          </a:xfrm>
          <a:prstGeom prst="rect">
            <a:avLst/>
          </a:prstGeom>
          <a:noFill/>
        </p:spPr>
        <p:txBody>
          <a:bodyPr wrap="square">
            <a:spAutoFit/>
          </a:bodyPr>
          <a:lstStyle/>
          <a:p>
            <a:pPr marL="285750" indent="-285750" algn="just">
              <a:buFont typeface="Wingdings" panose="05000000000000000000" pitchFamily="2" charset="2"/>
              <a:buChar char="q"/>
            </a:pPr>
            <a:r>
              <a:rPr lang="fr-FR" b="1" dirty="0"/>
              <a:t>Harvesters:</a:t>
            </a:r>
          </a:p>
          <a:p>
            <a:pPr lvl="1" algn="just"/>
            <a:r>
              <a:rPr lang="fr-FR" dirty="0"/>
              <a:t>Filebeat utilise des harvesters pour surveiller en continu les fichiers de sources de données et les transmettre à la chaîne de traitement des données. Les harvesters sont configurés pour détecter les changements dans les fichiers de logs afin de garantir que toutes les données sont capturées.</a:t>
            </a:r>
            <a:endParaRPr lang="fr-FR" b="1" dirty="0"/>
          </a:p>
        </p:txBody>
      </p:sp>
      <p:sp>
        <p:nvSpPr>
          <p:cNvPr id="26" name="ZoneTexte 25">
            <a:extLst>
              <a:ext uri="{FF2B5EF4-FFF2-40B4-BE49-F238E27FC236}">
                <a16:creationId xmlns:a16="http://schemas.microsoft.com/office/drawing/2014/main" id="{AE345952-0981-ABDA-80E3-E8512A9E7417}"/>
              </a:ext>
            </a:extLst>
          </p:cNvPr>
          <p:cNvSpPr txBox="1"/>
          <p:nvPr/>
        </p:nvSpPr>
        <p:spPr>
          <a:xfrm>
            <a:off x="121925" y="390347"/>
            <a:ext cx="5874063" cy="461665"/>
          </a:xfrm>
          <a:prstGeom prst="rect">
            <a:avLst/>
          </a:prstGeom>
          <a:noFill/>
        </p:spPr>
        <p:txBody>
          <a:bodyPr wrap="square">
            <a:spAutoFit/>
          </a:bodyPr>
          <a:lstStyle/>
          <a:p>
            <a:pPr algn="ctr"/>
            <a:r>
              <a:rPr lang="fr-FR" sz="2400" b="1" dirty="0">
                <a:solidFill>
                  <a:schemeClr val="bg2">
                    <a:lumMod val="75000"/>
                  </a:schemeClr>
                </a:solidFill>
                <a:latin typeface="Gill Sans MT (En-têtes)"/>
              </a:rPr>
              <a:t>Principe de fonctionnement de Filebeat</a:t>
            </a:r>
          </a:p>
        </p:txBody>
      </p:sp>
      <p:sp>
        <p:nvSpPr>
          <p:cNvPr id="27" name="objet 7" descr="Rectangle beige">
            <a:extLst>
              <a:ext uri="{FF2B5EF4-FFF2-40B4-BE49-F238E27FC236}">
                <a16:creationId xmlns:a16="http://schemas.microsoft.com/office/drawing/2014/main" id="{09CBE73F-FD0A-6048-DD0E-FF6B697CA0FF}"/>
              </a:ext>
            </a:extLst>
          </p:cNvPr>
          <p:cNvSpPr/>
          <p:nvPr/>
        </p:nvSpPr>
        <p:spPr bwMode="white">
          <a:xfrm flipV="1">
            <a:off x="274425" y="857965"/>
            <a:ext cx="5545350"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grpSp>
        <p:nvGrpSpPr>
          <p:cNvPr id="12" name="Groupe 11">
            <a:extLst>
              <a:ext uri="{FF2B5EF4-FFF2-40B4-BE49-F238E27FC236}">
                <a16:creationId xmlns:a16="http://schemas.microsoft.com/office/drawing/2014/main" id="{8227A007-8FDF-28FE-AD7F-C7C9DBED6B0A}"/>
              </a:ext>
            </a:extLst>
          </p:cNvPr>
          <p:cNvGrpSpPr/>
          <p:nvPr/>
        </p:nvGrpSpPr>
        <p:grpSpPr>
          <a:xfrm>
            <a:off x="77652" y="5285556"/>
            <a:ext cx="1255459" cy="1182097"/>
            <a:chOff x="4646274" y="5194904"/>
            <a:chExt cx="1255459" cy="1182097"/>
          </a:xfrm>
        </p:grpSpPr>
        <p:sp>
          <p:nvSpPr>
            <p:cNvPr id="9" name="Rectangle : coins arrondis 8">
              <a:extLst>
                <a:ext uri="{FF2B5EF4-FFF2-40B4-BE49-F238E27FC236}">
                  <a16:creationId xmlns:a16="http://schemas.microsoft.com/office/drawing/2014/main" id="{06C918EA-50FB-9141-99F7-772A1192845F}"/>
                </a:ext>
              </a:extLst>
            </p:cNvPr>
            <p:cNvSpPr/>
            <p:nvPr/>
          </p:nvSpPr>
          <p:spPr>
            <a:xfrm>
              <a:off x="4646274" y="5194904"/>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1" name="Image 10">
              <a:extLst>
                <a:ext uri="{FF2B5EF4-FFF2-40B4-BE49-F238E27FC236}">
                  <a16:creationId xmlns:a16="http://schemas.microsoft.com/office/drawing/2014/main" id="{4EEB662B-4CC2-639D-0C1E-922900DAF5A6}"/>
                </a:ext>
              </a:extLst>
            </p:cNvPr>
            <p:cNvPicPr>
              <a:picLocks noChangeAspect="1"/>
            </p:cNvPicPr>
            <p:nvPr/>
          </p:nvPicPr>
          <p:blipFill>
            <a:blip r:embed="rId3"/>
            <a:stretch>
              <a:fillRect/>
            </a:stretch>
          </p:blipFill>
          <p:spPr>
            <a:xfrm>
              <a:off x="4646274" y="5255001"/>
              <a:ext cx="1255459" cy="1114861"/>
            </a:xfrm>
            <a:prstGeom prst="rect">
              <a:avLst/>
            </a:prstGeom>
          </p:spPr>
        </p:pic>
      </p:grpSp>
      <p:grpSp>
        <p:nvGrpSpPr>
          <p:cNvPr id="16" name="Groupe 15">
            <a:extLst>
              <a:ext uri="{FF2B5EF4-FFF2-40B4-BE49-F238E27FC236}">
                <a16:creationId xmlns:a16="http://schemas.microsoft.com/office/drawing/2014/main" id="{29A6C14B-E80C-85C9-A929-D85581230BBD}"/>
              </a:ext>
            </a:extLst>
          </p:cNvPr>
          <p:cNvGrpSpPr/>
          <p:nvPr/>
        </p:nvGrpSpPr>
        <p:grpSpPr>
          <a:xfrm>
            <a:off x="10135931" y="5278417"/>
            <a:ext cx="1255459" cy="1182097"/>
            <a:chOff x="10156002" y="5187766"/>
            <a:chExt cx="1255459" cy="1182097"/>
          </a:xfrm>
        </p:grpSpPr>
        <p:sp>
          <p:nvSpPr>
            <p:cNvPr id="4" name="Rectangle : coins arrondis 3">
              <a:extLst>
                <a:ext uri="{FF2B5EF4-FFF2-40B4-BE49-F238E27FC236}">
                  <a16:creationId xmlns:a16="http://schemas.microsoft.com/office/drawing/2014/main" id="{7CB42BD9-9112-D060-3DD6-CC27081EF55E}"/>
                </a:ext>
              </a:extLst>
            </p:cNvPr>
            <p:cNvSpPr/>
            <p:nvPr/>
          </p:nvSpPr>
          <p:spPr>
            <a:xfrm>
              <a:off x="10156002" y="5187766"/>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15" name="Image 14">
              <a:extLst>
                <a:ext uri="{FF2B5EF4-FFF2-40B4-BE49-F238E27FC236}">
                  <a16:creationId xmlns:a16="http://schemas.microsoft.com/office/drawing/2014/main" id="{1090D740-AA7C-560A-010B-E4B534CD3C4D}"/>
                </a:ext>
              </a:extLst>
            </p:cNvPr>
            <p:cNvPicPr>
              <a:picLocks noChangeAspect="1"/>
            </p:cNvPicPr>
            <p:nvPr/>
          </p:nvPicPr>
          <p:blipFill>
            <a:blip r:embed="rId4"/>
            <a:stretch>
              <a:fillRect/>
            </a:stretch>
          </p:blipFill>
          <p:spPr>
            <a:xfrm>
              <a:off x="10263442" y="5333826"/>
              <a:ext cx="1040577" cy="894305"/>
            </a:xfrm>
            <a:prstGeom prst="rect">
              <a:avLst/>
            </a:prstGeom>
          </p:spPr>
        </p:pic>
      </p:grpSp>
    </p:spTree>
    <p:extLst>
      <p:ext uri="{BB962C8B-B14F-4D97-AF65-F5344CB8AC3E}">
        <p14:creationId xmlns:p14="http://schemas.microsoft.com/office/powerpoint/2010/main" val="3204058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14</a:t>
            </a:fld>
            <a:endParaRPr lang="fr-FR" sz="1000" dirty="0"/>
          </a:p>
        </p:txBody>
      </p:sp>
      <p:sp>
        <p:nvSpPr>
          <p:cNvPr id="14" name="Rectangle 13">
            <a:extLst>
              <a:ext uri="{FF2B5EF4-FFF2-40B4-BE49-F238E27FC236}">
                <a16:creationId xmlns:a16="http://schemas.microsoft.com/office/drawing/2014/main" id="{3E6D0A72-BD1F-9FCE-2AB7-0602AFF02909}"/>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47566C9A-A154-C1CC-86EE-F996EBEF3D8D}"/>
              </a:ext>
            </a:extLst>
          </p:cNvPr>
          <p:cNvPicPr>
            <a:picLocks noChangeAspect="1"/>
          </p:cNvPicPr>
          <p:nvPr/>
        </p:nvPicPr>
        <p:blipFill>
          <a:blip r:embed="rId3"/>
          <a:stretch>
            <a:fillRect/>
          </a:stretch>
        </p:blipFill>
        <p:spPr>
          <a:xfrm>
            <a:off x="421078" y="1287624"/>
            <a:ext cx="4621426" cy="4307206"/>
          </a:xfrm>
          <a:prstGeom prst="rect">
            <a:avLst/>
          </a:prstGeom>
        </p:spPr>
      </p:pic>
      <p:pic>
        <p:nvPicPr>
          <p:cNvPr id="42" name="Image 41">
            <a:extLst>
              <a:ext uri="{FF2B5EF4-FFF2-40B4-BE49-F238E27FC236}">
                <a16:creationId xmlns:a16="http://schemas.microsoft.com/office/drawing/2014/main" id="{9DC80AE9-19F8-B718-3689-9AE96F878DC8}"/>
              </a:ext>
            </a:extLst>
          </p:cNvPr>
          <p:cNvPicPr>
            <a:picLocks noChangeAspect="1"/>
          </p:cNvPicPr>
          <p:nvPr/>
        </p:nvPicPr>
        <p:blipFill>
          <a:blip r:embed="rId4"/>
          <a:stretch>
            <a:fillRect/>
          </a:stretch>
        </p:blipFill>
        <p:spPr>
          <a:xfrm>
            <a:off x="5336889" y="1303972"/>
            <a:ext cx="6248400" cy="666750"/>
          </a:xfrm>
          <a:prstGeom prst="rect">
            <a:avLst/>
          </a:prstGeom>
        </p:spPr>
      </p:pic>
      <p:sp>
        <p:nvSpPr>
          <p:cNvPr id="43" name="Rectangle : coins arrondis 42">
            <a:extLst>
              <a:ext uri="{FF2B5EF4-FFF2-40B4-BE49-F238E27FC236}">
                <a16:creationId xmlns:a16="http://schemas.microsoft.com/office/drawing/2014/main" id="{44DAA35C-E708-CBA2-89F4-CBBFC9FF0387}"/>
              </a:ext>
            </a:extLst>
          </p:cNvPr>
          <p:cNvSpPr/>
          <p:nvPr/>
        </p:nvSpPr>
        <p:spPr>
          <a:xfrm>
            <a:off x="1567938" y="389468"/>
            <a:ext cx="2327705" cy="655539"/>
          </a:xfrm>
          <a:prstGeom prst="roundRect">
            <a:avLst/>
          </a:prstGeom>
          <a:solidFill>
            <a:srgbClr val="F7F7F7"/>
          </a:solidFill>
          <a:ln w="3810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800" b="1" dirty="0">
                <a:solidFill>
                  <a:schemeClr val="bg2">
                    <a:lumMod val="75000"/>
                  </a:schemeClr>
                </a:solidFill>
                <a:latin typeface="Gill Sans MT (En-têtes)"/>
              </a:rPr>
              <a:t>SCRIPT</a:t>
            </a:r>
            <a:endParaRPr lang="fr-FR" b="1" dirty="0">
              <a:solidFill>
                <a:schemeClr val="bg2">
                  <a:lumMod val="75000"/>
                </a:schemeClr>
              </a:solidFill>
              <a:latin typeface="Gill Sans MT (En-têtes)"/>
              <a:cs typeface="Calibri" panose="020F0502020204030204" pitchFamily="34" charset="0"/>
            </a:endParaRPr>
          </a:p>
        </p:txBody>
      </p:sp>
      <p:sp>
        <p:nvSpPr>
          <p:cNvPr id="56" name="Titre 2">
            <a:extLst>
              <a:ext uri="{FF2B5EF4-FFF2-40B4-BE49-F238E27FC236}">
                <a16:creationId xmlns:a16="http://schemas.microsoft.com/office/drawing/2014/main" id="{766F43B9-F676-24BE-D4D8-B8FDF2F6FBE6}"/>
              </a:ext>
            </a:extLst>
          </p:cNvPr>
          <p:cNvSpPr>
            <a:spLocks noGrp="1"/>
          </p:cNvSpPr>
          <p:nvPr>
            <p:ph type="title"/>
          </p:nvPr>
        </p:nvSpPr>
        <p:spPr>
          <a:xfrm>
            <a:off x="4511599" y="6034718"/>
            <a:ext cx="3295265" cy="442148"/>
          </a:xfrm>
        </p:spPr>
        <p:txBody>
          <a:bodyPr rtlCol="0"/>
          <a:lstStyle/>
          <a:p>
            <a:pPr algn="ctr"/>
            <a:r>
              <a:rPr lang="fr-FR" dirty="0">
                <a:latin typeface="+mn-lt"/>
              </a:rPr>
              <a:t>Data ingestion</a:t>
            </a:r>
          </a:p>
        </p:txBody>
      </p:sp>
      <p:sp>
        <p:nvSpPr>
          <p:cNvPr id="57" name="Rectangle : coins arrondis 56">
            <a:extLst>
              <a:ext uri="{FF2B5EF4-FFF2-40B4-BE49-F238E27FC236}">
                <a16:creationId xmlns:a16="http://schemas.microsoft.com/office/drawing/2014/main" id="{1AB0EE38-84A7-403C-DBE3-C375F3DEF5F5}"/>
              </a:ext>
            </a:extLst>
          </p:cNvPr>
          <p:cNvSpPr/>
          <p:nvPr/>
        </p:nvSpPr>
        <p:spPr>
          <a:xfrm>
            <a:off x="7548660" y="426016"/>
            <a:ext cx="2327705" cy="655539"/>
          </a:xfrm>
          <a:prstGeom prst="roundRect">
            <a:avLst/>
          </a:prstGeom>
          <a:solidFill>
            <a:srgbClr val="F7F7F7"/>
          </a:solidFill>
          <a:ln w="3810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lnRef>
          <a:fillRef idx="1">
            <a:schemeClr val="lt1"/>
          </a:fillRef>
          <a:effectRef idx="0">
            <a:schemeClr val="accent1"/>
          </a:effectRef>
          <a:fontRef idx="minor">
            <a:schemeClr val="dk1"/>
          </a:fontRef>
        </p:style>
        <p:txBody>
          <a:bodyPr rtlCol="0" anchor="ctr"/>
          <a:lstStyle/>
          <a:p>
            <a:pPr algn="ctr"/>
            <a:r>
              <a:rPr lang="fr-FR" sz="1800" b="1" dirty="0">
                <a:solidFill>
                  <a:schemeClr val="bg2">
                    <a:lumMod val="75000"/>
                  </a:schemeClr>
                </a:solidFill>
                <a:latin typeface="Gill Sans MT (En-têtes)"/>
              </a:rPr>
              <a:t>SCRIPT </a:t>
            </a:r>
            <a:r>
              <a:rPr lang="fr-FR" sz="1800" b="1" dirty="0" err="1">
                <a:solidFill>
                  <a:schemeClr val="bg2">
                    <a:lumMod val="75000"/>
                  </a:schemeClr>
                </a:solidFill>
                <a:latin typeface="Gill Sans MT (En-têtes)"/>
              </a:rPr>
              <a:t>execution</a:t>
            </a:r>
            <a:endParaRPr lang="fr-FR" b="1" dirty="0">
              <a:solidFill>
                <a:schemeClr val="bg2">
                  <a:lumMod val="75000"/>
                </a:schemeClr>
              </a:solidFill>
              <a:latin typeface="Gill Sans MT (En-têtes)"/>
              <a:cs typeface="Calibri" panose="020F0502020204030204" pitchFamily="34" charset="0"/>
            </a:endParaRPr>
          </a:p>
        </p:txBody>
      </p:sp>
      <p:grpSp>
        <p:nvGrpSpPr>
          <p:cNvPr id="3" name="Groupe 2">
            <a:extLst>
              <a:ext uri="{FF2B5EF4-FFF2-40B4-BE49-F238E27FC236}">
                <a16:creationId xmlns:a16="http://schemas.microsoft.com/office/drawing/2014/main" id="{6BB47DC3-396A-440A-DD15-ABD7817A25C2}"/>
              </a:ext>
            </a:extLst>
          </p:cNvPr>
          <p:cNvGrpSpPr/>
          <p:nvPr/>
        </p:nvGrpSpPr>
        <p:grpSpPr>
          <a:xfrm>
            <a:off x="6317229" y="2149788"/>
            <a:ext cx="5211532" cy="3789765"/>
            <a:chOff x="6317229" y="2149788"/>
            <a:chExt cx="5211532" cy="3789765"/>
          </a:xfrm>
        </p:grpSpPr>
        <p:grpSp>
          <p:nvGrpSpPr>
            <p:cNvPr id="55" name="Groupe 54">
              <a:extLst>
                <a:ext uri="{FF2B5EF4-FFF2-40B4-BE49-F238E27FC236}">
                  <a16:creationId xmlns:a16="http://schemas.microsoft.com/office/drawing/2014/main" id="{3E0B7336-885E-E5BA-377C-9CA76E1571B9}"/>
                </a:ext>
              </a:extLst>
            </p:cNvPr>
            <p:cNvGrpSpPr/>
            <p:nvPr/>
          </p:nvGrpSpPr>
          <p:grpSpPr>
            <a:xfrm>
              <a:off x="6317229" y="2149788"/>
              <a:ext cx="5211532" cy="3789765"/>
              <a:chOff x="6720912" y="2140606"/>
              <a:chExt cx="5211532" cy="3789765"/>
            </a:xfrm>
          </p:grpSpPr>
          <p:grpSp>
            <p:nvGrpSpPr>
              <p:cNvPr id="53" name="Groupe 52">
                <a:extLst>
                  <a:ext uri="{FF2B5EF4-FFF2-40B4-BE49-F238E27FC236}">
                    <a16:creationId xmlns:a16="http://schemas.microsoft.com/office/drawing/2014/main" id="{F8080202-FC7A-A869-0F87-137428D40413}"/>
                  </a:ext>
                </a:extLst>
              </p:cNvPr>
              <p:cNvGrpSpPr/>
              <p:nvPr/>
            </p:nvGrpSpPr>
            <p:grpSpPr>
              <a:xfrm>
                <a:off x="6720912" y="2140606"/>
                <a:ext cx="2862354" cy="3789765"/>
                <a:chOff x="6882837" y="2121556"/>
                <a:chExt cx="2862354" cy="3789765"/>
              </a:xfrm>
            </p:grpSpPr>
            <p:sp>
              <p:nvSpPr>
                <p:cNvPr id="44" name="Flèche : bas 43">
                  <a:extLst>
                    <a:ext uri="{FF2B5EF4-FFF2-40B4-BE49-F238E27FC236}">
                      <a16:creationId xmlns:a16="http://schemas.microsoft.com/office/drawing/2014/main" id="{948FD676-1816-3143-AC0C-06DD884A6540}"/>
                    </a:ext>
                  </a:extLst>
                </p:cNvPr>
                <p:cNvSpPr/>
                <p:nvPr/>
              </p:nvSpPr>
              <p:spPr>
                <a:xfrm>
                  <a:off x="8009493" y="2121556"/>
                  <a:ext cx="563007" cy="610424"/>
                </a:xfrm>
                <a:prstGeom prst="downArrow">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0" name="Groupe 49">
                  <a:extLst>
                    <a:ext uri="{FF2B5EF4-FFF2-40B4-BE49-F238E27FC236}">
                      <a16:creationId xmlns:a16="http://schemas.microsoft.com/office/drawing/2014/main" id="{F562C6A7-0194-409F-AC16-AB46B710D203}"/>
                    </a:ext>
                  </a:extLst>
                </p:cNvPr>
                <p:cNvGrpSpPr/>
                <p:nvPr/>
              </p:nvGrpSpPr>
              <p:grpSpPr>
                <a:xfrm>
                  <a:off x="6882837" y="4162759"/>
                  <a:ext cx="2862354" cy="1748562"/>
                  <a:chOff x="6917620" y="4000834"/>
                  <a:chExt cx="2862354" cy="1748562"/>
                </a:xfrm>
              </p:grpSpPr>
              <p:pic>
                <p:nvPicPr>
                  <p:cNvPr id="49" name="Image 48">
                    <a:extLst>
                      <a:ext uri="{FF2B5EF4-FFF2-40B4-BE49-F238E27FC236}">
                        <a16:creationId xmlns:a16="http://schemas.microsoft.com/office/drawing/2014/main" id="{A09A527B-BAAC-A716-21E5-324D0E086796}"/>
                      </a:ext>
                    </a:extLst>
                  </p:cNvPr>
                  <p:cNvPicPr>
                    <a:picLocks noChangeAspect="1"/>
                  </p:cNvPicPr>
                  <p:nvPr/>
                </p:nvPicPr>
                <p:blipFill>
                  <a:blip r:embed="rId5"/>
                  <a:stretch>
                    <a:fillRect/>
                  </a:stretch>
                </p:blipFill>
                <p:spPr>
                  <a:xfrm>
                    <a:off x="7826315" y="4000834"/>
                    <a:ext cx="1092315" cy="1092315"/>
                  </a:xfrm>
                  <a:prstGeom prst="rect">
                    <a:avLst/>
                  </a:prstGeom>
                </p:spPr>
              </p:pic>
              <p:pic>
                <p:nvPicPr>
                  <p:cNvPr id="8194" name="Picture 2" descr="Parameter - Free ui icons">
                    <a:extLst>
                      <a:ext uri="{FF2B5EF4-FFF2-40B4-BE49-F238E27FC236}">
                        <a16:creationId xmlns:a16="http://schemas.microsoft.com/office/drawing/2014/main" id="{23CC8C94-0CFE-C7C6-FC67-44615B1536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7620" y="4410600"/>
                    <a:ext cx="1397474" cy="133879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Parameter - Free ui icons">
                    <a:extLst>
                      <a:ext uri="{FF2B5EF4-FFF2-40B4-BE49-F238E27FC236}">
                        <a16:creationId xmlns:a16="http://schemas.microsoft.com/office/drawing/2014/main" id="{08D8982C-44EF-B513-A732-6F23583C33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501" y="4452822"/>
                    <a:ext cx="1397473" cy="1280654"/>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52" name="Image 51">
                <a:extLst>
                  <a:ext uri="{FF2B5EF4-FFF2-40B4-BE49-F238E27FC236}">
                    <a16:creationId xmlns:a16="http://schemas.microsoft.com/office/drawing/2014/main" id="{3978F849-734C-CAE1-D2BE-3AB4C432EC86}"/>
                  </a:ext>
                </a:extLst>
              </p:cNvPr>
              <p:cNvPicPr>
                <a:picLocks noChangeAspect="1"/>
              </p:cNvPicPr>
              <p:nvPr/>
            </p:nvPicPr>
            <p:blipFill>
              <a:blip r:embed="rId7"/>
              <a:stretch>
                <a:fillRect/>
              </a:stretch>
            </p:blipFill>
            <p:spPr>
              <a:xfrm>
                <a:off x="10725631" y="4181809"/>
                <a:ext cx="1206813" cy="1092315"/>
              </a:xfrm>
              <a:prstGeom prst="rect">
                <a:avLst/>
              </a:prstGeom>
            </p:spPr>
          </p:pic>
          <p:sp>
            <p:nvSpPr>
              <p:cNvPr id="54" name="Flèche : bas 53">
                <a:extLst>
                  <a:ext uri="{FF2B5EF4-FFF2-40B4-BE49-F238E27FC236}">
                    <a16:creationId xmlns:a16="http://schemas.microsoft.com/office/drawing/2014/main" id="{2E4FFFF2-EF42-102F-ABE2-CEEAAE80FF59}"/>
                  </a:ext>
                </a:extLst>
              </p:cNvPr>
              <p:cNvSpPr/>
              <p:nvPr/>
            </p:nvSpPr>
            <p:spPr>
              <a:xfrm rot="16200000">
                <a:off x="9610925" y="4182196"/>
                <a:ext cx="563007" cy="818756"/>
              </a:xfrm>
              <a:prstGeom prst="downArrow">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 name="Image 1">
              <a:extLst>
                <a:ext uri="{FF2B5EF4-FFF2-40B4-BE49-F238E27FC236}">
                  <a16:creationId xmlns:a16="http://schemas.microsoft.com/office/drawing/2014/main" id="{5B2BF6B4-D106-A026-B031-255737CAC772}"/>
                </a:ext>
              </a:extLst>
            </p:cNvPr>
            <p:cNvPicPr>
              <a:picLocks noChangeAspect="1"/>
            </p:cNvPicPr>
            <p:nvPr/>
          </p:nvPicPr>
          <p:blipFill>
            <a:blip r:embed="rId8"/>
            <a:stretch>
              <a:fillRect/>
            </a:stretch>
          </p:blipFill>
          <p:spPr>
            <a:xfrm>
              <a:off x="7230784" y="2948803"/>
              <a:ext cx="1022592" cy="1022592"/>
            </a:xfrm>
            <a:prstGeom prst="rect">
              <a:avLst/>
            </a:prstGeom>
          </p:spPr>
        </p:pic>
      </p:grpSp>
    </p:spTree>
    <p:extLst>
      <p:ext uri="{BB962C8B-B14F-4D97-AF65-F5344CB8AC3E}">
        <p14:creationId xmlns:p14="http://schemas.microsoft.com/office/powerpoint/2010/main" val="3853858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15</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88979" y="2909004"/>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2">
            <a:extLst>
              <a:ext uri="{FF2B5EF4-FFF2-40B4-BE49-F238E27FC236}">
                <a16:creationId xmlns:a16="http://schemas.microsoft.com/office/drawing/2014/main" id="{BC6062B0-1D75-4396-6819-DAF4D04C5B1D}"/>
              </a:ext>
            </a:extLst>
          </p:cNvPr>
          <p:cNvSpPr>
            <a:spLocks noGrp="1"/>
          </p:cNvSpPr>
          <p:nvPr>
            <p:ph type="title"/>
          </p:nvPr>
        </p:nvSpPr>
        <p:spPr>
          <a:xfrm>
            <a:off x="287077" y="2577202"/>
            <a:ext cx="3295265" cy="442148"/>
          </a:xfrm>
        </p:spPr>
        <p:txBody>
          <a:bodyPr rtlCol="0"/>
          <a:lstStyle/>
          <a:p>
            <a:pPr algn="ctr"/>
            <a:r>
              <a:rPr lang="fr-FR" dirty="0">
                <a:latin typeface="+mn-lt"/>
              </a:rPr>
              <a:t>Data </a:t>
            </a:r>
            <a:r>
              <a:rPr lang="fr-FR" dirty="0" err="1">
                <a:latin typeface="+mn-lt"/>
              </a:rPr>
              <a:t>Processing</a:t>
            </a:r>
            <a:endParaRPr lang="fr-FR" dirty="0">
              <a:latin typeface="+mn-lt"/>
            </a:endParaRPr>
          </a:p>
        </p:txBody>
      </p:sp>
      <p:pic>
        <p:nvPicPr>
          <p:cNvPr id="4" name="Image 3">
            <a:extLst>
              <a:ext uri="{FF2B5EF4-FFF2-40B4-BE49-F238E27FC236}">
                <a16:creationId xmlns:a16="http://schemas.microsoft.com/office/drawing/2014/main" id="{92397C06-6A10-3418-B83D-6E3E03561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9096" y="1048047"/>
            <a:ext cx="4761905" cy="4761905"/>
          </a:xfrm>
          <a:prstGeom prst="rect">
            <a:avLst/>
          </a:prstGeom>
        </p:spPr>
      </p:pic>
      <p:pic>
        <p:nvPicPr>
          <p:cNvPr id="3076" name="Picture 4">
            <a:extLst>
              <a:ext uri="{FF2B5EF4-FFF2-40B4-BE49-F238E27FC236}">
                <a16:creationId xmlns:a16="http://schemas.microsoft.com/office/drawing/2014/main" id="{5A471D1B-09CF-690E-C500-940C81E359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77" y="3542266"/>
            <a:ext cx="4761905" cy="247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365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322605" y="422888"/>
            <a:ext cx="3145051" cy="370166"/>
          </a:xfrm>
        </p:spPr>
        <p:txBody>
          <a:bodyPr rtlCol="0"/>
          <a:lstStyle/>
          <a:p>
            <a:pPr algn="ctr" rtl="0"/>
            <a:r>
              <a:rPr lang="fr-FR" dirty="0"/>
              <a:t>Traitement des données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16</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393626" y="823103"/>
            <a:ext cx="31450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pic>
        <p:nvPicPr>
          <p:cNvPr id="6" name="Picture 4">
            <a:extLst>
              <a:ext uri="{FF2B5EF4-FFF2-40B4-BE49-F238E27FC236}">
                <a16:creationId xmlns:a16="http://schemas.microsoft.com/office/drawing/2014/main" id="{39584778-9F82-1783-9732-08BDE1599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5021" y="200728"/>
            <a:ext cx="2725810" cy="1415078"/>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e 7">
            <a:extLst>
              <a:ext uri="{FF2B5EF4-FFF2-40B4-BE49-F238E27FC236}">
                <a16:creationId xmlns:a16="http://schemas.microsoft.com/office/drawing/2014/main" id="{E613B138-9B0A-D0D7-5EB9-1A1BE8A39178}"/>
              </a:ext>
            </a:extLst>
          </p:cNvPr>
          <p:cNvGrpSpPr/>
          <p:nvPr/>
        </p:nvGrpSpPr>
        <p:grpSpPr>
          <a:xfrm>
            <a:off x="505801" y="1907241"/>
            <a:ext cx="11167959" cy="1740152"/>
            <a:chOff x="157262" y="1244142"/>
            <a:chExt cx="11167959" cy="2022327"/>
          </a:xfrm>
        </p:grpSpPr>
        <p:sp>
          <p:nvSpPr>
            <p:cNvPr id="10" name="Rectangle : coins arrondis 9">
              <a:extLst>
                <a:ext uri="{FF2B5EF4-FFF2-40B4-BE49-F238E27FC236}">
                  <a16:creationId xmlns:a16="http://schemas.microsoft.com/office/drawing/2014/main" id="{5CBC9B03-E5EB-F7B4-BCD5-4B283F4B6E51}"/>
                </a:ext>
              </a:extLst>
            </p:cNvPr>
            <p:cNvSpPr/>
            <p:nvPr/>
          </p:nvSpPr>
          <p:spPr>
            <a:xfrm>
              <a:off x="157262" y="1244142"/>
              <a:ext cx="11167959" cy="202232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14" name="ZoneTexte 13">
              <a:extLst>
                <a:ext uri="{FF2B5EF4-FFF2-40B4-BE49-F238E27FC236}">
                  <a16:creationId xmlns:a16="http://schemas.microsoft.com/office/drawing/2014/main" id="{9C559FA1-2F3A-0EE5-7AD3-3CC914A192D4}"/>
                </a:ext>
              </a:extLst>
            </p:cNvPr>
            <p:cNvSpPr txBox="1"/>
            <p:nvPr/>
          </p:nvSpPr>
          <p:spPr>
            <a:xfrm>
              <a:off x="326280" y="1468219"/>
              <a:ext cx="10829925" cy="1121959"/>
            </a:xfrm>
            <a:prstGeom prst="rect">
              <a:avLst/>
            </a:prstGeom>
            <a:noFill/>
          </p:spPr>
          <p:txBody>
            <a:bodyPr wrap="square">
              <a:spAutoFit/>
            </a:bodyPr>
            <a:lstStyle/>
            <a:p>
              <a:pPr algn="just"/>
              <a:r>
                <a:rPr lang="fr-FR" b="1" dirty="0">
                  <a:latin typeface="Verdana" panose="020B0604030504040204" pitchFamily="34" charset="0"/>
                  <a:ea typeface="Verdana" panose="020B0604030504040204" pitchFamily="34" charset="0"/>
                </a:rPr>
                <a:t>Apache Spark</a:t>
              </a:r>
              <a:r>
                <a:rPr lang="fr-FR" dirty="0">
                  <a:latin typeface="Verdana" panose="020B0604030504040204" pitchFamily="34" charset="0"/>
                  <a:ea typeface="Verdana" panose="020B0604030504040204" pitchFamily="34" charset="0"/>
                </a:rPr>
                <a:t> est un Framework de traitements Big Data open source développé en 2009 construit pour effectuer des analyses sophistiquées. Spark permet des calculs 10 à 100 fois plus rapide que sur Hadoop grâce à son mode de calcul IN-MEMORY. Le traitement des données réalisé avec Spark à essentiellement porté sur :</a:t>
              </a:r>
            </a:p>
          </p:txBody>
        </p:sp>
      </p:grpSp>
      <p:sp>
        <p:nvSpPr>
          <p:cNvPr id="18" name="ZoneTexte 17">
            <a:extLst>
              <a:ext uri="{FF2B5EF4-FFF2-40B4-BE49-F238E27FC236}">
                <a16:creationId xmlns:a16="http://schemas.microsoft.com/office/drawing/2014/main" id="{DE528F83-B8E6-8C8A-FBEA-F5C59E5F573A}"/>
              </a:ext>
            </a:extLst>
          </p:cNvPr>
          <p:cNvSpPr txBox="1"/>
          <p:nvPr/>
        </p:nvSpPr>
        <p:spPr>
          <a:xfrm>
            <a:off x="216399" y="3938828"/>
            <a:ext cx="3592121" cy="1661993"/>
          </a:xfrm>
          <a:prstGeom prst="rect">
            <a:avLst/>
          </a:prstGeom>
          <a:noFill/>
        </p:spPr>
        <p:txBody>
          <a:bodyPr wrap="square" rtlCol="0">
            <a:spAutoFit/>
          </a:bodyPr>
          <a:lstStyle/>
          <a:p>
            <a:pPr marL="285750" indent="-285750">
              <a:buFont typeface="Wingdings" panose="05000000000000000000" pitchFamily="2" charset="2"/>
              <a:buChar char="q"/>
            </a:pPr>
            <a:endParaRPr lang="fr-FR" b="1"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fr-FR" b="1" dirty="0">
                <a:latin typeface="Verdana" panose="020B0604030504040204" pitchFamily="34" charset="0"/>
                <a:ea typeface="Verdana" panose="020B0604030504040204" pitchFamily="34" charset="0"/>
              </a:rPr>
              <a:t>La création de colonnes </a:t>
            </a:r>
            <a:endParaRPr lang="fr-FR" dirty="0">
              <a:latin typeface="Verdana" panose="020B0604030504040204" pitchFamily="34" charset="0"/>
              <a:ea typeface="Verdana" panose="020B0604030504040204" pitchFamily="34" charset="0"/>
            </a:endParaRPr>
          </a:p>
          <a:p>
            <a:pPr marL="742950" lvl="1" indent="-285750">
              <a:buFont typeface="Wingdings" panose="05000000000000000000" pitchFamily="2" charset="2"/>
              <a:buChar char="ü"/>
            </a:pPr>
            <a:r>
              <a:rPr lang="fr-FR" sz="1600" dirty="0" err="1">
                <a:latin typeface="Verdana" panose="020B0604030504040204" pitchFamily="34" charset="0"/>
                <a:ea typeface="Verdana" panose="020B0604030504040204" pitchFamily="34" charset="0"/>
              </a:rPr>
              <a:t>day</a:t>
            </a:r>
            <a:endParaRPr lang="fr-FR" sz="1600" dirty="0">
              <a:latin typeface="Verdana" panose="020B0604030504040204" pitchFamily="34" charset="0"/>
              <a:ea typeface="Verdana" panose="020B0604030504040204" pitchFamily="34" charset="0"/>
            </a:endParaRPr>
          </a:p>
          <a:p>
            <a:pPr marL="742950" lvl="1" indent="-285750">
              <a:buFont typeface="Wingdings" panose="05000000000000000000" pitchFamily="2" charset="2"/>
              <a:buChar char="ü"/>
            </a:pPr>
            <a:r>
              <a:rPr lang="fr-FR" sz="1600" dirty="0" err="1">
                <a:latin typeface="Verdana" panose="020B0604030504040204" pitchFamily="34" charset="0"/>
                <a:ea typeface="Verdana" panose="020B0604030504040204" pitchFamily="34" charset="0"/>
              </a:rPr>
              <a:t>month</a:t>
            </a:r>
            <a:endParaRPr lang="fr-FR" sz="1600" dirty="0">
              <a:latin typeface="Verdana" panose="020B0604030504040204" pitchFamily="34" charset="0"/>
              <a:ea typeface="Verdana" panose="020B0604030504040204" pitchFamily="34" charset="0"/>
            </a:endParaRPr>
          </a:p>
          <a:p>
            <a:pPr marL="742950" lvl="1" indent="-285750">
              <a:buFont typeface="Wingdings" panose="05000000000000000000" pitchFamily="2" charset="2"/>
              <a:buChar char="ü"/>
            </a:pPr>
            <a:r>
              <a:rPr lang="fr-FR" sz="1600" dirty="0" err="1">
                <a:latin typeface="Verdana" panose="020B0604030504040204" pitchFamily="34" charset="0"/>
                <a:ea typeface="Verdana" panose="020B0604030504040204" pitchFamily="34" charset="0"/>
              </a:rPr>
              <a:t>Year</a:t>
            </a:r>
            <a:endParaRPr lang="fr-FR" sz="1600" dirty="0">
              <a:latin typeface="Verdana" panose="020B0604030504040204" pitchFamily="34" charset="0"/>
              <a:ea typeface="Verdana" panose="020B0604030504040204" pitchFamily="34" charset="0"/>
            </a:endParaRPr>
          </a:p>
          <a:p>
            <a:pPr marL="742950" lvl="1" indent="-285750">
              <a:buFont typeface="Wingdings" panose="05000000000000000000" pitchFamily="2" charset="2"/>
              <a:buChar char="ü"/>
            </a:pPr>
            <a:endParaRPr lang="fr-FR" dirty="0">
              <a:latin typeface="Verdana" panose="020B0604030504040204" pitchFamily="34" charset="0"/>
              <a:ea typeface="Verdana" panose="020B0604030504040204" pitchFamily="34" charset="0"/>
            </a:endParaRPr>
          </a:p>
        </p:txBody>
      </p:sp>
      <p:pic>
        <p:nvPicPr>
          <p:cNvPr id="1026" name="Picture 2" descr="Colonne de feuille de calcul - Icônes éducation gratuites">
            <a:extLst>
              <a:ext uri="{FF2B5EF4-FFF2-40B4-BE49-F238E27FC236}">
                <a16:creationId xmlns:a16="http://schemas.microsoft.com/office/drawing/2014/main" id="{64EA486B-8641-EB42-5187-ED73FBEDD3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5244" y="4530533"/>
            <a:ext cx="2186866" cy="2186866"/>
          </a:xfrm>
          <a:prstGeom prst="rect">
            <a:avLst/>
          </a:prstGeom>
          <a:noFill/>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9ABEF780-BA56-916F-2CE2-D9640289FFAC}"/>
              </a:ext>
            </a:extLst>
          </p:cNvPr>
          <p:cNvSpPr txBox="1"/>
          <p:nvPr/>
        </p:nvSpPr>
        <p:spPr>
          <a:xfrm>
            <a:off x="6457585" y="4188860"/>
            <a:ext cx="3851794" cy="1354217"/>
          </a:xfrm>
          <a:prstGeom prst="rect">
            <a:avLst/>
          </a:prstGeom>
          <a:noFill/>
        </p:spPr>
        <p:txBody>
          <a:bodyPr wrap="square">
            <a:spAutoFit/>
          </a:bodyPr>
          <a:lstStyle/>
          <a:p>
            <a:pPr marL="285750" indent="-285750">
              <a:buFont typeface="Wingdings" panose="05000000000000000000" pitchFamily="2" charset="2"/>
              <a:buChar char="q"/>
            </a:pPr>
            <a:r>
              <a:rPr lang="fr-FR" b="1" dirty="0">
                <a:latin typeface="Verdana" panose="020B0604030504040204" pitchFamily="34" charset="0"/>
                <a:ea typeface="Verdana" panose="020B0604030504040204" pitchFamily="34" charset="0"/>
              </a:rPr>
              <a:t>Le typage des colonnes</a:t>
            </a:r>
          </a:p>
          <a:p>
            <a:pPr marL="742950" lvl="1" indent="-285750">
              <a:buFont typeface="Wingdings" panose="05000000000000000000" pitchFamily="2" charset="2"/>
              <a:buChar char="ü"/>
            </a:pPr>
            <a:r>
              <a:rPr lang="fr-FR" sz="1600" dirty="0">
                <a:latin typeface="Verdana" panose="020B0604030504040204" pitchFamily="34" charset="0"/>
                <a:ea typeface="Verdana" panose="020B0604030504040204" pitchFamily="34" charset="0"/>
              </a:rPr>
              <a:t>String</a:t>
            </a:r>
          </a:p>
          <a:p>
            <a:pPr marL="742950" lvl="1" indent="-285750">
              <a:buFont typeface="Wingdings" panose="05000000000000000000" pitchFamily="2" charset="2"/>
              <a:buChar char="ü"/>
            </a:pPr>
            <a:r>
              <a:rPr lang="fr-FR" sz="1600" dirty="0">
                <a:latin typeface="Verdana" panose="020B0604030504040204" pitchFamily="34" charset="0"/>
                <a:ea typeface="Verdana" panose="020B0604030504040204" pitchFamily="34" charset="0"/>
              </a:rPr>
              <a:t>Int</a:t>
            </a:r>
          </a:p>
          <a:p>
            <a:pPr marL="742950" lvl="1" indent="-285750">
              <a:buFont typeface="Wingdings" panose="05000000000000000000" pitchFamily="2" charset="2"/>
              <a:buChar char="ü"/>
            </a:pPr>
            <a:r>
              <a:rPr lang="fr-FR" sz="1600" dirty="0" err="1">
                <a:latin typeface="Verdana" panose="020B0604030504040204" pitchFamily="34" charset="0"/>
                <a:ea typeface="Verdana" panose="020B0604030504040204" pitchFamily="34" charset="0"/>
              </a:rPr>
              <a:t>Float</a:t>
            </a:r>
            <a:endParaRPr lang="fr-FR" sz="1600" dirty="0">
              <a:latin typeface="Verdana" panose="020B0604030504040204" pitchFamily="34" charset="0"/>
              <a:ea typeface="Verdana" panose="020B0604030504040204" pitchFamily="34" charset="0"/>
            </a:endParaRPr>
          </a:p>
          <a:p>
            <a:pPr marL="742950" lvl="1" indent="-285750">
              <a:buFont typeface="Wingdings" panose="05000000000000000000" pitchFamily="2" charset="2"/>
              <a:buChar char="ü"/>
            </a:pPr>
            <a:r>
              <a:rPr lang="fr-FR" sz="1600" dirty="0">
                <a:latin typeface="Verdana" panose="020B0604030504040204" pitchFamily="34" charset="0"/>
                <a:ea typeface="Verdana" panose="020B0604030504040204" pitchFamily="34" charset="0"/>
              </a:rPr>
              <a:t>Date</a:t>
            </a:r>
          </a:p>
        </p:txBody>
      </p:sp>
      <p:pic>
        <p:nvPicPr>
          <p:cNvPr id="21" name="Image 20">
            <a:extLst>
              <a:ext uri="{FF2B5EF4-FFF2-40B4-BE49-F238E27FC236}">
                <a16:creationId xmlns:a16="http://schemas.microsoft.com/office/drawing/2014/main" id="{6B7A731D-90E3-F185-F681-C5E330457922}"/>
              </a:ext>
            </a:extLst>
          </p:cNvPr>
          <p:cNvPicPr>
            <a:picLocks noChangeAspect="1"/>
          </p:cNvPicPr>
          <p:nvPr/>
        </p:nvPicPr>
        <p:blipFill>
          <a:blip r:embed="rId5"/>
          <a:stretch>
            <a:fillRect/>
          </a:stretch>
        </p:blipFill>
        <p:spPr>
          <a:xfrm>
            <a:off x="9414808" y="4670561"/>
            <a:ext cx="1958784" cy="1906809"/>
          </a:xfrm>
          <a:prstGeom prst="rect">
            <a:avLst/>
          </a:prstGeom>
        </p:spPr>
      </p:pic>
    </p:spTree>
    <p:extLst>
      <p:ext uri="{BB962C8B-B14F-4D97-AF65-F5344CB8AC3E}">
        <p14:creationId xmlns:p14="http://schemas.microsoft.com/office/powerpoint/2010/main" val="1104630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17</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88979" y="2909004"/>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2">
            <a:extLst>
              <a:ext uri="{FF2B5EF4-FFF2-40B4-BE49-F238E27FC236}">
                <a16:creationId xmlns:a16="http://schemas.microsoft.com/office/drawing/2014/main" id="{BC6062B0-1D75-4396-6819-DAF4D04C5B1D}"/>
              </a:ext>
            </a:extLst>
          </p:cNvPr>
          <p:cNvSpPr>
            <a:spLocks noGrp="1"/>
          </p:cNvSpPr>
          <p:nvPr>
            <p:ph type="title"/>
          </p:nvPr>
        </p:nvSpPr>
        <p:spPr>
          <a:xfrm>
            <a:off x="287077" y="2577202"/>
            <a:ext cx="3295265" cy="442148"/>
          </a:xfrm>
        </p:spPr>
        <p:txBody>
          <a:bodyPr rtlCol="0"/>
          <a:lstStyle/>
          <a:p>
            <a:pPr algn="ctr"/>
            <a:r>
              <a:rPr lang="fr-FR" dirty="0">
                <a:latin typeface="+mn-lt"/>
              </a:rPr>
              <a:t>Data </a:t>
            </a:r>
            <a:r>
              <a:rPr lang="fr-FR" dirty="0" err="1">
                <a:latin typeface="+mn-lt"/>
              </a:rPr>
              <a:t>Visualization</a:t>
            </a:r>
            <a:endParaRPr lang="fr-FR" dirty="0">
              <a:latin typeface="+mn-lt"/>
            </a:endParaRPr>
          </a:p>
        </p:txBody>
      </p:sp>
      <p:pic>
        <p:nvPicPr>
          <p:cNvPr id="9218" name="Picture 2" descr="Data visualization - Free marketing icons">
            <a:extLst>
              <a:ext uri="{FF2B5EF4-FFF2-40B4-BE49-F238E27FC236}">
                <a16:creationId xmlns:a16="http://schemas.microsoft.com/office/drawing/2014/main" id="{3BC3D694-60DA-1EAB-2627-6C5FFBE9E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0834" y="925545"/>
            <a:ext cx="4876800" cy="5006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16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216073" y="316356"/>
            <a:ext cx="3145051" cy="370166"/>
          </a:xfrm>
        </p:spPr>
        <p:txBody>
          <a:bodyPr rtlCol="0"/>
          <a:lstStyle/>
          <a:p>
            <a:pPr algn="ctr" rtl="0"/>
            <a:r>
              <a:rPr lang="fr-FR" dirty="0"/>
              <a:t>Visualisation </a:t>
            </a:r>
            <a:br>
              <a:rPr lang="fr-FR" dirty="0"/>
            </a:br>
            <a:r>
              <a:rPr lang="fr-FR" dirty="0"/>
              <a:t>des données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18</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287094" y="672181"/>
            <a:ext cx="31450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14" name="ZoneTexte 13">
            <a:extLst>
              <a:ext uri="{FF2B5EF4-FFF2-40B4-BE49-F238E27FC236}">
                <a16:creationId xmlns:a16="http://schemas.microsoft.com/office/drawing/2014/main" id="{9C559FA1-2F3A-0EE5-7AD3-3CC914A192D4}"/>
              </a:ext>
            </a:extLst>
          </p:cNvPr>
          <p:cNvSpPr txBox="1"/>
          <p:nvPr/>
        </p:nvSpPr>
        <p:spPr>
          <a:xfrm>
            <a:off x="457885" y="1777751"/>
            <a:ext cx="6151746" cy="295682"/>
          </a:xfrm>
          <a:prstGeom prst="rect">
            <a:avLst/>
          </a:prstGeom>
          <a:noFill/>
        </p:spPr>
        <p:txBody>
          <a:bodyPr wrap="square">
            <a:spAutoFit/>
          </a:bodyPr>
          <a:lstStyle/>
          <a:p>
            <a:pPr algn="just"/>
            <a:endParaRPr lang="fr-FR" dirty="0">
              <a:latin typeface="Verdana" panose="020B0604030504040204" pitchFamily="34" charset="0"/>
              <a:ea typeface="Verdana" panose="020B0604030504040204" pitchFamily="34" charset="0"/>
            </a:endParaRPr>
          </a:p>
        </p:txBody>
      </p:sp>
      <p:sp>
        <p:nvSpPr>
          <p:cNvPr id="17" name="Rectangle : coins arrondis 16">
            <a:extLst>
              <a:ext uri="{FF2B5EF4-FFF2-40B4-BE49-F238E27FC236}">
                <a16:creationId xmlns:a16="http://schemas.microsoft.com/office/drawing/2014/main" id="{D4099918-A277-28DD-7913-4ED64EB9FCBC}"/>
              </a:ext>
            </a:extLst>
          </p:cNvPr>
          <p:cNvSpPr/>
          <p:nvPr/>
        </p:nvSpPr>
        <p:spPr>
          <a:xfrm>
            <a:off x="398492" y="3533382"/>
            <a:ext cx="5747606" cy="2744835"/>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grpSp>
        <p:nvGrpSpPr>
          <p:cNvPr id="23" name="Groupe 22">
            <a:extLst>
              <a:ext uri="{FF2B5EF4-FFF2-40B4-BE49-F238E27FC236}">
                <a16:creationId xmlns:a16="http://schemas.microsoft.com/office/drawing/2014/main" id="{A01EF2C5-4D38-E097-19A0-16B2A29172FF}"/>
              </a:ext>
            </a:extLst>
          </p:cNvPr>
          <p:cNvGrpSpPr/>
          <p:nvPr/>
        </p:nvGrpSpPr>
        <p:grpSpPr>
          <a:xfrm>
            <a:off x="361877" y="1596754"/>
            <a:ext cx="6343760" cy="1393141"/>
            <a:chOff x="361877" y="1596754"/>
            <a:chExt cx="6343760" cy="1393141"/>
          </a:xfrm>
        </p:grpSpPr>
        <p:sp>
          <p:nvSpPr>
            <p:cNvPr id="10" name="Rectangle : coins arrondis 9">
              <a:extLst>
                <a:ext uri="{FF2B5EF4-FFF2-40B4-BE49-F238E27FC236}">
                  <a16:creationId xmlns:a16="http://schemas.microsoft.com/office/drawing/2014/main" id="{5CBC9B03-E5EB-F7B4-BCD5-4B283F4B6E51}"/>
                </a:ext>
              </a:extLst>
            </p:cNvPr>
            <p:cNvSpPr/>
            <p:nvPr/>
          </p:nvSpPr>
          <p:spPr>
            <a:xfrm>
              <a:off x="361877" y="1596754"/>
              <a:ext cx="6343760" cy="1393141"/>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4" name="ZoneTexte 3">
              <a:extLst>
                <a:ext uri="{FF2B5EF4-FFF2-40B4-BE49-F238E27FC236}">
                  <a16:creationId xmlns:a16="http://schemas.microsoft.com/office/drawing/2014/main" id="{6C674A8C-B0CD-8827-DBD1-D4E6F13B1DCC}"/>
                </a:ext>
              </a:extLst>
            </p:cNvPr>
            <p:cNvSpPr txBox="1"/>
            <p:nvPr/>
          </p:nvSpPr>
          <p:spPr>
            <a:xfrm>
              <a:off x="560810" y="1626940"/>
              <a:ext cx="6094520" cy="1200329"/>
            </a:xfrm>
            <a:prstGeom prst="rect">
              <a:avLst/>
            </a:prstGeom>
            <a:noFill/>
          </p:spPr>
          <p:txBody>
            <a:bodyPr wrap="square">
              <a:spAutoFit/>
            </a:bodyPr>
            <a:lstStyle/>
            <a:p>
              <a:r>
                <a:rPr lang="fr-FR" dirty="0">
                  <a:latin typeface="Verdana" panose="020B0604030504040204" pitchFamily="34" charset="0"/>
                  <a:ea typeface="Verdana" panose="020B0604030504040204" pitchFamily="34" charset="0"/>
                </a:rPr>
                <a:t>Grafana est une application Web d'analyse et de visualisation multiplateforme qui agit comme une seule fenêtre pour afficher toutes vos données métriques, où qu'elles se trouvent. </a:t>
              </a:r>
            </a:p>
          </p:txBody>
        </p:sp>
      </p:grpSp>
      <p:pic>
        <p:nvPicPr>
          <p:cNvPr id="7" name="Image 6">
            <a:extLst>
              <a:ext uri="{FF2B5EF4-FFF2-40B4-BE49-F238E27FC236}">
                <a16:creationId xmlns:a16="http://schemas.microsoft.com/office/drawing/2014/main" id="{F96FFE6B-9FCC-F06B-4609-161CB8DD5138}"/>
              </a:ext>
            </a:extLst>
          </p:cNvPr>
          <p:cNvPicPr>
            <a:picLocks noChangeAspect="1"/>
          </p:cNvPicPr>
          <p:nvPr/>
        </p:nvPicPr>
        <p:blipFill>
          <a:blip r:embed="rId3"/>
          <a:stretch>
            <a:fillRect/>
          </a:stretch>
        </p:blipFill>
        <p:spPr>
          <a:xfrm>
            <a:off x="10692333" y="280630"/>
            <a:ext cx="1106041" cy="1210940"/>
          </a:xfrm>
          <a:prstGeom prst="rect">
            <a:avLst/>
          </a:prstGeom>
        </p:spPr>
      </p:pic>
      <p:pic>
        <p:nvPicPr>
          <p:cNvPr id="12" name="Image 11">
            <a:extLst>
              <a:ext uri="{FF2B5EF4-FFF2-40B4-BE49-F238E27FC236}">
                <a16:creationId xmlns:a16="http://schemas.microsoft.com/office/drawing/2014/main" id="{0A1DF4B9-EBF2-7A73-59DA-3AF5D85479F4}"/>
              </a:ext>
            </a:extLst>
          </p:cNvPr>
          <p:cNvPicPr>
            <a:picLocks noChangeAspect="1"/>
          </p:cNvPicPr>
          <p:nvPr/>
        </p:nvPicPr>
        <p:blipFill>
          <a:blip r:embed="rId4"/>
          <a:stretch>
            <a:fillRect/>
          </a:stretch>
        </p:blipFill>
        <p:spPr>
          <a:xfrm>
            <a:off x="7329218" y="2838512"/>
            <a:ext cx="3916135" cy="3538489"/>
          </a:xfrm>
          <a:prstGeom prst="rect">
            <a:avLst/>
          </a:prstGeom>
        </p:spPr>
      </p:pic>
      <p:sp>
        <p:nvSpPr>
          <p:cNvPr id="16" name="Content Placeholder 2">
            <a:extLst>
              <a:ext uri="{FF2B5EF4-FFF2-40B4-BE49-F238E27FC236}">
                <a16:creationId xmlns:a16="http://schemas.microsoft.com/office/drawing/2014/main" id="{C27D8CFC-AE4E-A63B-1284-70CF57FC4045}"/>
              </a:ext>
            </a:extLst>
          </p:cNvPr>
          <p:cNvSpPr>
            <a:spLocks noGrp="1"/>
          </p:cNvSpPr>
          <p:nvPr>
            <p:ph idx="1"/>
          </p:nvPr>
        </p:nvSpPr>
        <p:spPr>
          <a:xfrm>
            <a:off x="671404" y="3833013"/>
            <a:ext cx="5237294" cy="2297097"/>
          </a:xfrm>
        </p:spPr>
        <p:txBody>
          <a:bodyPr>
            <a:normAutofit fontScale="70000" lnSpcReduction="20000"/>
          </a:bodyPr>
          <a:lstStyle/>
          <a:p>
            <a:pPr algn="just">
              <a:lnSpc>
                <a:spcPct val="150000"/>
              </a:lnSpc>
            </a:pPr>
            <a:r>
              <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Connecter </a:t>
            </a:r>
            <a:r>
              <a:rPr lang="fr-FR" sz="2400" dirty="0">
                <a:solidFill>
                  <a:srgbClr val="000000"/>
                </a:solidFill>
                <a:latin typeface="Verdana" panose="020B0604030504040204" pitchFamily="34" charset="0"/>
                <a:ea typeface="Verdana" panose="020B0604030504040204" pitchFamily="34" charset="0"/>
                <a:cs typeface="Times New Roman" panose="02020603050405020304" pitchFamily="18" charset="0"/>
              </a:rPr>
              <a:t>vo</a:t>
            </a:r>
            <a:r>
              <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s outils et </a:t>
            </a:r>
            <a:r>
              <a:rPr lang="fr-FR" sz="2400" dirty="0">
                <a:solidFill>
                  <a:srgbClr val="000000"/>
                </a:solidFill>
                <a:latin typeface="Verdana" panose="020B0604030504040204" pitchFamily="34" charset="0"/>
                <a:ea typeface="Verdana" panose="020B0604030504040204" pitchFamily="34" charset="0"/>
                <a:cs typeface="Times New Roman" panose="02020603050405020304" pitchFamily="18" charset="0"/>
              </a:rPr>
              <a:t>vo</a:t>
            </a:r>
            <a:r>
              <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s équipes avec Grafana plugins. Ces plugins </a:t>
            </a:r>
            <a:r>
              <a:rPr lang="fr-FR" sz="2400" dirty="0">
                <a:solidFill>
                  <a:srgbClr val="000000"/>
                </a:solidFill>
                <a:latin typeface="Verdana" panose="020B0604030504040204" pitchFamily="34" charset="0"/>
                <a:ea typeface="Verdana" panose="020B0604030504040204" pitchFamily="34" charset="0"/>
                <a:cs typeface="Times New Roman" panose="02020603050405020304" pitchFamily="18" charset="0"/>
              </a:rPr>
              <a:t>vous</a:t>
            </a:r>
            <a:r>
              <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permettent de </a:t>
            </a:r>
            <a:r>
              <a:rPr lang="fr-FR" sz="2400" dirty="0">
                <a:solidFill>
                  <a:srgbClr val="000000"/>
                </a:solidFill>
                <a:latin typeface="Verdana" panose="020B0604030504040204" pitchFamily="34" charset="0"/>
                <a:ea typeface="Verdana" panose="020B0604030504040204" pitchFamily="34" charset="0"/>
                <a:cs typeface="Times New Roman" panose="02020603050405020304" pitchFamily="18" charset="0"/>
              </a:rPr>
              <a:t>vous</a:t>
            </a:r>
            <a:r>
              <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connecter à des base de </a:t>
            </a:r>
            <a:r>
              <a:rPr lang="fr-FR" sz="2400" dirty="0">
                <a:solidFill>
                  <a:srgbClr val="000000"/>
                </a:solidFill>
                <a:latin typeface="Verdana" panose="020B0604030504040204" pitchFamily="34" charset="0"/>
                <a:ea typeface="Verdana" panose="020B0604030504040204" pitchFamily="34" charset="0"/>
                <a:cs typeface="Times New Roman" panose="02020603050405020304" pitchFamily="18" charset="0"/>
              </a:rPr>
              <a:t>données existantes via des API et de rendre les données en temps réel sans avoir besoin de les migrer dans une de tes bases de données.</a:t>
            </a:r>
          </a:p>
          <a:p>
            <a:pPr algn="just">
              <a:lnSpc>
                <a:spcPct val="150000"/>
              </a:lnSpc>
            </a:pPr>
            <a:endParaRPr lang="fr-FR" sz="24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896184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19</a:t>
            </a:fld>
            <a:endParaRPr lang="fr-FR" sz="1000"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2">
            <a:extLst>
              <a:ext uri="{FF2B5EF4-FFF2-40B4-BE49-F238E27FC236}">
                <a16:creationId xmlns:a16="http://schemas.microsoft.com/office/drawing/2014/main" id="{6CAB58AF-0F19-F0E3-3D93-A77969C34C51}"/>
              </a:ext>
            </a:extLst>
          </p:cNvPr>
          <p:cNvSpPr>
            <a:spLocks noGrp="1"/>
          </p:cNvSpPr>
          <p:nvPr>
            <p:ph type="title"/>
          </p:nvPr>
        </p:nvSpPr>
        <p:spPr>
          <a:xfrm>
            <a:off x="3326610" y="591146"/>
            <a:ext cx="6096790" cy="442148"/>
          </a:xfrm>
        </p:spPr>
        <p:txBody>
          <a:bodyPr rtlCol="0"/>
          <a:lstStyle/>
          <a:p>
            <a:pPr algn="ctr"/>
            <a:r>
              <a:rPr lang="fr-FR" dirty="0" err="1">
                <a:latin typeface="+mn-lt"/>
              </a:rPr>
              <a:t>Grafana</a:t>
            </a:r>
            <a:r>
              <a:rPr lang="fr-FR" dirty="0">
                <a:latin typeface="+mn-lt"/>
              </a:rPr>
              <a:t> configuration</a:t>
            </a:r>
          </a:p>
        </p:txBody>
      </p:sp>
      <p:sp>
        <p:nvSpPr>
          <p:cNvPr id="7" name="ZoneTexte 6">
            <a:extLst>
              <a:ext uri="{FF2B5EF4-FFF2-40B4-BE49-F238E27FC236}">
                <a16:creationId xmlns:a16="http://schemas.microsoft.com/office/drawing/2014/main" id="{C05FF0EF-73E2-79B5-C3E1-98DDCD35A783}"/>
              </a:ext>
            </a:extLst>
          </p:cNvPr>
          <p:cNvSpPr txBox="1"/>
          <p:nvPr/>
        </p:nvSpPr>
        <p:spPr>
          <a:xfrm>
            <a:off x="353483" y="1897491"/>
            <a:ext cx="4744525" cy="369332"/>
          </a:xfrm>
          <a:prstGeom prst="rect">
            <a:avLst/>
          </a:prstGeom>
          <a:noFill/>
        </p:spPr>
        <p:txBody>
          <a:bodyPr wrap="square">
            <a:spAutoFit/>
          </a:bodyPr>
          <a:lstStyle/>
          <a:p>
            <a:r>
              <a:rPr lang="fr-FR" dirty="0" err="1">
                <a:latin typeface="Cambria" panose="02040503050406030204" pitchFamily="18" charset="0"/>
                <a:ea typeface="Cambria" panose="02040503050406030204" pitchFamily="18" charset="0"/>
              </a:rPr>
              <a:t>sudo</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vim</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etc</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yum.repos.d</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graphana.repo</a:t>
            </a:r>
            <a:endParaRPr lang="fr-FR" dirty="0">
              <a:latin typeface="Cambria" panose="02040503050406030204" pitchFamily="18" charset="0"/>
              <a:ea typeface="Cambria" panose="02040503050406030204" pitchFamily="18" charset="0"/>
            </a:endParaRPr>
          </a:p>
        </p:txBody>
      </p:sp>
      <p:sp>
        <p:nvSpPr>
          <p:cNvPr id="9" name="ZoneTexte 8">
            <a:extLst>
              <a:ext uri="{FF2B5EF4-FFF2-40B4-BE49-F238E27FC236}">
                <a16:creationId xmlns:a16="http://schemas.microsoft.com/office/drawing/2014/main" id="{185CDAE4-FE77-DBCB-DFFA-F2DC631F2A54}"/>
              </a:ext>
            </a:extLst>
          </p:cNvPr>
          <p:cNvSpPr txBox="1"/>
          <p:nvPr/>
        </p:nvSpPr>
        <p:spPr>
          <a:xfrm>
            <a:off x="353483" y="2238150"/>
            <a:ext cx="4813300" cy="2585323"/>
          </a:xfrm>
          <a:prstGeom prst="rect">
            <a:avLst/>
          </a:prstGeom>
          <a:noFill/>
        </p:spPr>
        <p:txBody>
          <a:bodyPr wrap="square">
            <a:spAutoFit/>
          </a:bodyPr>
          <a:lstStyle/>
          <a:p>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grafana</a:t>
            </a:r>
            <a:r>
              <a:rPr lang="fr-FR" dirty="0">
                <a:latin typeface="Cambria" panose="02040503050406030204" pitchFamily="18" charset="0"/>
                <a:ea typeface="Cambria" panose="02040503050406030204" pitchFamily="18" charset="0"/>
              </a:rPr>
              <a:t>]</a:t>
            </a:r>
          </a:p>
          <a:p>
            <a:r>
              <a:rPr lang="fr-FR" dirty="0" err="1">
                <a:latin typeface="Cambria" panose="02040503050406030204" pitchFamily="18" charset="0"/>
                <a:ea typeface="Cambria" panose="02040503050406030204" pitchFamily="18" charset="0"/>
              </a:rPr>
              <a:t>name</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grafana</a:t>
            </a:r>
            <a:endParaRPr lang="fr-FR" dirty="0">
              <a:latin typeface="Cambria" panose="02040503050406030204" pitchFamily="18" charset="0"/>
              <a:ea typeface="Cambria" panose="02040503050406030204" pitchFamily="18" charset="0"/>
            </a:endParaRPr>
          </a:p>
          <a:p>
            <a:r>
              <a:rPr lang="fr-FR" dirty="0" err="1">
                <a:latin typeface="Cambria" panose="02040503050406030204" pitchFamily="18" charset="0"/>
                <a:ea typeface="Cambria" panose="02040503050406030204" pitchFamily="18" charset="0"/>
              </a:rPr>
              <a:t>baseurl</a:t>
            </a:r>
            <a:r>
              <a:rPr lang="fr-FR" dirty="0">
                <a:latin typeface="Cambria" panose="02040503050406030204" pitchFamily="18" charset="0"/>
                <a:ea typeface="Cambria" panose="02040503050406030204" pitchFamily="18" charset="0"/>
              </a:rPr>
              <a:t>=https://rpm.grafana.com</a:t>
            </a:r>
          </a:p>
          <a:p>
            <a:r>
              <a:rPr lang="fr-FR" dirty="0" err="1">
                <a:latin typeface="Cambria" panose="02040503050406030204" pitchFamily="18" charset="0"/>
                <a:ea typeface="Cambria" panose="02040503050406030204" pitchFamily="18" charset="0"/>
              </a:rPr>
              <a:t>repo_gpgcheck</a:t>
            </a:r>
            <a:r>
              <a:rPr lang="fr-FR" dirty="0">
                <a:latin typeface="Cambria" panose="02040503050406030204" pitchFamily="18" charset="0"/>
                <a:ea typeface="Cambria" panose="02040503050406030204" pitchFamily="18" charset="0"/>
              </a:rPr>
              <a:t>=1</a:t>
            </a:r>
          </a:p>
          <a:p>
            <a:r>
              <a:rPr lang="fr-FR" dirty="0" err="1">
                <a:latin typeface="Cambria" panose="02040503050406030204" pitchFamily="18" charset="0"/>
                <a:ea typeface="Cambria" panose="02040503050406030204" pitchFamily="18" charset="0"/>
              </a:rPr>
              <a:t>enabled</a:t>
            </a:r>
            <a:r>
              <a:rPr lang="fr-FR" dirty="0">
                <a:latin typeface="Cambria" panose="02040503050406030204" pitchFamily="18" charset="0"/>
                <a:ea typeface="Cambria" panose="02040503050406030204" pitchFamily="18" charset="0"/>
              </a:rPr>
              <a:t>=1</a:t>
            </a:r>
          </a:p>
          <a:p>
            <a:r>
              <a:rPr lang="fr-FR" dirty="0" err="1">
                <a:latin typeface="Cambria" panose="02040503050406030204" pitchFamily="18" charset="0"/>
                <a:ea typeface="Cambria" panose="02040503050406030204" pitchFamily="18" charset="0"/>
              </a:rPr>
              <a:t>gpgcheck</a:t>
            </a:r>
            <a:r>
              <a:rPr lang="fr-FR" dirty="0">
                <a:latin typeface="Cambria" panose="02040503050406030204" pitchFamily="18" charset="0"/>
                <a:ea typeface="Cambria" panose="02040503050406030204" pitchFamily="18" charset="0"/>
              </a:rPr>
              <a:t>=1</a:t>
            </a:r>
          </a:p>
          <a:p>
            <a:r>
              <a:rPr lang="fr-FR" dirty="0" err="1">
                <a:latin typeface="Cambria" panose="02040503050406030204" pitchFamily="18" charset="0"/>
                <a:ea typeface="Cambria" panose="02040503050406030204" pitchFamily="18" charset="0"/>
              </a:rPr>
              <a:t>gpgkey</a:t>
            </a:r>
            <a:r>
              <a:rPr lang="fr-FR" dirty="0">
                <a:latin typeface="Cambria" panose="02040503050406030204" pitchFamily="18" charset="0"/>
                <a:ea typeface="Cambria" panose="02040503050406030204" pitchFamily="18" charset="0"/>
              </a:rPr>
              <a:t>=https://rpm.grafana.com/gpg.key</a:t>
            </a:r>
          </a:p>
          <a:p>
            <a:r>
              <a:rPr lang="fr-FR" dirty="0" err="1">
                <a:latin typeface="Cambria" panose="02040503050406030204" pitchFamily="18" charset="0"/>
                <a:ea typeface="Cambria" panose="02040503050406030204" pitchFamily="18" charset="0"/>
              </a:rPr>
              <a:t>sslverify</a:t>
            </a:r>
            <a:r>
              <a:rPr lang="fr-FR" dirty="0">
                <a:latin typeface="Cambria" panose="02040503050406030204" pitchFamily="18" charset="0"/>
                <a:ea typeface="Cambria" panose="02040503050406030204" pitchFamily="18" charset="0"/>
              </a:rPr>
              <a:t>=1</a:t>
            </a:r>
          </a:p>
          <a:p>
            <a:r>
              <a:rPr lang="fr-FR" dirty="0" err="1">
                <a:latin typeface="Cambria" panose="02040503050406030204" pitchFamily="18" charset="0"/>
                <a:ea typeface="Cambria" panose="02040503050406030204" pitchFamily="18" charset="0"/>
              </a:rPr>
              <a:t>sslcacert</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etc</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pki</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tls</a:t>
            </a:r>
            <a:r>
              <a:rPr lang="fr-FR" dirty="0">
                <a:latin typeface="Cambria" panose="02040503050406030204" pitchFamily="18" charset="0"/>
                <a:ea typeface="Cambria" panose="02040503050406030204" pitchFamily="18" charset="0"/>
              </a:rPr>
              <a:t>/</a:t>
            </a:r>
            <a:r>
              <a:rPr lang="fr-FR" dirty="0" err="1">
                <a:latin typeface="Cambria" panose="02040503050406030204" pitchFamily="18" charset="0"/>
                <a:ea typeface="Cambria" panose="02040503050406030204" pitchFamily="18" charset="0"/>
              </a:rPr>
              <a:t>certs</a:t>
            </a:r>
            <a:r>
              <a:rPr lang="fr-FR" dirty="0">
                <a:latin typeface="Cambria" panose="02040503050406030204" pitchFamily="18" charset="0"/>
                <a:ea typeface="Cambria" panose="02040503050406030204" pitchFamily="18" charset="0"/>
              </a:rPr>
              <a:t>/ca-bundle.crt</a:t>
            </a:r>
          </a:p>
        </p:txBody>
      </p:sp>
      <p:sp>
        <p:nvSpPr>
          <p:cNvPr id="13" name="ZoneTexte 12">
            <a:extLst>
              <a:ext uri="{FF2B5EF4-FFF2-40B4-BE49-F238E27FC236}">
                <a16:creationId xmlns:a16="http://schemas.microsoft.com/office/drawing/2014/main" id="{55C9A8D9-355A-1E2B-5EF2-04832CE0D044}"/>
              </a:ext>
            </a:extLst>
          </p:cNvPr>
          <p:cNvSpPr txBox="1"/>
          <p:nvPr/>
        </p:nvSpPr>
        <p:spPr>
          <a:xfrm>
            <a:off x="360875" y="4927188"/>
            <a:ext cx="3440658" cy="923330"/>
          </a:xfrm>
          <a:prstGeom prst="rect">
            <a:avLst/>
          </a:prstGeom>
          <a:noFill/>
        </p:spPr>
        <p:txBody>
          <a:bodyPr wrap="square">
            <a:spAutoFit/>
          </a:bodyPr>
          <a:lstStyle/>
          <a:p>
            <a:r>
              <a:rPr lang="fr-FR" b="1" dirty="0">
                <a:latin typeface="Cambria" panose="02040503050406030204" pitchFamily="18" charset="0"/>
                <a:ea typeface="Cambria" panose="02040503050406030204" pitchFamily="18" charset="0"/>
              </a:rPr>
              <a:t>2. Installation</a:t>
            </a:r>
          </a:p>
          <a:p>
            <a:endParaRPr lang="fr-FR" dirty="0">
              <a:latin typeface="Cambria" panose="02040503050406030204" pitchFamily="18" charset="0"/>
              <a:ea typeface="Cambria" panose="02040503050406030204" pitchFamily="18" charset="0"/>
            </a:endParaRPr>
          </a:p>
          <a:p>
            <a:r>
              <a:rPr lang="fr-FR" dirty="0" err="1">
                <a:latin typeface="Cambria" panose="02040503050406030204" pitchFamily="18" charset="0"/>
                <a:ea typeface="Cambria" panose="02040503050406030204" pitchFamily="18" charset="0"/>
              </a:rPr>
              <a:t>sudo</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yum</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install</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grafana</a:t>
            </a:r>
            <a:endParaRPr lang="fr-FR" dirty="0">
              <a:latin typeface="Cambria" panose="02040503050406030204" pitchFamily="18" charset="0"/>
              <a:ea typeface="Cambria" panose="02040503050406030204" pitchFamily="18" charset="0"/>
            </a:endParaRPr>
          </a:p>
        </p:txBody>
      </p:sp>
      <p:sp>
        <p:nvSpPr>
          <p:cNvPr id="15" name="ZoneTexte 14">
            <a:extLst>
              <a:ext uri="{FF2B5EF4-FFF2-40B4-BE49-F238E27FC236}">
                <a16:creationId xmlns:a16="http://schemas.microsoft.com/office/drawing/2014/main" id="{16025737-61CC-9654-E229-EFFDF91DECD5}"/>
              </a:ext>
            </a:extLst>
          </p:cNvPr>
          <p:cNvSpPr txBox="1"/>
          <p:nvPr/>
        </p:nvSpPr>
        <p:spPr>
          <a:xfrm>
            <a:off x="7409634" y="1662245"/>
            <a:ext cx="4604742" cy="3970318"/>
          </a:xfrm>
          <a:prstGeom prst="rect">
            <a:avLst/>
          </a:prstGeom>
          <a:noFill/>
        </p:spPr>
        <p:txBody>
          <a:bodyPr wrap="square">
            <a:spAutoFit/>
          </a:bodyPr>
          <a:lstStyle/>
          <a:p>
            <a:r>
              <a:rPr lang="fr-FR" b="1" dirty="0"/>
              <a:t>3. Installation de </a:t>
            </a:r>
            <a:r>
              <a:rPr lang="fr-FR" b="1" dirty="0" err="1"/>
              <a:t>polkit</a:t>
            </a:r>
            <a:endParaRPr lang="fr-FR" b="1" dirty="0"/>
          </a:p>
          <a:p>
            <a:endParaRPr lang="fr-FR" b="1" dirty="0"/>
          </a:p>
          <a:p>
            <a:r>
              <a:rPr lang="fr-FR" dirty="0" err="1">
                <a:latin typeface="Cambria" panose="02040503050406030204" pitchFamily="18" charset="0"/>
                <a:ea typeface="Cambria" panose="02040503050406030204" pitchFamily="18" charset="0"/>
              </a:rPr>
              <a:t>sudo</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yum</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install</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polkit</a:t>
            </a:r>
            <a:endParaRPr lang="fr-FR" dirty="0">
              <a:latin typeface="Cambria" panose="02040503050406030204" pitchFamily="18" charset="0"/>
              <a:ea typeface="Cambria" panose="02040503050406030204" pitchFamily="18" charset="0"/>
            </a:endParaRPr>
          </a:p>
          <a:p>
            <a:endParaRPr lang="fr-FR" b="1" dirty="0"/>
          </a:p>
          <a:p>
            <a:endParaRPr lang="fr-FR" b="1" dirty="0"/>
          </a:p>
          <a:p>
            <a:r>
              <a:rPr lang="fr-FR" b="1" dirty="0"/>
              <a:t>4. Start </a:t>
            </a:r>
            <a:r>
              <a:rPr lang="fr-FR" b="1" dirty="0" err="1"/>
              <a:t>graphana</a:t>
            </a:r>
            <a:endParaRPr lang="fr-FR" b="1" dirty="0"/>
          </a:p>
          <a:p>
            <a:endParaRPr lang="fr-FR" b="1" dirty="0"/>
          </a:p>
          <a:p>
            <a:r>
              <a:rPr lang="fr-FR" dirty="0" err="1">
                <a:latin typeface="Cambria" panose="02040503050406030204" pitchFamily="18" charset="0"/>
                <a:ea typeface="Cambria" panose="02040503050406030204" pitchFamily="18" charset="0"/>
              </a:rPr>
              <a:t>sudo</a:t>
            </a:r>
            <a:r>
              <a:rPr lang="fr-FR" dirty="0">
                <a:latin typeface="Cambria" panose="02040503050406030204" pitchFamily="18" charset="0"/>
                <a:ea typeface="Cambria" panose="02040503050406030204" pitchFamily="18" charset="0"/>
              </a:rPr>
              <a:t> service </a:t>
            </a:r>
            <a:r>
              <a:rPr lang="fr-FR" dirty="0" err="1">
                <a:latin typeface="Cambria" panose="02040503050406030204" pitchFamily="18" charset="0"/>
                <a:ea typeface="Cambria" panose="02040503050406030204" pitchFamily="18" charset="0"/>
              </a:rPr>
              <a:t>grafana</a:t>
            </a:r>
            <a:r>
              <a:rPr lang="fr-FR" dirty="0">
                <a:latin typeface="Cambria" panose="02040503050406030204" pitchFamily="18" charset="0"/>
                <a:ea typeface="Cambria" panose="02040503050406030204" pitchFamily="18" charset="0"/>
              </a:rPr>
              <a:t>-server start</a:t>
            </a:r>
          </a:p>
          <a:p>
            <a:endParaRPr lang="fr-FR" dirty="0">
              <a:latin typeface="Cambria" panose="02040503050406030204" pitchFamily="18" charset="0"/>
              <a:ea typeface="Cambria" panose="02040503050406030204" pitchFamily="18" charset="0"/>
            </a:endParaRPr>
          </a:p>
          <a:p>
            <a:r>
              <a:rPr lang="fr-FR" b="1" dirty="0">
                <a:latin typeface="Cambria" panose="02040503050406030204" pitchFamily="18" charset="0"/>
                <a:ea typeface="Cambria" panose="02040503050406030204" pitchFamily="18" charset="0"/>
              </a:rPr>
              <a:t>5. Connexion </a:t>
            </a:r>
          </a:p>
          <a:p>
            <a:r>
              <a:rPr lang="fr-FR" dirty="0">
                <a:latin typeface="Cambria" panose="02040503050406030204" pitchFamily="18" charset="0"/>
                <a:ea typeface="Cambria" panose="02040503050406030204" pitchFamily="18" charset="0"/>
                <a:hlinkClick r:id="rId3"/>
              </a:rPr>
              <a:t>http://34.229.72.125:3000</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r>
              <a:rPr lang="fr-FR" b="1" dirty="0">
                <a:latin typeface="Cambria" panose="02040503050406030204" pitchFamily="18" charset="0"/>
                <a:ea typeface="Cambria" panose="02040503050406030204" pitchFamily="18" charset="0"/>
              </a:rPr>
              <a:t>6. Data Source Link</a:t>
            </a:r>
          </a:p>
          <a:p>
            <a:r>
              <a:rPr lang="fr-FR" b="1" dirty="0">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rPr>
              <a:t>HTTP</a:t>
            </a:r>
          </a:p>
        </p:txBody>
      </p:sp>
      <p:sp>
        <p:nvSpPr>
          <p:cNvPr id="16" name="ZoneTexte 15">
            <a:extLst>
              <a:ext uri="{FF2B5EF4-FFF2-40B4-BE49-F238E27FC236}">
                <a16:creationId xmlns:a16="http://schemas.microsoft.com/office/drawing/2014/main" id="{215E1520-662D-B48B-EFB0-CDEE35AE4300}"/>
              </a:ext>
            </a:extLst>
          </p:cNvPr>
          <p:cNvSpPr txBox="1"/>
          <p:nvPr/>
        </p:nvSpPr>
        <p:spPr>
          <a:xfrm>
            <a:off x="410376" y="1507080"/>
            <a:ext cx="4371992" cy="338554"/>
          </a:xfrm>
          <a:prstGeom prst="rect">
            <a:avLst/>
          </a:prstGeom>
          <a:noFill/>
        </p:spPr>
        <p:txBody>
          <a:bodyPr wrap="square" rtlCol="0">
            <a:spAutoFit/>
          </a:bodyPr>
          <a:lstStyle/>
          <a:p>
            <a:r>
              <a:rPr lang="fr-FR" sz="1600" b="1" dirty="0"/>
              <a:t>1. Création du fichier de configuration</a:t>
            </a:r>
          </a:p>
        </p:txBody>
      </p:sp>
      <p:pic>
        <p:nvPicPr>
          <p:cNvPr id="17" name="Picture 2" descr="Parameter - Free ui icons">
            <a:extLst>
              <a:ext uri="{FF2B5EF4-FFF2-40B4-BE49-F238E27FC236}">
                <a16:creationId xmlns:a16="http://schemas.microsoft.com/office/drawing/2014/main" id="{DDA3FF04-02F9-8B14-4AA2-BC9B3E012F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0133" y="321126"/>
            <a:ext cx="1143000" cy="1095007"/>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 17">
            <a:extLst>
              <a:ext uri="{FF2B5EF4-FFF2-40B4-BE49-F238E27FC236}">
                <a16:creationId xmlns:a16="http://schemas.microsoft.com/office/drawing/2014/main" id="{9BF0D723-B71D-862B-8ADB-9F901F78EE1B}"/>
              </a:ext>
            </a:extLst>
          </p:cNvPr>
          <p:cNvPicPr>
            <a:picLocks noChangeAspect="1"/>
          </p:cNvPicPr>
          <p:nvPr/>
        </p:nvPicPr>
        <p:blipFill>
          <a:blip r:embed="rId5"/>
          <a:stretch>
            <a:fillRect/>
          </a:stretch>
        </p:blipFill>
        <p:spPr>
          <a:xfrm>
            <a:off x="11075688" y="327899"/>
            <a:ext cx="1000152" cy="1095008"/>
          </a:xfrm>
          <a:prstGeom prst="rect">
            <a:avLst/>
          </a:prstGeom>
        </p:spPr>
      </p:pic>
    </p:spTree>
    <p:extLst>
      <p:ext uri="{BB962C8B-B14F-4D97-AF65-F5344CB8AC3E}">
        <p14:creationId xmlns:p14="http://schemas.microsoft.com/office/powerpoint/2010/main" val="2353454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20</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17957" y="992799"/>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536EEC90-7BFE-94C8-B100-13606958CEE3}"/>
              </a:ext>
            </a:extLst>
          </p:cNvPr>
          <p:cNvPicPr>
            <a:picLocks noChangeAspect="1"/>
          </p:cNvPicPr>
          <p:nvPr/>
        </p:nvPicPr>
        <p:blipFill>
          <a:blip r:embed="rId3"/>
          <a:stretch>
            <a:fillRect/>
          </a:stretch>
        </p:blipFill>
        <p:spPr>
          <a:xfrm>
            <a:off x="126494" y="1178311"/>
            <a:ext cx="5969506" cy="2877038"/>
          </a:xfrm>
          <a:prstGeom prst="rect">
            <a:avLst/>
          </a:prstGeom>
        </p:spPr>
      </p:pic>
      <p:pic>
        <p:nvPicPr>
          <p:cNvPr id="7" name="Image 6">
            <a:extLst>
              <a:ext uri="{FF2B5EF4-FFF2-40B4-BE49-F238E27FC236}">
                <a16:creationId xmlns:a16="http://schemas.microsoft.com/office/drawing/2014/main" id="{6BBD7EC1-09A8-AFF9-EBFB-266A2BCA5CE7}"/>
              </a:ext>
            </a:extLst>
          </p:cNvPr>
          <p:cNvPicPr>
            <a:picLocks noChangeAspect="1"/>
          </p:cNvPicPr>
          <p:nvPr/>
        </p:nvPicPr>
        <p:blipFill>
          <a:blip r:embed="rId4"/>
          <a:stretch>
            <a:fillRect/>
          </a:stretch>
        </p:blipFill>
        <p:spPr>
          <a:xfrm>
            <a:off x="6828506" y="1178311"/>
            <a:ext cx="4685347" cy="3049546"/>
          </a:xfrm>
          <a:prstGeom prst="rect">
            <a:avLst/>
          </a:prstGeom>
        </p:spPr>
      </p:pic>
      <p:graphicFrame>
        <p:nvGraphicFramePr>
          <p:cNvPr id="8" name="Tableau 8">
            <a:extLst>
              <a:ext uri="{FF2B5EF4-FFF2-40B4-BE49-F238E27FC236}">
                <a16:creationId xmlns:a16="http://schemas.microsoft.com/office/drawing/2014/main" id="{C45FE7D7-DD18-9FBC-D887-02EEE643375F}"/>
              </a:ext>
            </a:extLst>
          </p:cNvPr>
          <p:cNvGraphicFramePr>
            <a:graphicFrameLocks noGrp="1"/>
          </p:cNvGraphicFramePr>
          <p:nvPr>
            <p:extLst>
              <p:ext uri="{D42A27DB-BD31-4B8C-83A1-F6EECF244321}">
                <p14:modId xmlns:p14="http://schemas.microsoft.com/office/powerpoint/2010/main" val="1690705842"/>
              </p:ext>
            </p:extLst>
          </p:nvPr>
        </p:nvGraphicFramePr>
        <p:xfrm>
          <a:off x="226917" y="4134845"/>
          <a:ext cx="4442086" cy="2334370"/>
        </p:xfrm>
        <a:graphic>
          <a:graphicData uri="http://schemas.openxmlformats.org/drawingml/2006/table">
            <a:tbl>
              <a:tblPr firstRow="1" bandRow="1">
                <a:tableStyleId>{21E4AEA4-8DFA-4A89-87EB-49C32662AFE0}</a:tableStyleId>
              </a:tblPr>
              <a:tblGrid>
                <a:gridCol w="2221043">
                  <a:extLst>
                    <a:ext uri="{9D8B030D-6E8A-4147-A177-3AD203B41FA5}">
                      <a16:colId xmlns:a16="http://schemas.microsoft.com/office/drawing/2014/main" val="3910643797"/>
                    </a:ext>
                  </a:extLst>
                </a:gridCol>
                <a:gridCol w="2221043">
                  <a:extLst>
                    <a:ext uri="{9D8B030D-6E8A-4147-A177-3AD203B41FA5}">
                      <a16:colId xmlns:a16="http://schemas.microsoft.com/office/drawing/2014/main" val="161011374"/>
                    </a:ext>
                  </a:extLst>
                </a:gridCol>
              </a:tblGrid>
              <a:tr h="206896">
                <a:tc>
                  <a:txBody>
                    <a:bodyPr/>
                    <a:lstStyle/>
                    <a:p>
                      <a:pPr algn="ctr"/>
                      <a:r>
                        <a:rPr lang="fr-FR" sz="1100" dirty="0"/>
                        <a:t>WM0</a:t>
                      </a:r>
                    </a:p>
                  </a:txBody>
                  <a:tcPr/>
                </a:tc>
                <a:tc>
                  <a:txBody>
                    <a:bodyPr/>
                    <a:lstStyle/>
                    <a:p>
                      <a:pPr algn="ctr"/>
                      <a:r>
                        <a:rPr lang="fr-FR" sz="1100" dirty="0" err="1"/>
                        <a:t>Meaning</a:t>
                      </a:r>
                      <a:endParaRPr lang="fr-FR" sz="1100" dirty="0"/>
                    </a:p>
                  </a:txBody>
                  <a:tcPr/>
                </a:tc>
                <a:extLst>
                  <a:ext uri="{0D108BD9-81ED-4DB2-BD59-A6C34878D82A}">
                    <a16:rowId xmlns:a16="http://schemas.microsoft.com/office/drawing/2014/main" val="1866318769"/>
                  </a:ext>
                </a:extLst>
              </a:tr>
              <a:tr h="598945">
                <a:tc>
                  <a:txBody>
                    <a:bodyPr/>
                    <a:lstStyle/>
                    <a:p>
                      <a:pPr algn="ctr"/>
                      <a:endParaRPr lang="en-US" sz="1200" b="1" dirty="0"/>
                    </a:p>
                    <a:p>
                      <a:pPr algn="ctr"/>
                      <a:r>
                        <a:rPr lang="en-US" sz="1200" b="1" dirty="0"/>
                        <a:t>1</a:t>
                      </a:r>
                      <a:endParaRPr lang="fr-FR" sz="1200" b="1" dirty="0"/>
                    </a:p>
                  </a:txBody>
                  <a:tcPr/>
                </a:tc>
                <a:tc>
                  <a:txBody>
                    <a:bodyPr/>
                    <a:lstStyle/>
                    <a:p>
                      <a:pPr algn="just"/>
                      <a:r>
                        <a:rPr lang="fr-FR" sz="1100" dirty="0"/>
                        <a:t>Les nuages se dissolvent généralement ou deviennent moins développés</a:t>
                      </a:r>
                    </a:p>
                  </a:txBody>
                  <a:tcPr/>
                </a:tc>
                <a:extLst>
                  <a:ext uri="{0D108BD9-81ED-4DB2-BD59-A6C34878D82A}">
                    <a16:rowId xmlns:a16="http://schemas.microsoft.com/office/drawing/2014/main" val="877239930"/>
                  </a:ext>
                </a:extLst>
              </a:tr>
              <a:tr h="463699">
                <a:tc>
                  <a:txBody>
                    <a:bodyPr/>
                    <a:lstStyle/>
                    <a:p>
                      <a:pPr algn="ctr"/>
                      <a:endParaRPr lang="en-US" sz="1200" b="1" dirty="0"/>
                    </a:p>
                    <a:p>
                      <a:pPr algn="ctr"/>
                      <a:r>
                        <a:rPr lang="en-US" sz="1200" b="1" dirty="0"/>
                        <a:t>53</a:t>
                      </a:r>
                      <a:endParaRPr lang="fr-FR" sz="1200" b="1" dirty="0"/>
                    </a:p>
                  </a:txBody>
                  <a:tcPr/>
                </a:tc>
                <a:tc>
                  <a:txBody>
                    <a:bodyPr/>
                    <a:lstStyle/>
                    <a:p>
                      <a:pPr algn="just"/>
                      <a:r>
                        <a:rPr lang="fr-FR" sz="1100" dirty="0"/>
                        <a:t>Bruine, non gelée, continue modéré lors de l’observation</a:t>
                      </a:r>
                    </a:p>
                  </a:txBody>
                  <a:tcPr/>
                </a:tc>
                <a:extLst>
                  <a:ext uri="{0D108BD9-81ED-4DB2-BD59-A6C34878D82A}">
                    <a16:rowId xmlns:a16="http://schemas.microsoft.com/office/drawing/2014/main" val="2050567890"/>
                  </a:ext>
                </a:extLst>
              </a:tr>
              <a:tr h="197044">
                <a:tc>
                  <a:txBody>
                    <a:bodyPr/>
                    <a:lstStyle/>
                    <a:p>
                      <a:pPr algn="ctr"/>
                      <a:r>
                        <a:rPr lang="fr-FR" sz="1200" b="1" dirty="0"/>
                        <a:t>51</a:t>
                      </a:r>
                    </a:p>
                  </a:txBody>
                  <a:tcPr/>
                </a:tc>
                <a:tc>
                  <a:txBody>
                    <a:bodyPr/>
                    <a:lstStyle/>
                    <a:p>
                      <a:pPr algn="just"/>
                      <a:r>
                        <a:rPr lang="fr-FR" sz="1100" dirty="0"/>
                        <a:t>Bruine, non gelée, continue</a:t>
                      </a:r>
                    </a:p>
                  </a:txBody>
                  <a:tcPr/>
                </a:tc>
                <a:extLst>
                  <a:ext uri="{0D108BD9-81ED-4DB2-BD59-A6C34878D82A}">
                    <a16:rowId xmlns:a16="http://schemas.microsoft.com/office/drawing/2014/main" val="68244501"/>
                  </a:ext>
                </a:extLst>
              </a:tr>
              <a:tr h="197044">
                <a:tc>
                  <a:txBody>
                    <a:bodyPr/>
                    <a:lstStyle/>
                    <a:p>
                      <a:pPr algn="ctr"/>
                      <a:r>
                        <a:rPr lang="en-US" sz="1200" b="1" dirty="0"/>
                        <a:t>61</a:t>
                      </a:r>
                      <a:endParaRPr lang="fr-FR" sz="1200" b="1" dirty="0"/>
                    </a:p>
                  </a:txBody>
                  <a:tcPr/>
                </a:tc>
                <a:tc>
                  <a:txBody>
                    <a:bodyPr/>
                    <a:lstStyle/>
                    <a:p>
                      <a:pPr algn="just"/>
                      <a:r>
                        <a:rPr lang="fr-FR" sz="1100" dirty="0"/>
                        <a:t>Pluie, non gelée, continue</a:t>
                      </a:r>
                    </a:p>
                  </a:txBody>
                  <a:tcPr/>
                </a:tc>
                <a:extLst>
                  <a:ext uri="{0D108BD9-81ED-4DB2-BD59-A6C34878D82A}">
                    <a16:rowId xmlns:a16="http://schemas.microsoft.com/office/drawing/2014/main" val="2046842010"/>
                  </a:ext>
                </a:extLst>
              </a:tr>
              <a:tr h="464006">
                <a:tc>
                  <a:txBody>
                    <a:bodyPr/>
                    <a:lstStyle/>
                    <a:p>
                      <a:pPr algn="ctr"/>
                      <a:endParaRPr lang="en-US" sz="1200" b="1" dirty="0"/>
                    </a:p>
                    <a:p>
                      <a:pPr algn="ctr"/>
                      <a:r>
                        <a:rPr lang="en-US" sz="1200" b="1" dirty="0"/>
                        <a:t>63</a:t>
                      </a:r>
                      <a:endParaRPr lang="fr-FR" sz="1200" b="1" dirty="0"/>
                    </a:p>
                  </a:txBody>
                  <a:tcPr/>
                </a:tc>
                <a:tc>
                  <a:txBody>
                    <a:bodyPr/>
                    <a:lstStyle/>
                    <a:p>
                      <a:pPr algn="just"/>
                      <a:r>
                        <a:rPr lang="fr-FR" sz="1100" dirty="0"/>
                        <a:t>Pluie, non gelée, continue, lourd au moment de l’observation</a:t>
                      </a:r>
                    </a:p>
                  </a:txBody>
                  <a:tcPr/>
                </a:tc>
                <a:extLst>
                  <a:ext uri="{0D108BD9-81ED-4DB2-BD59-A6C34878D82A}">
                    <a16:rowId xmlns:a16="http://schemas.microsoft.com/office/drawing/2014/main" val="29032666"/>
                  </a:ext>
                </a:extLst>
              </a:tr>
            </a:tbl>
          </a:graphicData>
        </a:graphic>
      </p:graphicFrame>
      <p:sp>
        <p:nvSpPr>
          <p:cNvPr id="10" name="Titre 2">
            <a:extLst>
              <a:ext uri="{FF2B5EF4-FFF2-40B4-BE49-F238E27FC236}">
                <a16:creationId xmlns:a16="http://schemas.microsoft.com/office/drawing/2014/main" id="{9EC24C13-17F2-32BB-D8AA-F54A0DAC6B6A}"/>
              </a:ext>
            </a:extLst>
          </p:cNvPr>
          <p:cNvSpPr>
            <a:spLocks noGrp="1"/>
          </p:cNvSpPr>
          <p:nvPr>
            <p:ph type="title"/>
          </p:nvPr>
        </p:nvSpPr>
        <p:spPr>
          <a:xfrm>
            <a:off x="517957" y="553406"/>
            <a:ext cx="3476586" cy="370166"/>
          </a:xfrm>
        </p:spPr>
        <p:txBody>
          <a:bodyPr/>
          <a:lstStyle/>
          <a:p>
            <a:r>
              <a:rPr lang="fr-FR" dirty="0"/>
              <a:t>Visualisation</a:t>
            </a:r>
          </a:p>
        </p:txBody>
      </p:sp>
      <p:grpSp>
        <p:nvGrpSpPr>
          <p:cNvPr id="15" name="Groupe 14">
            <a:extLst>
              <a:ext uri="{FF2B5EF4-FFF2-40B4-BE49-F238E27FC236}">
                <a16:creationId xmlns:a16="http://schemas.microsoft.com/office/drawing/2014/main" id="{D3A34DED-CD5F-AFF1-AD5C-E9A2E83F2C69}"/>
              </a:ext>
            </a:extLst>
          </p:cNvPr>
          <p:cNvGrpSpPr/>
          <p:nvPr/>
        </p:nvGrpSpPr>
        <p:grpSpPr>
          <a:xfrm>
            <a:off x="6212633" y="4569164"/>
            <a:ext cx="5461856" cy="1671765"/>
            <a:chOff x="6174533" y="4578689"/>
            <a:chExt cx="5461856" cy="1671765"/>
          </a:xfrm>
        </p:grpSpPr>
        <p:sp>
          <p:nvSpPr>
            <p:cNvPr id="14" name="Rectangle : coins arrondis 13">
              <a:extLst>
                <a:ext uri="{FF2B5EF4-FFF2-40B4-BE49-F238E27FC236}">
                  <a16:creationId xmlns:a16="http://schemas.microsoft.com/office/drawing/2014/main" id="{8A89854C-DDE4-618E-69F4-DF470A0452DA}"/>
                </a:ext>
              </a:extLst>
            </p:cNvPr>
            <p:cNvSpPr/>
            <p:nvPr/>
          </p:nvSpPr>
          <p:spPr>
            <a:xfrm>
              <a:off x="6174533" y="4578689"/>
              <a:ext cx="5461856" cy="1671765"/>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sp>
          <p:nvSpPr>
            <p:cNvPr id="13" name="ZoneTexte 12">
              <a:extLst>
                <a:ext uri="{FF2B5EF4-FFF2-40B4-BE49-F238E27FC236}">
                  <a16:creationId xmlns:a16="http://schemas.microsoft.com/office/drawing/2014/main" id="{39269D41-D1DC-2658-3265-11BF9B0D74EE}"/>
                </a:ext>
              </a:extLst>
            </p:cNvPr>
            <p:cNvSpPr txBox="1"/>
            <p:nvPr/>
          </p:nvSpPr>
          <p:spPr>
            <a:xfrm>
              <a:off x="6297070" y="4588214"/>
              <a:ext cx="5216783" cy="1569660"/>
            </a:xfrm>
            <a:prstGeom prst="rect">
              <a:avLst/>
            </a:prstGeom>
            <a:noFill/>
          </p:spPr>
          <p:txBody>
            <a:bodyPr wrap="square">
              <a:spAutoFit/>
            </a:bodyPr>
            <a:lstStyle/>
            <a:p>
              <a:pPr algn="just"/>
              <a:r>
                <a:rPr lang="fr-FR" sz="1600" dirty="0"/>
                <a:t>Le </a:t>
              </a:r>
              <a:r>
                <a:rPr lang="fr-FR" sz="1600" b="1" dirty="0"/>
                <a:t>weathercode</a:t>
              </a:r>
              <a:r>
                <a:rPr lang="fr-FR" sz="1600" dirty="0"/>
                <a:t> est un système de classification numérique utilisé pour représenter les conditions météorologiques dans les rapports et les observations météorologiques. Les codes de temps WMO sont des nombres à deux chiffres qui décrivent les conditions météorologiques d'une région à un moment donné.</a:t>
              </a:r>
            </a:p>
          </p:txBody>
        </p:sp>
      </p:grpSp>
    </p:spTree>
    <p:extLst>
      <p:ext uri="{BB962C8B-B14F-4D97-AF65-F5344CB8AC3E}">
        <p14:creationId xmlns:p14="http://schemas.microsoft.com/office/powerpoint/2010/main" val="3580815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21</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517957" y="992799"/>
            <a:ext cx="3145051" cy="91296"/>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27" name="Forme libre : forme 26">
            <a:extLst>
              <a:ext uri="{FF2B5EF4-FFF2-40B4-BE49-F238E27FC236}">
                <a16:creationId xmlns:a16="http://schemas.microsoft.com/office/drawing/2014/main" id="{464CC16D-6D41-8035-BE80-26B47C0EE84E}"/>
              </a:ext>
            </a:extLst>
          </p:cNvPr>
          <p:cNvSpPr/>
          <p:nvPr/>
        </p:nvSpPr>
        <p:spPr>
          <a:xfrm>
            <a:off x="5730614" y="1661430"/>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1" name="Forme libre : forme 30">
            <a:extLst>
              <a:ext uri="{FF2B5EF4-FFF2-40B4-BE49-F238E27FC236}">
                <a16:creationId xmlns:a16="http://schemas.microsoft.com/office/drawing/2014/main" id="{2219DF66-36AC-3520-2CC1-CC6D8A57D5C4}"/>
              </a:ext>
            </a:extLst>
          </p:cNvPr>
          <p:cNvSpPr/>
          <p:nvPr/>
        </p:nvSpPr>
        <p:spPr>
          <a:xfrm>
            <a:off x="5734042" y="4678544"/>
            <a:ext cx="1449298" cy="724475"/>
          </a:xfrm>
          <a:custGeom>
            <a:avLst/>
            <a:gdLst>
              <a:gd name="connsiteX0" fmla="*/ 0 w 1449298"/>
              <a:gd name="connsiteY0" fmla="*/ 0 h 724475"/>
              <a:gd name="connsiteX1" fmla="*/ 1449298 w 1449298"/>
              <a:gd name="connsiteY1" fmla="*/ 0 h 724475"/>
              <a:gd name="connsiteX2" fmla="*/ 1449298 w 1449298"/>
              <a:gd name="connsiteY2" fmla="*/ 724475 h 724475"/>
              <a:gd name="connsiteX3" fmla="*/ 0 w 1449298"/>
              <a:gd name="connsiteY3" fmla="*/ 724475 h 724475"/>
              <a:gd name="connsiteX4" fmla="*/ 0 w 1449298"/>
              <a:gd name="connsiteY4" fmla="*/ 0 h 724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298" h="724475">
                <a:moveTo>
                  <a:pt x="0" y="0"/>
                </a:moveTo>
                <a:lnTo>
                  <a:pt x="1449298" y="0"/>
                </a:lnTo>
                <a:lnTo>
                  <a:pt x="1449298" y="724475"/>
                </a:lnTo>
                <a:lnTo>
                  <a:pt x="0" y="7244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endParaRPr lang="fr-FR" sz="3700" kern="1200"/>
          </a:p>
        </p:txBody>
      </p:sp>
      <p:sp>
        <p:nvSpPr>
          <p:cNvPr id="33" name="Rectangle 32">
            <a:extLst>
              <a:ext uri="{FF2B5EF4-FFF2-40B4-BE49-F238E27FC236}">
                <a16:creationId xmlns:a16="http://schemas.microsoft.com/office/drawing/2014/main" id="{EB661335-D52C-1160-2284-AAF1D2EC5F05}"/>
              </a:ext>
            </a:extLst>
          </p:cNvPr>
          <p:cNvSpPr/>
          <p:nvPr/>
        </p:nvSpPr>
        <p:spPr>
          <a:xfrm>
            <a:off x="0" y="-38624"/>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93E93F0-6FEB-1CE8-AB9F-C3ACA0280232}"/>
              </a:ext>
            </a:extLst>
          </p:cNvPr>
          <p:cNvSpPr/>
          <p:nvPr/>
        </p:nvSpPr>
        <p:spPr>
          <a:xfrm>
            <a:off x="0" y="6518231"/>
            <a:ext cx="12192000" cy="369332"/>
          </a:xfrm>
          <a:prstGeom prst="rect">
            <a:avLst/>
          </a:prstGeom>
          <a:solidFill>
            <a:schemeClr val="tx2"/>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itre 2">
            <a:extLst>
              <a:ext uri="{FF2B5EF4-FFF2-40B4-BE49-F238E27FC236}">
                <a16:creationId xmlns:a16="http://schemas.microsoft.com/office/drawing/2014/main" id="{F9C7545C-8187-8790-52E5-CC57B6686D69}"/>
              </a:ext>
            </a:extLst>
          </p:cNvPr>
          <p:cNvSpPr>
            <a:spLocks noGrp="1"/>
          </p:cNvSpPr>
          <p:nvPr>
            <p:ph type="title"/>
          </p:nvPr>
        </p:nvSpPr>
        <p:spPr>
          <a:xfrm>
            <a:off x="426547" y="547379"/>
            <a:ext cx="3476586" cy="370166"/>
          </a:xfrm>
        </p:spPr>
        <p:txBody>
          <a:bodyPr/>
          <a:lstStyle/>
          <a:p>
            <a:r>
              <a:rPr lang="fr-FR" dirty="0"/>
              <a:t>Visualisation</a:t>
            </a:r>
          </a:p>
        </p:txBody>
      </p:sp>
      <p:pic>
        <p:nvPicPr>
          <p:cNvPr id="6" name="Image 5">
            <a:extLst>
              <a:ext uri="{FF2B5EF4-FFF2-40B4-BE49-F238E27FC236}">
                <a16:creationId xmlns:a16="http://schemas.microsoft.com/office/drawing/2014/main" id="{437E1DD8-38A1-C8A1-D77F-4EF9F220531A}"/>
              </a:ext>
            </a:extLst>
          </p:cNvPr>
          <p:cNvPicPr>
            <a:picLocks noChangeAspect="1"/>
          </p:cNvPicPr>
          <p:nvPr/>
        </p:nvPicPr>
        <p:blipFill>
          <a:blip r:embed="rId3"/>
          <a:stretch>
            <a:fillRect/>
          </a:stretch>
        </p:blipFill>
        <p:spPr>
          <a:xfrm>
            <a:off x="6757902" y="1529515"/>
            <a:ext cx="4953099" cy="3873504"/>
          </a:xfrm>
          <a:prstGeom prst="rect">
            <a:avLst/>
          </a:prstGeom>
        </p:spPr>
      </p:pic>
      <p:pic>
        <p:nvPicPr>
          <p:cNvPr id="15" name="Image 14">
            <a:extLst>
              <a:ext uri="{FF2B5EF4-FFF2-40B4-BE49-F238E27FC236}">
                <a16:creationId xmlns:a16="http://schemas.microsoft.com/office/drawing/2014/main" id="{4E7C24BF-76B4-9F76-2384-5E7F6F4F6EE1}"/>
              </a:ext>
            </a:extLst>
          </p:cNvPr>
          <p:cNvPicPr>
            <a:picLocks noChangeAspect="1"/>
          </p:cNvPicPr>
          <p:nvPr/>
        </p:nvPicPr>
        <p:blipFill>
          <a:blip r:embed="rId4"/>
          <a:stretch>
            <a:fillRect/>
          </a:stretch>
        </p:blipFill>
        <p:spPr>
          <a:xfrm>
            <a:off x="224232" y="1529515"/>
            <a:ext cx="5668747" cy="3873504"/>
          </a:xfrm>
          <a:prstGeom prst="rect">
            <a:avLst/>
          </a:prstGeom>
        </p:spPr>
      </p:pic>
    </p:spTree>
    <p:extLst>
      <p:ext uri="{BB962C8B-B14F-4D97-AF65-F5344CB8AC3E}">
        <p14:creationId xmlns:p14="http://schemas.microsoft.com/office/powerpoint/2010/main" val="2678329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89FBC09-5A84-45A9-B63B-5DEAA4BE7605}"/>
              </a:ext>
            </a:extLst>
          </p:cNvPr>
          <p:cNvSpPr>
            <a:spLocks noGrp="1"/>
          </p:cNvSpPr>
          <p:nvPr>
            <p:ph type="title"/>
          </p:nvPr>
        </p:nvSpPr>
        <p:spPr>
          <a:xfrm>
            <a:off x="722099" y="425344"/>
            <a:ext cx="2754525" cy="370166"/>
          </a:xfrm>
        </p:spPr>
        <p:txBody>
          <a:bodyPr rtlCol="0"/>
          <a:lstStyle/>
          <a:p>
            <a:pPr algn="ctr" rtl="0"/>
            <a:r>
              <a:rPr lang="fr-FR" dirty="0"/>
              <a:t>Ressources</a:t>
            </a:r>
          </a:p>
        </p:txBody>
      </p:sp>
      <p:sp>
        <p:nvSpPr>
          <p:cNvPr id="5" name="Espace réservé du numéro de diapositive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rtlCol="0"/>
          <a:lstStyle/>
          <a:p>
            <a:pPr rtl="0"/>
            <a:fld id="{EECC7194-A4D0-457B-9D3E-53681723AFF7}" type="slidenum">
              <a:rPr lang="fr-FR" sz="1000" smtClean="0"/>
              <a:pPr rtl="0"/>
              <a:t>22</a:t>
            </a:fld>
            <a:endParaRPr lang="fr-FR" sz="1000" dirty="0"/>
          </a:p>
        </p:txBody>
      </p:sp>
      <p:sp>
        <p:nvSpPr>
          <p:cNvPr id="11" name="objet 7" descr="Rectangle beige">
            <a:extLst>
              <a:ext uri="{FF2B5EF4-FFF2-40B4-BE49-F238E27FC236}">
                <a16:creationId xmlns:a16="http://schemas.microsoft.com/office/drawing/2014/main" id="{0EF37AB9-30F5-41E6-9478-F4DEF99FA9B7}"/>
              </a:ext>
            </a:extLst>
          </p:cNvPr>
          <p:cNvSpPr/>
          <p:nvPr/>
        </p:nvSpPr>
        <p:spPr bwMode="white">
          <a:xfrm flipV="1">
            <a:off x="722099" y="867492"/>
            <a:ext cx="3145051"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grpSp>
        <p:nvGrpSpPr>
          <p:cNvPr id="17" name="Groupe 16">
            <a:extLst>
              <a:ext uri="{FF2B5EF4-FFF2-40B4-BE49-F238E27FC236}">
                <a16:creationId xmlns:a16="http://schemas.microsoft.com/office/drawing/2014/main" id="{BC4CEA76-BD4C-F271-0B66-2347D4818D40}"/>
              </a:ext>
            </a:extLst>
          </p:cNvPr>
          <p:cNvGrpSpPr/>
          <p:nvPr/>
        </p:nvGrpSpPr>
        <p:grpSpPr>
          <a:xfrm>
            <a:off x="288269" y="4154752"/>
            <a:ext cx="11697317" cy="830997"/>
            <a:chOff x="92961" y="3826274"/>
            <a:chExt cx="11697317" cy="830997"/>
          </a:xfrm>
        </p:grpSpPr>
        <p:sp>
          <p:nvSpPr>
            <p:cNvPr id="2" name="ZoneTexte 1">
              <a:extLst>
                <a:ext uri="{FF2B5EF4-FFF2-40B4-BE49-F238E27FC236}">
                  <a16:creationId xmlns:a16="http://schemas.microsoft.com/office/drawing/2014/main" id="{4DAB8944-7D43-D07F-040F-956D6CC6A0A6}"/>
                </a:ext>
              </a:extLst>
            </p:cNvPr>
            <p:cNvSpPr txBox="1"/>
            <p:nvPr/>
          </p:nvSpPr>
          <p:spPr>
            <a:xfrm>
              <a:off x="92961" y="3826274"/>
              <a:ext cx="2517074" cy="830997"/>
            </a:xfrm>
            <a:prstGeom prst="rect">
              <a:avLst/>
            </a:prstGeom>
            <a:noFill/>
          </p:spPr>
          <p:txBody>
            <a:bodyPr wrap="square" rtlCol="0">
              <a:spAutoFit/>
            </a:bodyPr>
            <a:lstStyle/>
            <a:p>
              <a:pPr algn="ctr"/>
              <a:r>
                <a:rPr lang="fr-FR" sz="1600" b="1" dirty="0">
                  <a:latin typeface="Comic Sans MS" panose="030F0702030302020204" pitchFamily="66" charset="0"/>
                </a:rPr>
                <a:t>Cours Plateforme Big Data By Jean-Marie </a:t>
              </a:r>
              <a:r>
                <a:rPr lang="fr-FR" sz="1600" b="1" dirty="0" err="1">
                  <a:latin typeface="Comic Sans MS" panose="030F0702030302020204" pitchFamily="66" charset="0"/>
                </a:rPr>
                <a:t>Preira</a:t>
              </a:r>
              <a:endParaRPr lang="fr-FR" sz="1600" b="1" dirty="0">
                <a:latin typeface="Comic Sans MS" panose="030F0702030302020204" pitchFamily="66" charset="0"/>
              </a:endParaRPr>
            </a:p>
          </p:txBody>
        </p:sp>
        <p:sp>
          <p:nvSpPr>
            <p:cNvPr id="4" name="ZoneTexte 3">
              <a:extLst>
                <a:ext uri="{FF2B5EF4-FFF2-40B4-BE49-F238E27FC236}">
                  <a16:creationId xmlns:a16="http://schemas.microsoft.com/office/drawing/2014/main" id="{5B05B923-86FF-C539-E135-361F8A600ECE}"/>
                </a:ext>
              </a:extLst>
            </p:cNvPr>
            <p:cNvSpPr txBox="1"/>
            <p:nvPr/>
          </p:nvSpPr>
          <p:spPr>
            <a:xfrm>
              <a:off x="5280981" y="3903220"/>
              <a:ext cx="1997476" cy="338554"/>
            </a:xfrm>
            <a:prstGeom prst="rect">
              <a:avLst/>
            </a:prstGeom>
            <a:noFill/>
          </p:spPr>
          <p:txBody>
            <a:bodyPr wrap="square" rtlCol="0">
              <a:spAutoFit/>
            </a:bodyPr>
            <a:lstStyle/>
            <a:p>
              <a:pPr algn="ctr"/>
              <a:r>
                <a:rPr lang="fr-FR" sz="1600" b="1" dirty="0">
                  <a:latin typeface="Comic Sans MS" panose="030F0702030302020204" pitchFamily="66" charset="0"/>
                </a:rPr>
                <a:t>Google</a:t>
              </a:r>
            </a:p>
          </p:txBody>
        </p:sp>
        <p:sp>
          <p:nvSpPr>
            <p:cNvPr id="7" name="ZoneTexte 6">
              <a:extLst>
                <a:ext uri="{FF2B5EF4-FFF2-40B4-BE49-F238E27FC236}">
                  <a16:creationId xmlns:a16="http://schemas.microsoft.com/office/drawing/2014/main" id="{38BD77BD-27BA-336D-0297-8A2625BCDCE0}"/>
                </a:ext>
              </a:extLst>
            </p:cNvPr>
            <p:cNvSpPr txBox="1"/>
            <p:nvPr/>
          </p:nvSpPr>
          <p:spPr>
            <a:xfrm>
              <a:off x="9792802" y="3826275"/>
              <a:ext cx="1997476" cy="338554"/>
            </a:xfrm>
            <a:prstGeom prst="rect">
              <a:avLst/>
            </a:prstGeom>
            <a:noFill/>
          </p:spPr>
          <p:txBody>
            <a:bodyPr wrap="square" rtlCol="0">
              <a:spAutoFit/>
            </a:bodyPr>
            <a:lstStyle/>
            <a:p>
              <a:pPr algn="ctr"/>
              <a:r>
                <a:rPr lang="fr-FR" sz="1600" b="1" dirty="0" err="1">
                  <a:latin typeface="Comic Sans MS" panose="030F0702030302020204" pitchFamily="66" charset="0"/>
                </a:rPr>
                <a:t>ChatGPT</a:t>
              </a:r>
              <a:endParaRPr lang="fr-FR" sz="1600" b="1" dirty="0">
                <a:latin typeface="Comic Sans MS" panose="030F0702030302020204" pitchFamily="66" charset="0"/>
              </a:endParaRPr>
            </a:p>
          </p:txBody>
        </p:sp>
      </p:grpSp>
      <p:grpSp>
        <p:nvGrpSpPr>
          <p:cNvPr id="22" name="Groupe 21">
            <a:extLst>
              <a:ext uri="{FF2B5EF4-FFF2-40B4-BE49-F238E27FC236}">
                <a16:creationId xmlns:a16="http://schemas.microsoft.com/office/drawing/2014/main" id="{A2B944B4-F5F5-CC51-2A9C-A1A09514EB5E}"/>
              </a:ext>
            </a:extLst>
          </p:cNvPr>
          <p:cNvGrpSpPr/>
          <p:nvPr/>
        </p:nvGrpSpPr>
        <p:grpSpPr>
          <a:xfrm>
            <a:off x="774422" y="2548747"/>
            <a:ext cx="10829284" cy="1242196"/>
            <a:chOff x="774422" y="2548747"/>
            <a:chExt cx="10829284" cy="1242196"/>
          </a:xfrm>
        </p:grpSpPr>
        <p:grpSp>
          <p:nvGrpSpPr>
            <p:cNvPr id="43" name="Groupe 42">
              <a:extLst>
                <a:ext uri="{FF2B5EF4-FFF2-40B4-BE49-F238E27FC236}">
                  <a16:creationId xmlns:a16="http://schemas.microsoft.com/office/drawing/2014/main" id="{7460D2B3-554D-D910-084B-953898FC98EF}"/>
                </a:ext>
              </a:extLst>
            </p:cNvPr>
            <p:cNvGrpSpPr/>
            <p:nvPr/>
          </p:nvGrpSpPr>
          <p:grpSpPr>
            <a:xfrm>
              <a:off x="774422" y="2548747"/>
              <a:ext cx="1255459" cy="1182097"/>
              <a:chOff x="501002" y="3576772"/>
              <a:chExt cx="1255459" cy="1182097"/>
            </a:xfrm>
          </p:grpSpPr>
          <p:sp>
            <p:nvSpPr>
              <p:cNvPr id="29" name="Rectangle : coins arrondis 28">
                <a:extLst>
                  <a:ext uri="{FF2B5EF4-FFF2-40B4-BE49-F238E27FC236}">
                    <a16:creationId xmlns:a16="http://schemas.microsoft.com/office/drawing/2014/main" id="{015890AA-7881-6C7B-77A8-B9351015A39C}"/>
                  </a:ext>
                </a:extLst>
              </p:cNvPr>
              <p:cNvSpPr/>
              <p:nvPr/>
            </p:nvSpPr>
            <p:spPr>
              <a:xfrm>
                <a:off x="501002" y="3576772"/>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38" name="Image 37">
                <a:extLst>
                  <a:ext uri="{FF2B5EF4-FFF2-40B4-BE49-F238E27FC236}">
                    <a16:creationId xmlns:a16="http://schemas.microsoft.com/office/drawing/2014/main" id="{D725A4A4-AA5D-BF15-9B38-DD96E50D33CF}"/>
                  </a:ext>
                </a:extLst>
              </p:cNvPr>
              <p:cNvPicPr>
                <a:picLocks noChangeAspect="1"/>
              </p:cNvPicPr>
              <p:nvPr/>
            </p:nvPicPr>
            <p:blipFill>
              <a:blip r:embed="rId3"/>
              <a:stretch>
                <a:fillRect/>
              </a:stretch>
            </p:blipFill>
            <p:spPr>
              <a:xfrm>
                <a:off x="580036" y="3617821"/>
                <a:ext cx="1116439" cy="1047625"/>
              </a:xfrm>
              <a:prstGeom prst="rect">
                <a:avLst/>
              </a:prstGeom>
            </p:spPr>
          </p:pic>
        </p:grpSp>
        <p:grpSp>
          <p:nvGrpSpPr>
            <p:cNvPr id="15" name="Groupe 14">
              <a:extLst>
                <a:ext uri="{FF2B5EF4-FFF2-40B4-BE49-F238E27FC236}">
                  <a16:creationId xmlns:a16="http://schemas.microsoft.com/office/drawing/2014/main" id="{40E80F21-4A39-CBD8-3842-42834012FBB6}"/>
                </a:ext>
              </a:extLst>
            </p:cNvPr>
            <p:cNvGrpSpPr/>
            <p:nvPr/>
          </p:nvGrpSpPr>
          <p:grpSpPr>
            <a:xfrm>
              <a:off x="5856181" y="2608846"/>
              <a:ext cx="1255459" cy="1182097"/>
              <a:chOff x="4988754" y="2246903"/>
              <a:chExt cx="1255459" cy="1182097"/>
            </a:xfrm>
          </p:grpSpPr>
          <p:sp>
            <p:nvSpPr>
              <p:cNvPr id="41" name="Rectangle : coins arrondis 40">
                <a:extLst>
                  <a:ext uri="{FF2B5EF4-FFF2-40B4-BE49-F238E27FC236}">
                    <a16:creationId xmlns:a16="http://schemas.microsoft.com/office/drawing/2014/main" id="{17DE1AE9-81AA-B2AA-9E8F-BDD989AD1842}"/>
                  </a:ext>
                </a:extLst>
              </p:cNvPr>
              <p:cNvSpPr/>
              <p:nvPr/>
            </p:nvSpPr>
            <p:spPr>
              <a:xfrm>
                <a:off x="4988754" y="2246903"/>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9" name="Image 8">
                <a:extLst>
                  <a:ext uri="{FF2B5EF4-FFF2-40B4-BE49-F238E27FC236}">
                    <a16:creationId xmlns:a16="http://schemas.microsoft.com/office/drawing/2014/main" id="{7ADA16E5-D4B1-56E5-9B48-3741D63B2A22}"/>
                  </a:ext>
                </a:extLst>
              </p:cNvPr>
              <p:cNvPicPr>
                <a:picLocks noChangeAspect="1"/>
              </p:cNvPicPr>
              <p:nvPr/>
            </p:nvPicPr>
            <p:blipFill>
              <a:blip r:embed="rId4"/>
              <a:stretch>
                <a:fillRect/>
              </a:stretch>
            </p:blipFill>
            <p:spPr>
              <a:xfrm>
                <a:off x="5101233" y="2350936"/>
                <a:ext cx="1030499" cy="1030499"/>
              </a:xfrm>
              <a:prstGeom prst="rect">
                <a:avLst/>
              </a:prstGeom>
            </p:spPr>
          </p:pic>
        </p:grpSp>
        <p:grpSp>
          <p:nvGrpSpPr>
            <p:cNvPr id="8" name="Groupe 7">
              <a:extLst>
                <a:ext uri="{FF2B5EF4-FFF2-40B4-BE49-F238E27FC236}">
                  <a16:creationId xmlns:a16="http://schemas.microsoft.com/office/drawing/2014/main" id="{A7132552-2F83-1A6A-95DD-ECAB1E745EA6}"/>
                </a:ext>
              </a:extLst>
            </p:cNvPr>
            <p:cNvGrpSpPr/>
            <p:nvPr/>
          </p:nvGrpSpPr>
          <p:grpSpPr>
            <a:xfrm>
              <a:off x="10348247" y="2608846"/>
              <a:ext cx="1255459" cy="1182097"/>
              <a:chOff x="10348247" y="2608846"/>
              <a:chExt cx="1255459" cy="1182097"/>
            </a:xfrm>
          </p:grpSpPr>
          <p:sp>
            <p:nvSpPr>
              <p:cNvPr id="39" name="Rectangle : coins arrondis 38">
                <a:extLst>
                  <a:ext uri="{FF2B5EF4-FFF2-40B4-BE49-F238E27FC236}">
                    <a16:creationId xmlns:a16="http://schemas.microsoft.com/office/drawing/2014/main" id="{4E888289-7837-33EB-D13E-E19D3D2BD524}"/>
                  </a:ext>
                </a:extLst>
              </p:cNvPr>
              <p:cNvSpPr/>
              <p:nvPr/>
            </p:nvSpPr>
            <p:spPr>
              <a:xfrm>
                <a:off x="10348247" y="2608846"/>
                <a:ext cx="1255459" cy="1182097"/>
              </a:xfrm>
              <a:prstGeom prst="roundRect">
                <a:avLst>
                  <a:gd name="adj" fmla="val 1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tint val="50000"/>
                  <a:hueOff val="6906"/>
                  <a:satOff val="-525"/>
                  <a:lumOff val="7562"/>
                  <a:alphaOff val="0"/>
                </a:schemeClr>
              </a:fillRef>
              <a:effectRef idx="0">
                <a:schemeClr val="accent4">
                  <a:tint val="50000"/>
                  <a:hueOff val="6906"/>
                  <a:satOff val="-525"/>
                  <a:lumOff val="7562"/>
                  <a:alphaOff val="0"/>
                </a:schemeClr>
              </a:effectRef>
              <a:fontRef idx="minor">
                <a:schemeClr val="lt1">
                  <a:hueOff val="0"/>
                  <a:satOff val="0"/>
                  <a:lumOff val="0"/>
                  <a:alphaOff val="0"/>
                </a:schemeClr>
              </a:fontRef>
            </p:style>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hueOff val="0"/>
                        <a:satOff val="0"/>
                        <a:lumOff val="0"/>
                        <a:alphaOff val="0"/>
                      </a:schemeClr>
                    </a:solidFill>
                    <a:latin typeface="+mn-lt"/>
                    <a:ea typeface="+mn-ea"/>
                    <a:cs typeface="+mn-cs"/>
                    <a:sym typeface="Arial"/>
                  </a:defRPr>
                </a:lvl9pPr>
              </a:lstStyle>
              <a:p>
                <a:endParaRPr lang="fr-FR" dirty="0"/>
              </a:p>
            </p:txBody>
          </p:sp>
          <p:pic>
            <p:nvPicPr>
              <p:cNvPr id="6" name="Image 5">
                <a:extLst>
                  <a:ext uri="{FF2B5EF4-FFF2-40B4-BE49-F238E27FC236}">
                    <a16:creationId xmlns:a16="http://schemas.microsoft.com/office/drawing/2014/main" id="{4D06DA28-9D9F-6AD8-EE53-9ADC756BC7E6}"/>
                  </a:ext>
                </a:extLst>
              </p:cNvPr>
              <p:cNvPicPr>
                <a:picLocks noChangeAspect="1"/>
              </p:cNvPicPr>
              <p:nvPr/>
            </p:nvPicPr>
            <p:blipFill>
              <a:blip r:embed="rId5"/>
              <a:stretch>
                <a:fillRect/>
              </a:stretch>
            </p:blipFill>
            <p:spPr>
              <a:xfrm>
                <a:off x="10530788" y="2712879"/>
                <a:ext cx="912119" cy="941033"/>
              </a:xfrm>
              <a:prstGeom prst="rect">
                <a:avLst/>
              </a:prstGeom>
            </p:spPr>
          </p:pic>
        </p:grpSp>
      </p:grpSp>
    </p:spTree>
    <p:extLst>
      <p:ext uri="{BB962C8B-B14F-4D97-AF65-F5344CB8AC3E}">
        <p14:creationId xmlns:p14="http://schemas.microsoft.com/office/powerpoint/2010/main" val="480981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Espace réservé d’image 16" descr="Scientifique regardant un tube à essai">
            <a:extLst>
              <a:ext uri="{FF2B5EF4-FFF2-40B4-BE49-F238E27FC236}">
                <a16:creationId xmlns:a16="http://schemas.microsoft.com/office/drawing/2014/main" id="{F923CFB6-5709-405C-8762-B310D3F21953}"/>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p:pic>
      <p:sp>
        <p:nvSpPr>
          <p:cNvPr id="3" name="Titre 2">
            <a:extLst>
              <a:ext uri="{FF2B5EF4-FFF2-40B4-BE49-F238E27FC236}">
                <a16:creationId xmlns:a16="http://schemas.microsoft.com/office/drawing/2014/main" id="{C17F5BF1-88DB-42F2-98A6-4C7FBFC311C4}"/>
              </a:ext>
            </a:extLst>
          </p:cNvPr>
          <p:cNvSpPr>
            <a:spLocks noGrp="1"/>
          </p:cNvSpPr>
          <p:nvPr>
            <p:ph type="ctrTitle"/>
          </p:nvPr>
        </p:nvSpPr>
        <p:spPr/>
        <p:txBody>
          <a:bodyPr rtlCol="0"/>
          <a:lstStyle/>
          <a:p>
            <a:pPr rtl="0"/>
            <a:r>
              <a:rPr lang="fr-FR" dirty="0" err="1"/>
              <a:t>Thank</a:t>
            </a:r>
            <a:r>
              <a:rPr lang="fr-FR" dirty="0"/>
              <a:t> à vous</a:t>
            </a:r>
          </a:p>
        </p:txBody>
      </p:sp>
      <p:sp>
        <p:nvSpPr>
          <p:cNvPr id="4" name="Espace réservé du texte 3">
            <a:extLst>
              <a:ext uri="{FF2B5EF4-FFF2-40B4-BE49-F238E27FC236}">
                <a16:creationId xmlns:a16="http://schemas.microsoft.com/office/drawing/2014/main" id="{7E7E363B-55F5-4528-8A9D-A5D90055CD92}"/>
              </a:ext>
            </a:extLst>
          </p:cNvPr>
          <p:cNvSpPr>
            <a:spLocks noGrp="1"/>
          </p:cNvSpPr>
          <p:nvPr>
            <p:ph type="body" sz="quarter" idx="13"/>
          </p:nvPr>
        </p:nvSpPr>
        <p:spPr/>
        <p:txBody>
          <a:bodyPr rtlCol="0"/>
          <a:lstStyle/>
          <a:p>
            <a:pPr rtl="0"/>
            <a:r>
              <a:rPr lang="fr-FR" dirty="0"/>
              <a:t>ESMT</a:t>
            </a:r>
          </a:p>
        </p:txBody>
      </p:sp>
      <p:sp>
        <p:nvSpPr>
          <p:cNvPr id="5" name="Espace réservé du texte 4">
            <a:extLst>
              <a:ext uri="{FF2B5EF4-FFF2-40B4-BE49-F238E27FC236}">
                <a16:creationId xmlns:a16="http://schemas.microsoft.com/office/drawing/2014/main" id="{045FEE4F-333C-40EF-B46D-8D25C79C05D2}"/>
              </a:ext>
            </a:extLst>
          </p:cNvPr>
          <p:cNvSpPr>
            <a:spLocks noGrp="1"/>
          </p:cNvSpPr>
          <p:nvPr>
            <p:ph type="body" sz="quarter" idx="14"/>
          </p:nvPr>
        </p:nvSpPr>
        <p:spPr/>
        <p:txBody>
          <a:bodyPr rtlCol="0"/>
          <a:lstStyle/>
          <a:p>
            <a:pPr rtl="0"/>
            <a:r>
              <a:rPr lang="fr-FR" dirty="0"/>
              <a:t>INGC3@2023</a:t>
            </a:r>
          </a:p>
        </p:txBody>
      </p:sp>
      <p:sp>
        <p:nvSpPr>
          <p:cNvPr id="6" name="Espace réservé du texte 5">
            <a:extLst>
              <a:ext uri="{FF2B5EF4-FFF2-40B4-BE49-F238E27FC236}">
                <a16:creationId xmlns:a16="http://schemas.microsoft.com/office/drawing/2014/main" id="{05F44DEB-FABF-4ADE-B7EB-29DFAFA3DFF6}"/>
              </a:ext>
            </a:extLst>
          </p:cNvPr>
          <p:cNvSpPr>
            <a:spLocks noGrp="1"/>
          </p:cNvSpPr>
          <p:nvPr>
            <p:ph type="body" sz="quarter" idx="15"/>
          </p:nvPr>
        </p:nvSpPr>
        <p:spPr>
          <a:xfrm>
            <a:off x="1917699" y="5667573"/>
            <a:ext cx="3586455" cy="221017"/>
          </a:xfrm>
        </p:spPr>
        <p:txBody>
          <a:bodyPr rtlCol="0"/>
          <a:lstStyle/>
          <a:p>
            <a:pPr rtl="0"/>
            <a:r>
              <a:rPr lang="fr-FR" dirty="0"/>
              <a:t>Lothaire, Steve</a:t>
            </a:r>
          </a:p>
        </p:txBody>
      </p:sp>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9" name="objet 7" descr="Rectangle beige">
            <a:extLst>
              <a:ext uri="{FF2B5EF4-FFF2-40B4-BE49-F238E27FC236}">
                <a16:creationId xmlns:a16="http://schemas.microsoft.com/office/drawing/2014/main" id="{2D7851E8-1907-4C8A-A16F-E461B5BFA940}"/>
              </a:ext>
            </a:extLst>
          </p:cNvPr>
          <p:cNvSpPr/>
          <p:nvPr/>
        </p:nvSpPr>
        <p:spPr bwMode="white">
          <a:xfrm flipV="1">
            <a:off x="1204699" y="3791668"/>
            <a:ext cx="4428000"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grpSp>
        <p:nvGrpSpPr>
          <p:cNvPr id="46" name="Groupe 45" descr="Icône de téléphone">
            <a:extLst>
              <a:ext uri="{FF2B5EF4-FFF2-40B4-BE49-F238E27FC236}">
                <a16:creationId xmlns:a16="http://schemas.microsoft.com/office/drawing/2014/main" id="{4BB2D73A-DB1F-47D9-9BDA-D6F01A0EDC06}"/>
              </a:ext>
            </a:extLst>
          </p:cNvPr>
          <p:cNvGrpSpPr/>
          <p:nvPr/>
        </p:nvGrpSpPr>
        <p:grpSpPr>
          <a:xfrm>
            <a:off x="1365937" y="5637315"/>
            <a:ext cx="297521" cy="297521"/>
            <a:chOff x="1334697" y="5606075"/>
            <a:chExt cx="360000" cy="360000"/>
          </a:xfrm>
        </p:grpSpPr>
        <p:sp>
          <p:nvSpPr>
            <p:cNvPr id="47" name="Forme libre : Forme 46">
              <a:extLst>
                <a:ext uri="{FF2B5EF4-FFF2-40B4-BE49-F238E27FC236}">
                  <a16:creationId xmlns:a16="http://schemas.microsoft.com/office/drawing/2014/main" id="{3C40AF29-F294-4B60-B5B4-56011134948E}"/>
                </a:ext>
              </a:extLst>
            </p:cNvPr>
            <p:cNvSpPr/>
            <p:nvPr/>
          </p:nvSpPr>
          <p:spPr>
            <a:xfrm>
              <a:off x="1423220" y="562446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pPr rtl="0"/>
              <a:endParaRPr lang="fr-FR" dirty="0"/>
            </a:p>
          </p:txBody>
        </p:sp>
        <p:sp>
          <p:nvSpPr>
            <p:cNvPr id="48" name="Forme libre : Forme 47">
              <a:extLst>
                <a:ext uri="{FF2B5EF4-FFF2-40B4-BE49-F238E27FC236}">
                  <a16:creationId xmlns:a16="http://schemas.microsoft.com/office/drawing/2014/main" id="{82F5782C-5E0E-47EA-861C-88990A8D95DF}"/>
                </a:ext>
              </a:extLst>
            </p:cNvPr>
            <p:cNvSpPr/>
            <p:nvPr/>
          </p:nvSpPr>
          <p:spPr>
            <a:xfrm>
              <a:off x="1491815" y="5800385"/>
              <a:ext cx="9525" cy="9525"/>
            </a:xfrm>
            <a:custGeom>
              <a:avLst/>
              <a:gdLst>
                <a:gd name="connsiteX0" fmla="*/ 0 w 9525"/>
                <a:gd name="connsiteY0" fmla="*/ 0 h 9525"/>
                <a:gd name="connsiteX1" fmla="*/ 17145 w 9525"/>
                <a:gd name="connsiteY1" fmla="*/ 18098 h 9525"/>
              </a:gdLst>
              <a:ahLst/>
              <a:cxnLst>
                <a:cxn ang="0">
                  <a:pos x="connsiteX0" y="connsiteY0"/>
                </a:cxn>
                <a:cxn ang="0">
                  <a:pos x="connsiteX1" y="connsiteY1"/>
                </a:cxn>
              </a:cxnLst>
              <a:rect l="l" t="t" r="r" b="b"/>
              <a:pathLst>
                <a:path w="9525" h="9525">
                  <a:moveTo>
                    <a:pt x="0" y="0"/>
                  </a:moveTo>
                  <a:lnTo>
                    <a:pt x="17145" y="18098"/>
                  </a:lnTo>
                </a:path>
              </a:pathLst>
            </a:custGeom>
            <a:ln w="23813" cap="flat">
              <a:solidFill>
                <a:schemeClr val="accent1"/>
              </a:solidFill>
              <a:prstDash val="solid"/>
              <a:round/>
            </a:ln>
          </p:spPr>
          <p:txBody>
            <a:bodyPr rtlCol="0" anchor="ctr"/>
            <a:lstStyle/>
            <a:p>
              <a:pPr rtl="0"/>
              <a:endParaRPr lang="fr-FR" dirty="0"/>
            </a:p>
          </p:txBody>
        </p:sp>
        <p:sp>
          <p:nvSpPr>
            <p:cNvPr id="49" name="Forme libre : Forme 48">
              <a:extLst>
                <a:ext uri="{FF2B5EF4-FFF2-40B4-BE49-F238E27FC236}">
                  <a16:creationId xmlns:a16="http://schemas.microsoft.com/office/drawing/2014/main" id="{0ACDDF69-03CD-491C-A9E4-08E5726C5BD3}"/>
                </a:ext>
              </a:extLst>
            </p:cNvPr>
            <p:cNvSpPr/>
            <p:nvPr/>
          </p:nvSpPr>
          <p:spPr>
            <a:xfrm>
              <a:off x="1334697" y="5606075"/>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pPr rtl="0"/>
              <a:endParaRPr lang="fr-FR" dirty="0"/>
            </a:p>
          </p:txBody>
        </p:sp>
      </p:grpSp>
      <p:grpSp>
        <p:nvGrpSpPr>
          <p:cNvPr id="50" name="Groupe 49" descr="Icône de courrier">
            <a:extLst>
              <a:ext uri="{FF2B5EF4-FFF2-40B4-BE49-F238E27FC236}">
                <a16:creationId xmlns:a16="http://schemas.microsoft.com/office/drawing/2014/main" id="{F7F47E31-EB9A-4529-BE0F-A1213B79FE07}"/>
              </a:ext>
            </a:extLst>
          </p:cNvPr>
          <p:cNvGrpSpPr/>
          <p:nvPr/>
        </p:nvGrpSpPr>
        <p:grpSpPr>
          <a:xfrm>
            <a:off x="1365937" y="5133777"/>
            <a:ext cx="297521" cy="297521"/>
            <a:chOff x="1334697" y="5102537"/>
            <a:chExt cx="360000" cy="360000"/>
          </a:xfrm>
        </p:grpSpPr>
        <p:grpSp>
          <p:nvGrpSpPr>
            <p:cNvPr id="51" name="Groupe 50">
              <a:extLst>
                <a:ext uri="{FF2B5EF4-FFF2-40B4-BE49-F238E27FC236}">
                  <a16:creationId xmlns:a16="http://schemas.microsoft.com/office/drawing/2014/main" id="{299C0ACA-AA85-4505-A8DF-0275634D7832}"/>
                </a:ext>
              </a:extLst>
            </p:cNvPr>
            <p:cNvGrpSpPr/>
            <p:nvPr/>
          </p:nvGrpSpPr>
          <p:grpSpPr>
            <a:xfrm>
              <a:off x="1413695" y="5129259"/>
              <a:ext cx="257175" cy="257175"/>
              <a:chOff x="1423220" y="5138784"/>
              <a:chExt cx="257175" cy="257175"/>
            </a:xfrm>
          </p:grpSpPr>
          <p:sp>
            <p:nvSpPr>
              <p:cNvPr id="53" name="Forme libre : Forme 52">
                <a:extLst>
                  <a:ext uri="{FF2B5EF4-FFF2-40B4-BE49-F238E27FC236}">
                    <a16:creationId xmlns:a16="http://schemas.microsoft.com/office/drawing/2014/main" id="{85AA236B-9A92-4808-B7BB-0AEF3FD2754B}"/>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pPr rtl="0"/>
                <a:endParaRPr lang="fr-FR" dirty="0"/>
              </a:p>
            </p:txBody>
          </p:sp>
          <p:sp>
            <p:nvSpPr>
              <p:cNvPr id="54" name="Forme libre : Forme 53">
                <a:extLst>
                  <a:ext uri="{FF2B5EF4-FFF2-40B4-BE49-F238E27FC236}">
                    <a16:creationId xmlns:a16="http://schemas.microsoft.com/office/drawing/2014/main" id="{94E72230-A0A3-4A80-AD64-FE14B4AA1A95}"/>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accent1"/>
                </a:solidFill>
                <a:prstDash val="solid"/>
                <a:round/>
              </a:ln>
            </p:spPr>
            <p:txBody>
              <a:bodyPr rtlCol="0" anchor="ctr"/>
              <a:lstStyle/>
              <a:p>
                <a:pPr rtl="0"/>
                <a:endParaRPr lang="fr-FR" dirty="0"/>
              </a:p>
            </p:txBody>
          </p:sp>
        </p:grpSp>
        <p:sp>
          <p:nvSpPr>
            <p:cNvPr id="52" name="Forme libre : Forme 51">
              <a:extLst>
                <a:ext uri="{FF2B5EF4-FFF2-40B4-BE49-F238E27FC236}">
                  <a16:creationId xmlns:a16="http://schemas.microsoft.com/office/drawing/2014/main" id="{D01D119F-74E1-4482-B664-AAD0BB5B651F}"/>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pPr rtl="0"/>
              <a:endParaRPr lang="fr-FR" dirty="0"/>
            </a:p>
          </p:txBody>
        </p:sp>
      </p:grpSp>
      <p:grpSp>
        <p:nvGrpSpPr>
          <p:cNvPr id="55" name="Groupe 54" descr="Icône de personne">
            <a:extLst>
              <a:ext uri="{FF2B5EF4-FFF2-40B4-BE49-F238E27FC236}">
                <a16:creationId xmlns:a16="http://schemas.microsoft.com/office/drawing/2014/main" id="{9E1A2D9D-4A3F-4720-9A14-FFD74FC5C7A2}"/>
              </a:ext>
            </a:extLst>
          </p:cNvPr>
          <p:cNvGrpSpPr/>
          <p:nvPr/>
        </p:nvGrpSpPr>
        <p:grpSpPr>
          <a:xfrm>
            <a:off x="1365937" y="4611901"/>
            <a:ext cx="297521" cy="297521"/>
            <a:chOff x="1334697" y="4580661"/>
            <a:chExt cx="360000" cy="360000"/>
          </a:xfrm>
        </p:grpSpPr>
        <p:grpSp>
          <p:nvGrpSpPr>
            <p:cNvPr id="56" name="Groupe 55">
              <a:extLst>
                <a:ext uri="{FF2B5EF4-FFF2-40B4-BE49-F238E27FC236}">
                  <a16:creationId xmlns:a16="http://schemas.microsoft.com/office/drawing/2014/main" id="{FBC59C07-FDEC-40D0-BE4E-E1FAC0DEBC4A}"/>
                </a:ext>
              </a:extLst>
            </p:cNvPr>
            <p:cNvGrpSpPr/>
            <p:nvPr/>
          </p:nvGrpSpPr>
          <p:grpSpPr>
            <a:xfrm>
              <a:off x="1421012" y="4633770"/>
              <a:ext cx="180975" cy="231458"/>
              <a:chOff x="1443237" y="4633770"/>
              <a:chExt cx="180975" cy="231458"/>
            </a:xfrm>
          </p:grpSpPr>
          <p:sp>
            <p:nvSpPr>
              <p:cNvPr id="58" name="Forme libre : Forme 57">
                <a:extLst>
                  <a:ext uri="{FF2B5EF4-FFF2-40B4-BE49-F238E27FC236}">
                    <a16:creationId xmlns:a16="http://schemas.microsoft.com/office/drawing/2014/main" id="{15EC7012-98A7-4A94-8CC9-0EC3408A6BC4}"/>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accent1"/>
                </a:solidFill>
                <a:prstDash val="solid"/>
                <a:miter/>
              </a:ln>
            </p:spPr>
            <p:txBody>
              <a:bodyPr rtlCol="0" anchor="ctr"/>
              <a:lstStyle/>
              <a:p>
                <a:pPr rtl="0"/>
                <a:endParaRPr lang="fr-FR" dirty="0"/>
              </a:p>
            </p:txBody>
          </p:sp>
          <p:sp>
            <p:nvSpPr>
              <p:cNvPr id="59" name="Forme libre : Forme 58">
                <a:extLst>
                  <a:ext uri="{FF2B5EF4-FFF2-40B4-BE49-F238E27FC236}">
                    <a16:creationId xmlns:a16="http://schemas.microsoft.com/office/drawing/2014/main" id="{E519FE88-ED74-4D46-86D2-F2530BE46026}"/>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accent1"/>
                </a:solidFill>
                <a:prstDash val="solid"/>
                <a:miter/>
              </a:ln>
            </p:spPr>
            <p:txBody>
              <a:bodyPr rtlCol="0" anchor="ctr"/>
              <a:lstStyle/>
              <a:p>
                <a:pPr rtl="0"/>
                <a:endParaRPr lang="fr-FR" dirty="0"/>
              </a:p>
            </p:txBody>
          </p:sp>
        </p:grpSp>
        <p:sp>
          <p:nvSpPr>
            <p:cNvPr id="57" name="Forme libre : Forme 56">
              <a:extLst>
                <a:ext uri="{FF2B5EF4-FFF2-40B4-BE49-F238E27FC236}">
                  <a16:creationId xmlns:a16="http://schemas.microsoft.com/office/drawing/2014/main" id="{03AF6D1D-DE4A-460B-A540-E7DACF1F333F}"/>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1">
                  <a:lumMod val="75000"/>
                </a:schemeClr>
              </a:solidFill>
              <a:prstDash val="solid"/>
              <a:miter/>
            </a:ln>
          </p:spPr>
          <p:txBody>
            <a:bodyPr rtlCol="0" anchor="ctr"/>
            <a:lstStyle/>
            <a:p>
              <a:pPr rtl="0"/>
              <a:endParaRPr lang="fr-FR" dirty="0"/>
            </a:p>
          </p:txBody>
        </p:sp>
      </p:grpSp>
    </p:spTree>
    <p:extLst>
      <p:ext uri="{BB962C8B-B14F-4D97-AF65-F5344CB8AC3E}">
        <p14:creationId xmlns:p14="http://schemas.microsoft.com/office/powerpoint/2010/main" val="347695411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Espace réservé d’image 13" descr="Médecin pointant du doigt sur un écran de grande taille">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xfrm>
            <a:off x="0" y="-209550"/>
            <a:ext cx="12192000" cy="6858000"/>
          </a:xfrm>
        </p:spPr>
      </p:pic>
      <p:sp>
        <p:nvSpPr>
          <p:cNvPr id="5" name="objet 7" descr="Rectangle beige">
            <a:extLst>
              <a:ext uri="{FF2B5EF4-FFF2-40B4-BE49-F238E27FC236}">
                <a16:creationId xmlns:a16="http://schemas.microsoft.com/office/drawing/2014/main" id="{C85C272F-FCB2-478D-9E03-EC734D1AB6C0}"/>
              </a:ext>
            </a:extLst>
          </p:cNvPr>
          <p:cNvSpPr/>
          <p:nvPr/>
        </p:nvSpPr>
        <p:spPr bwMode="white">
          <a:xfrm>
            <a:off x="3687084" y="3441536"/>
            <a:ext cx="59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fr-F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3903024" y="4896463"/>
            <a:ext cx="4500000"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pic>
        <p:nvPicPr>
          <p:cNvPr id="6" name="Image 5">
            <a:extLst>
              <a:ext uri="{FF2B5EF4-FFF2-40B4-BE49-F238E27FC236}">
                <a16:creationId xmlns:a16="http://schemas.microsoft.com/office/drawing/2014/main" id="{FA016CC8-C2F2-366F-7FF2-92FC6CDDF4EB}"/>
              </a:ext>
            </a:extLst>
          </p:cNvPr>
          <p:cNvPicPr>
            <a:picLocks noChangeAspect="1"/>
          </p:cNvPicPr>
          <p:nvPr/>
        </p:nvPicPr>
        <p:blipFill>
          <a:blip r:embed="rId4"/>
          <a:stretch>
            <a:fillRect/>
          </a:stretch>
        </p:blipFill>
        <p:spPr>
          <a:xfrm>
            <a:off x="4271757" y="-12536"/>
            <a:ext cx="8034291" cy="6858000"/>
          </a:xfrm>
          <a:prstGeom prst="rect">
            <a:avLst/>
          </a:prstGeom>
        </p:spPr>
      </p:pic>
      <p:sp>
        <p:nvSpPr>
          <p:cNvPr id="3" name="Titre 2">
            <a:extLst>
              <a:ext uri="{FF2B5EF4-FFF2-40B4-BE49-F238E27FC236}">
                <a16:creationId xmlns:a16="http://schemas.microsoft.com/office/drawing/2014/main" id="{B8D8E648-93B0-47FF-A306-492EFF7FC499}"/>
              </a:ext>
            </a:extLst>
          </p:cNvPr>
          <p:cNvSpPr>
            <a:spLocks noGrp="1"/>
          </p:cNvSpPr>
          <p:nvPr>
            <p:ph type="ctrTitle"/>
          </p:nvPr>
        </p:nvSpPr>
        <p:spPr>
          <a:xfrm>
            <a:off x="4271757" y="-209550"/>
            <a:ext cx="7920243" cy="7067550"/>
          </a:xfrm>
        </p:spPr>
        <p:txBody>
          <a:bodyPr rtlCol="0"/>
          <a:lstStyle/>
          <a:p>
            <a:pPr rtl="0">
              <a:lnSpc>
                <a:spcPct val="110000"/>
              </a:lnSpc>
            </a:pPr>
            <a:r>
              <a:rPr lang="fr-FR" sz="4600" dirty="0"/>
              <a:t>Projet De mise en place d’une solution d’analyse de données Big Data</a:t>
            </a:r>
          </a:p>
        </p:txBody>
      </p:sp>
      <p:sp>
        <p:nvSpPr>
          <p:cNvPr id="4" name="Sous-titre 3">
            <a:extLst>
              <a:ext uri="{FF2B5EF4-FFF2-40B4-BE49-F238E27FC236}">
                <a16:creationId xmlns:a16="http://schemas.microsoft.com/office/drawing/2014/main" id="{64857D70-F12B-4E1B-99F8-92DAD4349846}"/>
              </a:ext>
            </a:extLst>
          </p:cNvPr>
          <p:cNvSpPr>
            <a:spLocks noGrp="1"/>
          </p:cNvSpPr>
          <p:nvPr>
            <p:ph type="subTitle" idx="1"/>
          </p:nvPr>
        </p:nvSpPr>
        <p:spPr>
          <a:xfrm>
            <a:off x="7164187" y="5642726"/>
            <a:ext cx="3193584" cy="590500"/>
          </a:xfrm>
          <a:gradFill>
            <a:gsLst>
              <a:gs pos="8000">
                <a:schemeClr val="tx2"/>
              </a:gs>
              <a:gs pos="100000">
                <a:schemeClr val="accent2"/>
              </a:gs>
            </a:gsLst>
            <a:lin ang="14400000" scaled="0"/>
          </a:gradFill>
        </p:spPr>
        <p:txBody>
          <a:bodyPr rtlCol="0"/>
          <a:lstStyle/>
          <a:p>
            <a:pPr algn="ctr" rtl="0"/>
            <a:r>
              <a:rPr lang="fr-FR" dirty="0"/>
              <a:t>Mars 2023</a:t>
            </a:r>
          </a:p>
        </p:txBody>
      </p:sp>
    </p:spTree>
    <p:extLst>
      <p:ext uri="{BB962C8B-B14F-4D97-AF65-F5344CB8AC3E}">
        <p14:creationId xmlns:p14="http://schemas.microsoft.com/office/powerpoint/2010/main" val="33882598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Thème Office">
  <a:themeElements>
    <a:clrScheme name="MS Healthcare Pitch">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4308085_TF00450287" id="{E8C572ED-67DD-4AE5-A37E-C715A33A5808}" vid="{73EC9B60-DD62-47BD-AE36-0AA06711081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66BDC7-24D2-4343-8D41-18F9C23F86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Argumentaire sur un bureau de soins de santé</Template>
  <TotalTime>4417</TotalTime>
  <Words>1342</Words>
  <Application>Microsoft Office PowerPoint</Application>
  <PresentationFormat>Widescreen</PresentationFormat>
  <Paragraphs>260</Paragraphs>
  <Slides>24</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Arial </vt:lpstr>
      <vt:lpstr>Calibri</vt:lpstr>
      <vt:lpstr>Cambria</vt:lpstr>
      <vt:lpstr>Comic Sans MS</vt:lpstr>
      <vt:lpstr>Courier New</vt:lpstr>
      <vt:lpstr>Gill Sans MT</vt:lpstr>
      <vt:lpstr>Gill Sans MT (En-têtes)</vt:lpstr>
      <vt:lpstr>Times New Roman</vt:lpstr>
      <vt:lpstr>Verdana</vt:lpstr>
      <vt:lpstr>Wingdings</vt:lpstr>
      <vt:lpstr>Thème Office</vt:lpstr>
      <vt:lpstr>Projet De mise en place d’une solution d’analyse de données Big Data</vt:lpstr>
      <vt:lpstr>L’ÉQUIPE</vt:lpstr>
      <vt:lpstr>PLAN de Présentation</vt:lpstr>
      <vt:lpstr>INTRODUCTION</vt:lpstr>
      <vt:lpstr>Types d'Analytics</vt:lpstr>
      <vt:lpstr>processus d'analyse des données</vt:lpstr>
      <vt:lpstr>Présentation de la solution</vt:lpstr>
      <vt:lpstr>Filebeat</vt:lpstr>
      <vt:lpstr>Data ingestion</vt:lpstr>
      <vt:lpstr>Source des données</vt:lpstr>
      <vt:lpstr>données</vt:lpstr>
      <vt:lpstr>Filebeat</vt:lpstr>
      <vt:lpstr>PowerPoint Presentation</vt:lpstr>
      <vt:lpstr>Data ingestion</vt:lpstr>
      <vt:lpstr>Data Processing</vt:lpstr>
      <vt:lpstr>Traitement des données</vt:lpstr>
      <vt:lpstr>Data Visualization</vt:lpstr>
      <vt:lpstr>Visualisation  des données</vt:lpstr>
      <vt:lpstr>Grafana configuration</vt:lpstr>
      <vt:lpstr>Visualisation</vt:lpstr>
      <vt:lpstr>Visualisation</vt:lpstr>
      <vt:lpstr>Ressources</vt:lpstr>
      <vt:lpstr>Thank à vous</vt:lpstr>
      <vt:lpstr>Projet De mise en place d’une solution d’analyse de données Big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du projet d’Innovation et entreprenariat</dc:title>
  <dc:creator>Moussa SANOGO</dc:creator>
  <cp:lastModifiedBy>steve sanogo</cp:lastModifiedBy>
  <cp:revision>88</cp:revision>
  <dcterms:created xsi:type="dcterms:W3CDTF">2023-02-28T17:12:26Z</dcterms:created>
  <dcterms:modified xsi:type="dcterms:W3CDTF">2026-01-16T09:58:50Z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